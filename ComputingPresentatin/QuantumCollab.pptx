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1" r:id="rId1"/>
  </p:sldMasterIdLst>
  <p:notesMasterIdLst>
    <p:notesMasterId r:id="rId24"/>
  </p:notesMasterIdLst>
  <p:handoutMasterIdLst>
    <p:handoutMasterId r:id="rId25"/>
  </p:handoutMasterIdLst>
  <p:sldIdLst>
    <p:sldId id="484" r:id="rId2"/>
    <p:sldId id="655" r:id="rId3"/>
    <p:sldId id="644" r:id="rId4"/>
    <p:sldId id="555" r:id="rId5"/>
    <p:sldId id="556" r:id="rId6"/>
    <p:sldId id="585" r:id="rId7"/>
    <p:sldId id="597" r:id="rId8"/>
    <p:sldId id="661" r:id="rId9"/>
    <p:sldId id="659" r:id="rId10"/>
    <p:sldId id="660" r:id="rId11"/>
    <p:sldId id="658" r:id="rId12"/>
    <p:sldId id="601" r:id="rId13"/>
    <p:sldId id="609" r:id="rId14"/>
    <p:sldId id="647" r:id="rId15"/>
    <p:sldId id="614" r:id="rId16"/>
    <p:sldId id="653" r:id="rId17"/>
    <p:sldId id="611" r:id="rId18"/>
    <p:sldId id="615" r:id="rId19"/>
    <p:sldId id="626" r:id="rId20"/>
    <p:sldId id="593" r:id="rId21"/>
    <p:sldId id="642" r:id="rId22"/>
    <p:sldId id="657" r:id="rId23"/>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8FB9BB-220C-4C4E-A27D-78C35B2FAAE4}" v="15" dt="2026-06-14T23:34:47.3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17" d="100"/>
          <a:sy n="117" d="100"/>
        </p:scale>
        <p:origin x="636" y="102"/>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len Uehara" userId="070a9a8fac426673" providerId="LiveId" clId="{8BCDBE22-F529-4641-8BE6-BD221E481D60}"/>
    <pc:docChg chg="undo custSel addSld delSld modSld">
      <pc:chgData name="Glen Uehara" userId="070a9a8fac426673" providerId="LiveId" clId="{8BCDBE22-F529-4641-8BE6-BD221E481D60}" dt="2026-06-14T23:34:59.630" v="145" actId="20577"/>
      <pc:docMkLst>
        <pc:docMk/>
      </pc:docMkLst>
      <pc:sldChg chg="add del">
        <pc:chgData name="Glen Uehara" userId="070a9a8fac426673" providerId="LiveId" clId="{8BCDBE22-F529-4641-8BE6-BD221E481D60}" dt="2026-06-14T23:31:35.984" v="55" actId="47"/>
        <pc:sldMkLst>
          <pc:docMk/>
          <pc:sldMk cId="2068161892" sldId="329"/>
        </pc:sldMkLst>
      </pc:sldChg>
      <pc:sldChg chg="modSp mod">
        <pc:chgData name="Glen Uehara" userId="070a9a8fac426673" providerId="LiveId" clId="{8BCDBE22-F529-4641-8BE6-BD221E481D60}" dt="2026-06-10T10:42:41.420" v="20" actId="20577"/>
        <pc:sldMkLst>
          <pc:docMk/>
          <pc:sldMk cId="2198032024" sldId="484"/>
        </pc:sldMkLst>
        <pc:spChg chg="mod">
          <ac:chgData name="Glen Uehara" userId="070a9a8fac426673" providerId="LiveId" clId="{8BCDBE22-F529-4641-8BE6-BD221E481D60}" dt="2026-06-10T10:42:41.420" v="20" actId="20577"/>
          <ac:spMkLst>
            <pc:docMk/>
            <pc:sldMk cId="2198032024" sldId="484"/>
            <ac:spMk id="2" creationId="{86F30243-5C9F-4672-945B-C91A86572C12}"/>
          </ac:spMkLst>
        </pc:spChg>
        <pc:spChg chg="mod">
          <ac:chgData name="Glen Uehara" userId="070a9a8fac426673" providerId="LiveId" clId="{8BCDBE22-F529-4641-8BE6-BD221E481D60}" dt="2026-06-10T10:42:11.554" v="11" actId="403"/>
          <ac:spMkLst>
            <pc:docMk/>
            <pc:sldMk cId="2198032024" sldId="484"/>
            <ac:spMk id="3" creationId="{C18B303C-C7EE-43F6-B24E-750634B8A346}"/>
          </ac:spMkLst>
        </pc:spChg>
      </pc:sldChg>
      <pc:sldChg chg="delSp modSp mod delAnim">
        <pc:chgData name="Glen Uehara" userId="070a9a8fac426673" providerId="LiveId" clId="{8BCDBE22-F529-4641-8BE6-BD221E481D60}" dt="2026-06-14T23:34:47.335" v="130"/>
        <pc:sldMkLst>
          <pc:docMk/>
          <pc:sldMk cId="371799434" sldId="597"/>
        </pc:sldMkLst>
        <pc:spChg chg="mod">
          <ac:chgData name="Glen Uehara" userId="070a9a8fac426673" providerId="LiveId" clId="{8BCDBE22-F529-4641-8BE6-BD221E481D60}" dt="2026-06-14T23:34:47.335" v="130"/>
          <ac:spMkLst>
            <pc:docMk/>
            <pc:sldMk cId="371799434" sldId="597"/>
            <ac:spMk id="2" creationId="{6AD8AC50-2C5E-C35C-3724-5F599FF31094}"/>
          </ac:spMkLst>
        </pc:spChg>
        <pc:spChg chg="del">
          <ac:chgData name="Glen Uehara" userId="070a9a8fac426673" providerId="LiveId" clId="{8BCDBE22-F529-4641-8BE6-BD221E481D60}" dt="2026-06-14T23:33:39.686" v="87" actId="478"/>
          <ac:spMkLst>
            <pc:docMk/>
            <pc:sldMk cId="371799434" sldId="597"/>
            <ac:spMk id="3" creationId="{6D116E69-F966-E0B2-2AA9-201DAFD2C3BB}"/>
          </ac:spMkLst>
        </pc:spChg>
        <pc:spChg chg="del">
          <ac:chgData name="Glen Uehara" userId="070a9a8fac426673" providerId="LiveId" clId="{8BCDBE22-F529-4641-8BE6-BD221E481D60}" dt="2026-06-14T23:33:26.270" v="84" actId="478"/>
          <ac:spMkLst>
            <pc:docMk/>
            <pc:sldMk cId="371799434" sldId="597"/>
            <ac:spMk id="10" creationId="{D5E8B326-8E60-8593-F2B2-451C6F533453}"/>
          </ac:spMkLst>
        </pc:spChg>
        <pc:spChg chg="del">
          <ac:chgData name="Glen Uehara" userId="070a9a8fac426673" providerId="LiveId" clId="{8BCDBE22-F529-4641-8BE6-BD221E481D60}" dt="2026-06-14T23:32:36.017" v="75" actId="478"/>
          <ac:spMkLst>
            <pc:docMk/>
            <pc:sldMk cId="371799434" sldId="597"/>
            <ac:spMk id="12" creationId="{40B54E74-90CB-E60A-0223-C61B1CF4DFFF}"/>
          </ac:spMkLst>
        </pc:spChg>
        <pc:graphicFrameChg chg="del modGraphic">
          <ac:chgData name="Glen Uehara" userId="070a9a8fac426673" providerId="LiveId" clId="{8BCDBE22-F529-4641-8BE6-BD221E481D60}" dt="2026-06-14T23:33:44.777" v="88" actId="478"/>
          <ac:graphicFrameMkLst>
            <pc:docMk/>
            <pc:sldMk cId="371799434" sldId="597"/>
            <ac:graphicFrameMk id="4" creationId="{FF1B3276-10F8-DC57-9A0B-3DD0B13BDF84}"/>
          </ac:graphicFrameMkLst>
        </pc:graphicFrameChg>
        <pc:graphicFrameChg chg="del mod modGraphic">
          <ac:chgData name="Glen Uehara" userId="070a9a8fac426673" providerId="LiveId" clId="{8BCDBE22-F529-4641-8BE6-BD221E481D60}" dt="2026-06-14T23:34:01.336" v="91" actId="478"/>
          <ac:graphicFrameMkLst>
            <pc:docMk/>
            <pc:sldMk cId="371799434" sldId="597"/>
            <ac:graphicFrameMk id="8" creationId="{6C378451-6C5E-5648-5485-F5655F1D5621}"/>
          </ac:graphicFrameMkLst>
        </pc:graphicFrameChg>
        <pc:graphicFrameChg chg="del mod modGraphic">
          <ac:chgData name="Glen Uehara" userId="070a9a8fac426673" providerId="LiveId" clId="{8BCDBE22-F529-4641-8BE6-BD221E481D60}" dt="2026-06-14T23:33:24.863" v="83" actId="478"/>
          <ac:graphicFrameMkLst>
            <pc:docMk/>
            <pc:sldMk cId="371799434" sldId="597"/>
            <ac:graphicFrameMk id="11" creationId="{02BB2E84-D844-B32A-342C-C9F7A67FC5F7}"/>
          </ac:graphicFrameMkLst>
        </pc:graphicFrameChg>
        <pc:graphicFrameChg chg="del mod modGraphic">
          <ac:chgData name="Glen Uehara" userId="070a9a8fac426673" providerId="LiveId" clId="{8BCDBE22-F529-4641-8BE6-BD221E481D60}" dt="2026-06-14T23:32:36.017" v="75" actId="478"/>
          <ac:graphicFrameMkLst>
            <pc:docMk/>
            <pc:sldMk cId="371799434" sldId="597"/>
            <ac:graphicFrameMk id="13" creationId="{ACD51913-09C5-23CE-A41C-587F50F6D32D}"/>
          </ac:graphicFrameMkLst>
        </pc:graphicFrameChg>
      </pc:sldChg>
      <pc:sldChg chg="modSp mod">
        <pc:chgData name="Glen Uehara" userId="070a9a8fac426673" providerId="LiveId" clId="{8BCDBE22-F529-4641-8BE6-BD221E481D60}" dt="2026-06-14T23:34:59.630" v="145" actId="20577"/>
        <pc:sldMkLst>
          <pc:docMk/>
          <pc:sldMk cId="2779505652" sldId="615"/>
        </pc:sldMkLst>
        <pc:graphicFrameChg chg="modGraphic">
          <ac:chgData name="Glen Uehara" userId="070a9a8fac426673" providerId="LiveId" clId="{8BCDBE22-F529-4641-8BE6-BD221E481D60}" dt="2026-06-14T23:34:59.630" v="145" actId="20577"/>
          <ac:graphicFrameMkLst>
            <pc:docMk/>
            <pc:sldMk cId="2779505652" sldId="615"/>
            <ac:graphicFrameMk id="4" creationId="{7128ACCE-A436-CE68-84C2-5747F97529D4}"/>
          </ac:graphicFrameMkLst>
        </pc:graphicFrameChg>
      </pc:sldChg>
      <pc:sldChg chg="add del">
        <pc:chgData name="Glen Uehara" userId="070a9a8fac426673" providerId="LiveId" clId="{8BCDBE22-F529-4641-8BE6-BD221E481D60}" dt="2026-06-14T23:31:33.100" v="54" actId="47"/>
        <pc:sldMkLst>
          <pc:docMk/>
          <pc:sldMk cId="1647020378" sldId="634"/>
        </pc:sldMkLst>
      </pc:sldChg>
      <pc:sldChg chg="new del">
        <pc:chgData name="Glen Uehara" userId="070a9a8fac426673" providerId="LiveId" clId="{8BCDBE22-F529-4641-8BE6-BD221E481D60}" dt="2026-06-14T23:32:18.209" v="67" actId="680"/>
        <pc:sldMkLst>
          <pc:docMk/>
          <pc:sldMk cId="180919654" sldId="658"/>
        </pc:sldMkLst>
      </pc:sldChg>
      <pc:sldChg chg="addSp delSp modSp new mod modAnim">
        <pc:chgData name="Glen Uehara" userId="070a9a8fac426673" providerId="LiveId" clId="{8BCDBE22-F529-4641-8BE6-BD221E481D60}" dt="2026-06-14T23:34:38.925" v="127" actId="20577"/>
        <pc:sldMkLst>
          <pc:docMk/>
          <pc:sldMk cId="358127635" sldId="658"/>
        </pc:sldMkLst>
        <pc:spChg chg="mod">
          <ac:chgData name="Glen Uehara" userId="070a9a8fac426673" providerId="LiveId" clId="{8BCDBE22-F529-4641-8BE6-BD221E481D60}" dt="2026-06-14T23:34:38.925" v="127" actId="20577"/>
          <ac:spMkLst>
            <pc:docMk/>
            <pc:sldMk cId="358127635" sldId="658"/>
            <ac:spMk id="2" creationId="{5F608BBC-70D4-B5D5-C572-F3D3DAFD13C7}"/>
          </ac:spMkLst>
        </pc:spChg>
        <pc:spChg chg="del">
          <ac:chgData name="Glen Uehara" userId="070a9a8fac426673" providerId="LiveId" clId="{8BCDBE22-F529-4641-8BE6-BD221E481D60}" dt="2026-06-14T23:32:30.221" v="74" actId="478"/>
          <ac:spMkLst>
            <pc:docMk/>
            <pc:sldMk cId="358127635" sldId="658"/>
            <ac:spMk id="3" creationId="{3F7AC601-7E16-2B81-DDB7-E4F8086F9E64}"/>
          </ac:spMkLst>
        </pc:spChg>
        <pc:spChg chg="add mod">
          <ac:chgData name="Glen Uehara" userId="070a9a8fac426673" providerId="LiveId" clId="{8BCDBE22-F529-4641-8BE6-BD221E481D60}" dt="2026-06-14T23:32:26.476" v="73"/>
          <ac:spMkLst>
            <pc:docMk/>
            <pc:sldMk cId="358127635" sldId="658"/>
            <ac:spMk id="4" creationId="{C5C89D30-48EC-EFCD-2619-6EE3C058399E}"/>
          </ac:spMkLst>
        </pc:spChg>
        <pc:graphicFrameChg chg="add mod">
          <ac:chgData name="Glen Uehara" userId="070a9a8fac426673" providerId="LiveId" clId="{8BCDBE22-F529-4641-8BE6-BD221E481D60}" dt="2026-06-14T23:32:26.476" v="73"/>
          <ac:graphicFrameMkLst>
            <pc:docMk/>
            <pc:sldMk cId="358127635" sldId="658"/>
            <ac:graphicFrameMk id="5" creationId="{57958915-124C-A254-8326-771F30974415}"/>
          </ac:graphicFrameMkLst>
        </pc:graphicFrameChg>
      </pc:sldChg>
      <pc:sldChg chg="new del">
        <pc:chgData name="Glen Uehara" userId="070a9a8fac426673" providerId="LiveId" clId="{8BCDBE22-F529-4641-8BE6-BD221E481D60}" dt="2026-06-14T23:32:17.857" v="66" actId="680"/>
        <pc:sldMkLst>
          <pc:docMk/>
          <pc:sldMk cId="2065470045" sldId="659"/>
        </pc:sldMkLst>
      </pc:sldChg>
      <pc:sldChg chg="addSp delSp modSp new modAnim">
        <pc:chgData name="Glen Uehara" userId="070a9a8fac426673" providerId="LiveId" clId="{8BCDBE22-F529-4641-8BE6-BD221E481D60}" dt="2026-06-14T23:34:18.981" v="95" actId="478"/>
        <pc:sldMkLst>
          <pc:docMk/>
          <pc:sldMk cId="2830454825" sldId="659"/>
        </pc:sldMkLst>
        <pc:spChg chg="mod">
          <ac:chgData name="Glen Uehara" userId="070a9a8fac426673" providerId="LiveId" clId="{8BCDBE22-F529-4641-8BE6-BD221E481D60}" dt="2026-06-14T23:34:16.624" v="94"/>
          <ac:spMkLst>
            <pc:docMk/>
            <pc:sldMk cId="2830454825" sldId="659"/>
            <ac:spMk id="2" creationId="{6EFA7F23-6B38-E02B-E380-18F3A0A5B5FC}"/>
          </ac:spMkLst>
        </pc:spChg>
        <pc:spChg chg="del">
          <ac:chgData name="Glen Uehara" userId="070a9a8fac426673" providerId="LiveId" clId="{8BCDBE22-F529-4641-8BE6-BD221E481D60}" dt="2026-06-14T23:34:18.981" v="95" actId="478"/>
          <ac:spMkLst>
            <pc:docMk/>
            <pc:sldMk cId="2830454825" sldId="659"/>
            <ac:spMk id="3" creationId="{3BA33641-713C-02C4-4408-560C0AE997A1}"/>
          </ac:spMkLst>
        </pc:spChg>
        <pc:spChg chg="add mod">
          <ac:chgData name="Glen Uehara" userId="070a9a8fac426673" providerId="LiveId" clId="{8BCDBE22-F529-4641-8BE6-BD221E481D60}" dt="2026-06-14T23:33:32.250" v="85"/>
          <ac:spMkLst>
            <pc:docMk/>
            <pc:sldMk cId="2830454825" sldId="659"/>
            <ac:spMk id="4" creationId="{8711DE0E-5E22-588D-A14F-C39A0697947B}"/>
          </ac:spMkLst>
        </pc:spChg>
        <pc:graphicFrameChg chg="add mod">
          <ac:chgData name="Glen Uehara" userId="070a9a8fac426673" providerId="LiveId" clId="{8BCDBE22-F529-4641-8BE6-BD221E481D60}" dt="2026-06-14T23:33:32.250" v="85"/>
          <ac:graphicFrameMkLst>
            <pc:docMk/>
            <pc:sldMk cId="2830454825" sldId="659"/>
            <ac:graphicFrameMk id="5" creationId="{A842C72B-2576-FF8A-4A8D-DB896732AFFE}"/>
          </ac:graphicFrameMkLst>
        </pc:graphicFrameChg>
      </pc:sldChg>
      <pc:sldChg chg="new del">
        <pc:chgData name="Glen Uehara" userId="070a9a8fac426673" providerId="LiveId" clId="{8BCDBE22-F529-4641-8BE6-BD221E481D60}" dt="2026-06-14T23:32:16.830" v="65" actId="680"/>
        <pc:sldMkLst>
          <pc:docMk/>
          <pc:sldMk cId="2029877421" sldId="660"/>
        </pc:sldMkLst>
      </pc:sldChg>
      <pc:sldChg chg="addSp delSp modSp new mod modAnim">
        <pc:chgData name="Glen Uehara" userId="070a9a8fac426673" providerId="LiveId" clId="{8BCDBE22-F529-4641-8BE6-BD221E481D60}" dt="2026-06-14T23:34:42.896" v="128"/>
        <pc:sldMkLst>
          <pc:docMk/>
          <pc:sldMk cId="4088578241" sldId="660"/>
        </pc:sldMkLst>
        <pc:spChg chg="mod">
          <ac:chgData name="Glen Uehara" userId="070a9a8fac426673" providerId="LiveId" clId="{8BCDBE22-F529-4641-8BE6-BD221E481D60}" dt="2026-06-14T23:34:42.896" v="128"/>
          <ac:spMkLst>
            <pc:docMk/>
            <pc:sldMk cId="4088578241" sldId="660"/>
            <ac:spMk id="2" creationId="{BED7AE15-3551-D44F-A511-1AE9082A7CE2}"/>
          </ac:spMkLst>
        </pc:spChg>
        <pc:spChg chg="del">
          <ac:chgData name="Glen Uehara" userId="070a9a8fac426673" providerId="LiveId" clId="{8BCDBE22-F529-4641-8BE6-BD221E481D60}" dt="2026-06-14T23:34:25.189" v="97" actId="478"/>
          <ac:spMkLst>
            <pc:docMk/>
            <pc:sldMk cId="4088578241" sldId="660"/>
            <ac:spMk id="3" creationId="{52CC501A-11FC-D82E-AEB8-19BAD6F5C899}"/>
          </ac:spMkLst>
        </pc:spChg>
        <pc:spChg chg="add mod">
          <ac:chgData name="Glen Uehara" userId="070a9a8fac426673" providerId="LiveId" clId="{8BCDBE22-F529-4641-8BE6-BD221E481D60}" dt="2026-06-14T23:33:10.725" v="80" actId="1076"/>
          <ac:spMkLst>
            <pc:docMk/>
            <pc:sldMk cId="4088578241" sldId="660"/>
            <ac:spMk id="4" creationId="{FB3CF6A3-D459-9FD8-5543-86040873D9E4}"/>
          </ac:spMkLst>
        </pc:spChg>
        <pc:graphicFrameChg chg="add mod">
          <ac:chgData name="Glen Uehara" userId="070a9a8fac426673" providerId="LiveId" clId="{8BCDBE22-F529-4641-8BE6-BD221E481D60}" dt="2026-06-14T23:33:06.350" v="79" actId="1076"/>
          <ac:graphicFrameMkLst>
            <pc:docMk/>
            <pc:sldMk cId="4088578241" sldId="660"/>
            <ac:graphicFrameMk id="5" creationId="{69969A10-5F5A-055B-8E12-E7804DE3AABC}"/>
          </ac:graphicFrameMkLst>
        </pc:graphicFrameChg>
      </pc:sldChg>
      <pc:sldChg chg="addSp delSp modSp new mod modAnim">
        <pc:chgData name="Glen Uehara" userId="070a9a8fac426673" providerId="LiveId" clId="{8BCDBE22-F529-4641-8BE6-BD221E481D60}" dt="2026-06-14T23:34:45.065" v="129"/>
        <pc:sldMkLst>
          <pc:docMk/>
          <pc:sldMk cId="1017050236" sldId="661"/>
        </pc:sldMkLst>
        <pc:spChg chg="mod">
          <ac:chgData name="Glen Uehara" userId="070a9a8fac426673" providerId="LiveId" clId="{8BCDBE22-F529-4641-8BE6-BD221E481D60}" dt="2026-06-14T23:34:45.065" v="129"/>
          <ac:spMkLst>
            <pc:docMk/>
            <pc:sldMk cId="1017050236" sldId="661"/>
            <ac:spMk id="2" creationId="{3CBC0D6D-296F-FB2C-7E3D-FEAEC83FDD98}"/>
          </ac:spMkLst>
        </pc:spChg>
        <pc:spChg chg="del">
          <ac:chgData name="Glen Uehara" userId="070a9a8fac426673" providerId="LiveId" clId="{8BCDBE22-F529-4641-8BE6-BD221E481D60}" dt="2026-06-14T23:34:11.661" v="93" actId="478"/>
          <ac:spMkLst>
            <pc:docMk/>
            <pc:sldMk cId="1017050236" sldId="661"/>
            <ac:spMk id="3" creationId="{8ED38949-EBC8-EA65-EE62-1AC2E2848EFB}"/>
          </ac:spMkLst>
        </pc:spChg>
        <pc:spChg chg="add mod">
          <ac:chgData name="Glen Uehara" userId="070a9a8fac426673" providerId="LiveId" clId="{8BCDBE22-F529-4641-8BE6-BD221E481D60}" dt="2026-06-14T23:33:57.654" v="90" actId="1076"/>
          <ac:spMkLst>
            <pc:docMk/>
            <pc:sldMk cId="1017050236" sldId="661"/>
            <ac:spMk id="5" creationId="{52767C3D-BA05-C35E-7FFC-436F872C91CB}"/>
          </ac:spMkLst>
        </pc:spChg>
        <pc:graphicFrameChg chg="add mod">
          <ac:chgData name="Glen Uehara" userId="070a9a8fac426673" providerId="LiveId" clId="{8BCDBE22-F529-4641-8BE6-BD221E481D60}" dt="2026-06-14T23:33:50.122" v="89"/>
          <ac:graphicFrameMkLst>
            <pc:docMk/>
            <pc:sldMk cId="1017050236" sldId="661"/>
            <ac:graphicFrameMk id="4" creationId="{515946B1-FA7B-24EA-DF35-BD4DD19E5578}"/>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D77547A-0736-4AFB-8532-884A34C184FC}"/>
              </a:ext>
            </a:extLst>
          </p:cNvPr>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8BF5A96-9DA1-4429-9640-3540B1BB66BE}"/>
              </a:ext>
            </a:extLst>
          </p:cNvPr>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E112C04F-A83D-4FEB-BC3F-C805297E68CF}" type="datetimeFigureOut">
              <a:rPr lang="en-US" smtClean="0"/>
              <a:t>6/14/2026</a:t>
            </a:fld>
            <a:endParaRPr lang="en-US"/>
          </a:p>
        </p:txBody>
      </p:sp>
      <p:sp>
        <p:nvSpPr>
          <p:cNvPr id="4" name="Footer Placeholder 3">
            <a:extLst>
              <a:ext uri="{FF2B5EF4-FFF2-40B4-BE49-F238E27FC236}">
                <a16:creationId xmlns:a16="http://schemas.microsoft.com/office/drawing/2014/main" id="{39F86641-AB14-4B6F-A04D-33CF151C0E05}"/>
              </a:ext>
            </a:extLst>
          </p:cNvPr>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8F993E0-5E89-4752-9B67-259CE18FAE74}"/>
              </a:ext>
            </a:extLst>
          </p:cNvPr>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51446D05-4350-4DF4-AA87-62A7CD4334B0}" type="slidenum">
              <a:rPr lang="en-US" smtClean="0"/>
              <a:t>‹#›</a:t>
            </a:fld>
            <a:endParaRPr lang="en-US"/>
          </a:p>
        </p:txBody>
      </p:sp>
    </p:spTree>
    <p:extLst>
      <p:ext uri="{BB962C8B-B14F-4D97-AF65-F5344CB8AC3E}">
        <p14:creationId xmlns:p14="http://schemas.microsoft.com/office/powerpoint/2010/main" val="33124121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AC9C6B63-309E-4208-9019-BE71AB49D2B5}" type="datetimeFigureOut">
              <a:rPr lang="en-US" smtClean="0"/>
              <a:pPr/>
              <a:t>6/14/2026</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51DC8717-AFBB-478A-9104-53E909600208}" type="slidenum">
              <a:rPr lang="en-US" smtClean="0"/>
              <a:pPr/>
              <a:t>‹#›</a:t>
            </a:fld>
            <a:endParaRPr lang="en-US"/>
          </a:p>
        </p:txBody>
      </p:sp>
    </p:spTree>
    <p:extLst>
      <p:ext uri="{BB962C8B-B14F-4D97-AF65-F5344CB8AC3E}">
        <p14:creationId xmlns:p14="http://schemas.microsoft.com/office/powerpoint/2010/main" val="1132826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effectLst/>
                <a:latin typeface="Calibri" panose="020F0502020204030204" pitchFamily="34" charset="0"/>
                <a:ea typeface="Calibri" panose="020F0502020204030204" pitchFamily="34" charset="0"/>
              </a:rPr>
              <a:t>I have a BS and MSE in Electrical Engineering, from University of Hawaii and Arizona State University, respectively. Since my first degree, I have been working as a communication and signal processing engineering in both commercial and defense industry. In the recent years, I have also earned several certifications in cyber security and have applied these techniques to my programs. With these backgrounds, I’ve been working with ASU Tempe, Poly, </a:t>
            </a:r>
            <a:r>
              <a:rPr lang="en-US" sz="1200" err="1">
                <a:effectLst/>
                <a:latin typeface="Calibri" panose="020F0502020204030204" pitchFamily="34" charset="0"/>
                <a:ea typeface="Calibri" panose="020F0502020204030204" pitchFamily="34" charset="0"/>
              </a:rPr>
              <a:t>UofA</a:t>
            </a:r>
            <a:r>
              <a:rPr lang="en-US" sz="1200">
                <a:effectLst/>
                <a:latin typeface="Calibri" panose="020F0502020204030204" pitchFamily="34" charset="0"/>
                <a:ea typeface="Calibri" panose="020F0502020204030204" pitchFamily="34" charset="0"/>
              </a:rPr>
              <a:t> and NAU on various capstones related to these fields.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effectLst/>
                <a:latin typeface="Calibri" panose="020F0502020204030204" pitchFamily="34" charset="0"/>
                <a:ea typeface="Calibri" panose="020F0502020204030204" pitchFamily="34" charset="0"/>
              </a:rPr>
              <a:t>As I continue mentoring students, I decided to return and earn a Ph.D. Currently, as a Ph.D. student in the School of Electrical, Computer and Energy Engineering at ASU, I am specializing in Quantum Information Algorithms specifically for Signal &amp; Information Processing w/ emphasis Machine Learning techniques. I am also working in the Quantum Laboratory at General Dynamics as a Quantum Algorithm Researcher. I am hoping to explore new techniques and methods in Quantum Algorithms to grow this knowledge for both ASU and GD.</a:t>
            </a:r>
          </a:p>
          <a:p>
            <a:endParaRPr lang="en-US"/>
          </a:p>
          <a:p>
            <a:endParaRPr lang="en-US"/>
          </a:p>
        </p:txBody>
      </p:sp>
      <p:sp>
        <p:nvSpPr>
          <p:cNvPr id="4" name="Slide Number Placeholder 3"/>
          <p:cNvSpPr>
            <a:spLocks noGrp="1"/>
          </p:cNvSpPr>
          <p:nvPr>
            <p:ph type="sldNum" sz="quarter" idx="5"/>
          </p:nvPr>
        </p:nvSpPr>
        <p:spPr/>
        <p:txBody>
          <a:bodyPr/>
          <a:lstStyle/>
          <a:p>
            <a:fld id="{51DC8717-AFBB-478A-9104-53E909600208}" type="slidenum">
              <a:rPr lang="en-US" smtClean="0"/>
              <a:pPr/>
              <a:t>1</a:t>
            </a:fld>
            <a:endParaRPr lang="en-US"/>
          </a:p>
        </p:txBody>
      </p:sp>
    </p:spTree>
    <p:extLst>
      <p:ext uri="{BB962C8B-B14F-4D97-AF65-F5344CB8AC3E}">
        <p14:creationId xmlns:p14="http://schemas.microsoft.com/office/powerpoint/2010/main" val="38663390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We used the PV dataset to help to generate </a:t>
            </a:r>
            <a:r>
              <a:rPr lang="en-US" sz="1200" b="1" kern="1200">
                <a:solidFill>
                  <a:schemeClr val="tx1"/>
                </a:solidFill>
                <a:effectLst/>
                <a:latin typeface="+mn-lt"/>
                <a:ea typeface="+mn-ea"/>
                <a:cs typeface="+mn-cs"/>
              </a:rPr>
              <a:t>complex, high-dimensional data</a:t>
            </a:r>
            <a:r>
              <a:rPr lang="en-US" sz="1200" kern="1200">
                <a:solidFill>
                  <a:schemeClr val="tx1"/>
                </a:solidFill>
                <a:effectLst/>
                <a:latin typeface="+mn-lt"/>
                <a:ea typeface="+mn-ea"/>
                <a:cs typeface="+mn-cs"/>
              </a:rPr>
              <a:t> (voltage, current, irradiance, temperature, etc.). The algorithm we built is to detect faults (e.g., shading, soiling, degradation, </a:t>
            </a:r>
            <a:r>
              <a:rPr lang="en-US" sz="1200" kern="1200" err="1">
                <a:solidFill>
                  <a:schemeClr val="tx1"/>
                </a:solidFill>
                <a:effectLst/>
                <a:latin typeface="+mn-lt"/>
                <a:ea typeface="+mn-ea"/>
                <a:cs typeface="+mn-cs"/>
              </a:rPr>
              <a:t>etc</a:t>
            </a:r>
            <a:r>
              <a:rPr lang="en-US" sz="1200" kern="1200">
                <a:solidFill>
                  <a:schemeClr val="tx1"/>
                </a:solidFill>
                <a:effectLst/>
                <a:latin typeface="+mn-lt"/>
                <a:ea typeface="+mn-ea"/>
                <a:cs typeface="+mn-cs"/>
              </a:rPr>
              <a:t>), which requires identifying subtle, </a:t>
            </a:r>
            <a:r>
              <a:rPr lang="en-US" sz="1200" b="1" kern="1200">
                <a:solidFill>
                  <a:schemeClr val="tx1"/>
                </a:solidFill>
                <a:effectLst/>
                <a:latin typeface="+mn-lt"/>
                <a:ea typeface="+mn-ea"/>
                <a:cs typeface="+mn-cs"/>
              </a:rPr>
              <a:t>non-linear correlations</a:t>
            </a:r>
            <a:r>
              <a:rPr lang="en-US" sz="1200" kern="1200">
                <a:solidFill>
                  <a:schemeClr val="tx1"/>
                </a:solidFill>
                <a:effectLst/>
                <a:latin typeface="+mn-lt"/>
                <a:ea typeface="+mn-ea"/>
                <a:cs typeface="+mn-cs"/>
              </a:rPr>
              <a:t>.</a:t>
            </a:r>
          </a:p>
          <a:p>
            <a:r>
              <a:rPr lang="en-US" sz="1200" kern="1200">
                <a:solidFill>
                  <a:schemeClr val="tx1"/>
                </a:solidFill>
                <a:effectLst/>
                <a:latin typeface="+mn-lt"/>
                <a:ea typeface="+mn-ea"/>
                <a:cs typeface="+mn-cs"/>
              </a:rPr>
              <a:t>MOTIVATION:</a:t>
            </a:r>
          </a:p>
          <a:p>
            <a:r>
              <a:rPr lang="en-US" sz="1200" kern="1200">
                <a:solidFill>
                  <a:schemeClr val="tx1"/>
                </a:solidFill>
                <a:effectLst/>
                <a:latin typeface="+mn-lt"/>
                <a:ea typeface="+mn-ea"/>
                <a:cs typeface="+mn-cs"/>
              </a:rPr>
              <a:t>The core motivation is to develop and analyze algorithms that can identify complex, high-dimensional correlations, thereby unlocking insights from data that remain hidden from even the most advanced classical techniques.</a:t>
            </a:r>
          </a:p>
          <a:p>
            <a:r>
              <a:rPr lang="en-US" sz="1200" kern="1200">
                <a:solidFill>
                  <a:schemeClr val="tx1"/>
                </a:solidFill>
                <a:effectLst/>
                <a:latin typeface="+mn-lt"/>
                <a:ea typeface="+mn-ea"/>
                <a:cs typeface="+mn-cs"/>
              </a:rPr>
              <a:t>This dissertation is motivated by the need for more powerful computational approaches to pattern recognition and classification.  We hypothesize that quantum and hybrid quantum–classical models can achieve similar performance by efficiently navigating vast feature spaces with today’s NISQ-era quantum computers (Noisy Intermediate-Scale Quantum). This would show the potential and promise for a future quantum computer with reduced noise, improved noise detection, or enhanced noise mitigation.</a:t>
            </a:r>
          </a:p>
          <a:p>
            <a:endParaRPr lang="en-US" sz="1000"/>
          </a:p>
        </p:txBody>
      </p:sp>
      <p:sp>
        <p:nvSpPr>
          <p:cNvPr id="4" name="Slide Number Placeholder 3"/>
          <p:cNvSpPr>
            <a:spLocks noGrp="1"/>
          </p:cNvSpPr>
          <p:nvPr>
            <p:ph type="sldNum" sz="quarter" idx="5"/>
          </p:nvPr>
        </p:nvSpPr>
        <p:spPr/>
        <p:txBody>
          <a:bodyPr/>
          <a:lstStyle/>
          <a:p>
            <a:fld id="{51DC8717-AFBB-478A-9104-53E909600208}" type="slidenum">
              <a:rPr lang="en-US" smtClean="0"/>
              <a:pPr/>
              <a:t>2</a:t>
            </a:fld>
            <a:endParaRPr lang="en-US"/>
          </a:p>
        </p:txBody>
      </p:sp>
    </p:spTree>
    <p:extLst>
      <p:ext uri="{BB962C8B-B14F-4D97-AF65-F5344CB8AC3E}">
        <p14:creationId xmlns:p14="http://schemas.microsoft.com/office/powerpoint/2010/main" val="2494479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This dissertation investigates the potential of custom quantum circuits to advance classification performance in large-scale PV fault detection. Rather than refining existing classical methods, we explore how quantum data correlation and high-dimensional encoding can unlock fundamentally new capabilities in feature extraction and anomaly detection. </a:t>
            </a:r>
          </a:p>
          <a:p>
            <a:r>
              <a:rPr lang="en-US" sz="1200" kern="1200">
                <a:solidFill>
                  <a:schemeClr val="tx1"/>
                </a:solidFill>
                <a:effectLst/>
                <a:latin typeface="+mn-lt"/>
                <a:ea typeface="+mn-ea"/>
                <a:cs typeface="+mn-cs"/>
              </a:rPr>
              <a:t>Quantum circuits operate in exponentially large Hilbert spaces, where amplitude, rotation, and coherent state encodings enable richer representations. We use entanglement to capture multivariable correlations and superposition to facilitate parallel exploration of fault signatures.</a:t>
            </a:r>
          </a:p>
          <a:p>
            <a:r>
              <a:rPr lang="en-US" sz="1200" kern="1200">
                <a:solidFill>
                  <a:schemeClr val="tx1"/>
                </a:solidFill>
                <a:effectLst/>
                <a:latin typeface="+mn-lt"/>
                <a:ea typeface="+mn-ea"/>
                <a:cs typeface="+mn-cs"/>
              </a:rPr>
              <a:t>By integrating these mechanisms into our new hybrid quantum–classical models, we aim to reveal dependencies and fault behaviors that remain inaccessible to classical techniques.</a:t>
            </a:r>
          </a:p>
        </p:txBody>
      </p:sp>
      <p:sp>
        <p:nvSpPr>
          <p:cNvPr id="4" name="Slide Number Placeholder 3"/>
          <p:cNvSpPr>
            <a:spLocks noGrp="1"/>
          </p:cNvSpPr>
          <p:nvPr>
            <p:ph type="sldNum" sz="quarter" idx="5"/>
          </p:nvPr>
        </p:nvSpPr>
        <p:spPr/>
        <p:txBody>
          <a:bodyPr/>
          <a:lstStyle/>
          <a:p>
            <a:fld id="{51DC8717-AFBB-478A-9104-53E909600208}" type="slidenum">
              <a:rPr lang="en-US" smtClean="0"/>
              <a:pPr/>
              <a:t>3</a:t>
            </a:fld>
            <a:endParaRPr lang="en-US"/>
          </a:p>
        </p:txBody>
      </p:sp>
    </p:spTree>
    <p:extLst>
      <p:ext uri="{BB962C8B-B14F-4D97-AF65-F5344CB8AC3E}">
        <p14:creationId xmlns:p14="http://schemas.microsoft.com/office/powerpoint/2010/main" val="17777221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Based on Rao et al. we demonstrated successful use of classical neural networks for fault detection in a relatively small solar array system. In large-scale solar arrays or when managing multiple utility-scale PV power sites, fault detection often requires substantial computational resources. In the initial quantum computing feasibility study for PV fault detection, we demonstrated the use of quantum circuits with a small number of qubits, achieving modest fault detection accuracy due to the limitations of low-qubit computations and the absence of a mechanism to capture data correlations.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a:p>
            <a:endParaRPr lang="en-US"/>
          </a:p>
        </p:txBody>
      </p:sp>
      <p:sp>
        <p:nvSpPr>
          <p:cNvPr id="4" name="Slide Number Placeholder 3"/>
          <p:cNvSpPr>
            <a:spLocks noGrp="1"/>
          </p:cNvSpPr>
          <p:nvPr>
            <p:ph type="sldNum" sz="quarter" idx="5"/>
          </p:nvPr>
        </p:nvSpPr>
        <p:spPr/>
        <p:txBody>
          <a:bodyPr/>
          <a:lstStyle/>
          <a:p>
            <a:fld id="{51DC8717-AFBB-478A-9104-53E909600208}" type="slidenum">
              <a:rPr lang="en-US" smtClean="0"/>
              <a:pPr/>
              <a:t>4</a:t>
            </a:fld>
            <a:endParaRPr lang="en-US"/>
          </a:p>
        </p:txBody>
      </p:sp>
    </p:spTree>
    <p:extLst>
      <p:ext uri="{BB962C8B-B14F-4D97-AF65-F5344CB8AC3E}">
        <p14:creationId xmlns:p14="http://schemas.microsoft.com/office/powerpoint/2010/main" val="1532241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We design quantum data correlation mechanisms that leverage entanglement to model interdependencies between PV features directly. </a:t>
            </a:r>
          </a:p>
          <a:p>
            <a:endParaRPr lang="en-US"/>
          </a:p>
        </p:txBody>
      </p:sp>
      <p:sp>
        <p:nvSpPr>
          <p:cNvPr id="4" name="Slide Number Placeholder 3"/>
          <p:cNvSpPr>
            <a:spLocks noGrp="1"/>
          </p:cNvSpPr>
          <p:nvPr>
            <p:ph type="sldNum" sz="quarter" idx="5"/>
          </p:nvPr>
        </p:nvSpPr>
        <p:spPr/>
        <p:txBody>
          <a:bodyPr/>
          <a:lstStyle/>
          <a:p>
            <a:fld id="{51DC8717-AFBB-478A-9104-53E909600208}" type="slidenum">
              <a:rPr lang="en-US" smtClean="0"/>
              <a:pPr/>
              <a:t>5</a:t>
            </a:fld>
            <a:endParaRPr lang="en-US"/>
          </a:p>
        </p:txBody>
      </p:sp>
    </p:spTree>
    <p:extLst>
      <p:ext uri="{BB962C8B-B14F-4D97-AF65-F5344CB8AC3E}">
        <p14:creationId xmlns:p14="http://schemas.microsoft.com/office/powerpoint/2010/main" val="1514075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The </a:t>
                </a:r>
                <a:r>
                  <a:rPr lang="en-US" sz="1200" b="1" kern="1200">
                    <a:solidFill>
                      <a:schemeClr val="tx1"/>
                    </a:solidFill>
                    <a:effectLst/>
                    <a:latin typeface="+mn-lt"/>
                    <a:ea typeface="+mn-ea"/>
                    <a:cs typeface="+mn-cs"/>
                  </a:rPr>
                  <a:t>Transverse Ising Model (TIM)</a:t>
                </a:r>
                <a:r>
                  <a:rPr lang="en-US" sz="1200" kern="1200">
                    <a:solidFill>
                      <a:schemeClr val="tx1"/>
                    </a:solidFill>
                    <a:effectLst/>
                    <a:latin typeface="+mn-lt"/>
                    <a:ea typeface="+mn-ea"/>
                    <a:cs typeface="+mn-cs"/>
                  </a:rPr>
                  <a:t> is a </a:t>
                </a:r>
                <a:r>
                  <a:rPr lang="en-US" sz="1200" b="1" kern="1200">
                    <a:solidFill>
                      <a:schemeClr val="tx1"/>
                    </a:solidFill>
                    <a:effectLst/>
                    <a:latin typeface="+mn-lt"/>
                    <a:ea typeface="+mn-ea"/>
                    <a:cs typeface="+mn-cs"/>
                  </a:rPr>
                  <a:t>quantum spin model</a:t>
                </a:r>
                <a:r>
                  <a:rPr lang="en-US" sz="1200" kern="1200">
                    <a:solidFill>
                      <a:schemeClr val="tx1"/>
                    </a:solidFill>
                    <a:effectLst/>
                    <a:latin typeface="+mn-lt"/>
                    <a:ea typeface="+mn-ea"/>
                    <a:cs typeface="+mn-cs"/>
                  </a:rPr>
                  <a:t> widely used to study </a:t>
                </a:r>
                <a:r>
                  <a:rPr lang="en-US" sz="1200" b="1" kern="1200">
                    <a:solidFill>
                      <a:schemeClr val="tx1"/>
                    </a:solidFill>
                    <a:effectLst/>
                    <a:latin typeface="+mn-lt"/>
                    <a:ea typeface="+mn-ea"/>
                    <a:cs typeface="+mn-cs"/>
                  </a:rPr>
                  <a:t>quantum correlations, entanglement, and phase transitions</a:t>
                </a:r>
                <a:r>
                  <a:rPr lang="en-US" sz="1200" kern="1200">
                    <a:solidFill>
                      <a:schemeClr val="tx1"/>
                    </a:solidFill>
                    <a:effectLst/>
                    <a:latin typeface="+mn-lt"/>
                    <a:ea typeface="+mn-ea"/>
                    <a:cs typeface="+mn-cs"/>
                  </a:rPr>
                  <a:t> in many-body systems. It provides a structured and interpretable framework for encoding and processing data within </a:t>
                </a:r>
                <a:r>
                  <a:rPr lang="en-US" sz="1200" b="1" kern="1200">
                    <a:solidFill>
                      <a:schemeClr val="tx1"/>
                    </a:solidFill>
                    <a:effectLst/>
                    <a:latin typeface="+mn-lt"/>
                    <a:ea typeface="+mn-ea"/>
                    <a:cs typeface="+mn-cs"/>
                  </a:rPr>
                  <a:t>quantum machine learning</a:t>
                </a:r>
                <a:r>
                  <a:rPr lang="en-US" sz="1200" kern="1200">
                    <a:solidFill>
                      <a:schemeClr val="tx1"/>
                    </a:solidFill>
                    <a:effectLst/>
                    <a:latin typeface="+mn-lt"/>
                    <a:ea typeface="+mn-ea"/>
                    <a:cs typeface="+mn-cs"/>
                  </a:rPr>
                  <a:t> and </a:t>
                </a:r>
                <a:r>
                  <a:rPr lang="en-US" sz="1200" b="1" kern="1200">
                    <a:solidFill>
                      <a:schemeClr val="tx1"/>
                    </a:solidFill>
                    <a:effectLst/>
                    <a:latin typeface="+mn-lt"/>
                    <a:ea typeface="+mn-ea"/>
                    <a:cs typeface="+mn-cs"/>
                  </a:rPr>
                  <a:t>variational quantum circuits</a:t>
                </a:r>
                <a:r>
                  <a:rPr lang="en-US" sz="1200" kern="1200">
                    <a:solidFill>
                      <a:schemeClr val="tx1"/>
                    </a:solidFill>
                    <a:effectLst/>
                    <a:latin typeface="+mn-lt"/>
                    <a:ea typeface="+mn-ea"/>
                    <a:cs typeface="+mn-cs"/>
                  </a:rPr>
                  <a:t>.</a:t>
                </a:r>
              </a:p>
              <a:p>
                <a:pPr lvl="0"/>
                <a:r>
                  <a:rPr lang="en-US" sz="1200" kern="1200">
                    <a:solidFill>
                      <a:schemeClr val="tx1"/>
                    </a:solidFill>
                    <a:effectLst/>
                    <a:latin typeface="+mn-lt"/>
                    <a:ea typeface="+mn-ea"/>
                    <a:cs typeface="+mn-cs"/>
                  </a:rPr>
                  <a:t>The </a:t>
                </a:r>
                <a:r>
                  <a:rPr lang="en-US" sz="1200" b="1" kern="1200">
                    <a:solidFill>
                      <a:schemeClr val="tx1"/>
                    </a:solidFill>
                    <a:effectLst/>
                    <a:latin typeface="+mn-lt"/>
                    <a:ea typeface="+mn-ea"/>
                    <a:cs typeface="+mn-cs"/>
                  </a:rPr>
                  <a:t>spins (qubits)</a:t>
                </a:r>
                <a:r>
                  <a:rPr lang="en-US" sz="1200" kern="1200">
                    <a:solidFill>
                      <a:schemeClr val="tx1"/>
                    </a:solidFill>
                    <a:effectLst/>
                    <a:latin typeface="+mn-lt"/>
                    <a:ea typeface="+mn-ea"/>
                    <a:cs typeface="+mn-cs"/>
                  </a:rPr>
                  <a:t> represent </a:t>
                </a:r>
                <a:r>
                  <a:rPr lang="en-US" sz="1200" b="1" kern="1200">
                    <a:solidFill>
                      <a:schemeClr val="tx1"/>
                    </a:solidFill>
                    <a:effectLst/>
                    <a:latin typeface="+mn-lt"/>
                    <a:ea typeface="+mn-ea"/>
                    <a:cs typeface="+mn-cs"/>
                  </a:rPr>
                  <a:t>measurement features</a:t>
                </a:r>
                <a:r>
                  <a:rPr lang="en-US" sz="1200" kern="1200">
                    <a:solidFill>
                      <a:schemeClr val="tx1"/>
                    </a:solidFill>
                    <a:effectLst/>
                    <a:latin typeface="+mn-lt"/>
                    <a:ea typeface="+mn-ea"/>
                    <a:cs typeface="+mn-cs"/>
                  </a:rPr>
                  <a:t> (e.g., voltage, current, irradiance, temperature).</a:t>
                </a:r>
              </a:p>
              <a:p>
                <a:pPr lvl="0"/>
                <a:r>
                  <a:rPr lang="en-US" sz="1200" kern="1200">
                    <a:solidFill>
                      <a:schemeClr val="tx1"/>
                    </a:solidFill>
                    <a:effectLst/>
                    <a:latin typeface="+mn-lt"/>
                    <a:ea typeface="+mn-ea"/>
                    <a:cs typeface="+mn-cs"/>
                  </a:rPr>
                  <a:t>The </a:t>
                </a:r>
                <a:r>
                  <a:rPr lang="en-US" sz="1200" b="1" kern="1200">
                    <a:solidFill>
                      <a:schemeClr val="tx1"/>
                    </a:solidFill>
                    <a:effectLst/>
                    <a:latin typeface="+mn-lt"/>
                    <a:ea typeface="+mn-ea"/>
                    <a:cs typeface="+mn-cs"/>
                  </a:rPr>
                  <a:t>coupling term (</a:t>
                </a:r>
                <a14:m>
                  <m:oMath xmlns:m="http://schemas.openxmlformats.org/officeDocument/2006/math">
                    <m:sSub>
                      <m:sSubPr>
                        <m:ctrlPr>
                          <a:rPr lang="en-US" sz="1200" i="1" kern="1200">
                            <a:solidFill>
                              <a:schemeClr val="tx1"/>
                            </a:solidFill>
                            <a:effectLst/>
                            <a:latin typeface="Cambria Math" panose="02040503050406030204" pitchFamily="18" charset="0"/>
                            <a:ea typeface="+mn-ea"/>
                            <a:cs typeface="+mn-cs"/>
                          </a:rPr>
                        </m:ctrlPr>
                      </m:sSubPr>
                      <m:e>
                        <m:r>
                          <a:rPr lang="en-US" sz="1200" i="1" kern="1200">
                            <a:solidFill>
                              <a:schemeClr val="tx1"/>
                            </a:solidFill>
                            <a:effectLst/>
                            <a:latin typeface="Cambria Math" panose="02040503050406030204" pitchFamily="18" charset="0"/>
                            <a:ea typeface="+mn-ea"/>
                            <a:cs typeface="+mn-cs"/>
                          </a:rPr>
                          <m:t>𝑍</m:t>
                        </m:r>
                      </m:e>
                      <m:sub>
                        <m:r>
                          <a:rPr lang="en-US" sz="1200" i="1" kern="1200">
                            <a:solidFill>
                              <a:schemeClr val="tx1"/>
                            </a:solidFill>
                            <a:effectLst/>
                            <a:latin typeface="Cambria Math" panose="02040503050406030204" pitchFamily="18" charset="0"/>
                            <a:ea typeface="+mn-ea"/>
                            <a:cs typeface="+mn-cs"/>
                          </a:rPr>
                          <m:t>𝑖</m:t>
                        </m:r>
                      </m:sub>
                    </m:sSub>
                    <m:sSub>
                      <m:sSubPr>
                        <m:ctrlPr>
                          <a:rPr lang="en-US" sz="1200" i="1" kern="1200">
                            <a:solidFill>
                              <a:schemeClr val="tx1"/>
                            </a:solidFill>
                            <a:effectLst/>
                            <a:latin typeface="Cambria Math" panose="02040503050406030204" pitchFamily="18" charset="0"/>
                            <a:ea typeface="+mn-ea"/>
                            <a:cs typeface="+mn-cs"/>
                          </a:rPr>
                        </m:ctrlPr>
                      </m:sSubPr>
                      <m:e>
                        <m:r>
                          <a:rPr lang="en-US" sz="1200" i="1" kern="1200">
                            <a:solidFill>
                              <a:schemeClr val="tx1"/>
                            </a:solidFill>
                            <a:effectLst/>
                            <a:latin typeface="Cambria Math" panose="02040503050406030204" pitchFamily="18" charset="0"/>
                            <a:ea typeface="+mn-ea"/>
                            <a:cs typeface="+mn-cs"/>
                          </a:rPr>
                          <m:t>𝑍</m:t>
                        </m:r>
                      </m:e>
                      <m:sub>
                        <m:r>
                          <a:rPr lang="en-US" sz="1200" i="1" kern="1200">
                            <a:solidFill>
                              <a:schemeClr val="tx1"/>
                            </a:solidFill>
                            <a:effectLst/>
                            <a:latin typeface="Cambria Math" panose="02040503050406030204" pitchFamily="18" charset="0"/>
                            <a:ea typeface="+mn-ea"/>
                            <a:cs typeface="+mn-cs"/>
                          </a:rPr>
                          <m:t>𝑖</m:t>
                        </m:r>
                        <m:r>
                          <a:rPr lang="ar-AE" sz="1200" kern="1200">
                            <a:solidFill>
                              <a:schemeClr val="tx1"/>
                            </a:solidFill>
                            <a:effectLst/>
                            <a:latin typeface="Cambria Math" panose="02040503050406030204" pitchFamily="18" charset="0"/>
                            <a:ea typeface="+mn-ea"/>
                            <a:cs typeface="+mn-cs"/>
                          </a:rPr>
                          <m:t>+</m:t>
                        </m:r>
                        <m:r>
                          <a:rPr lang="ar-AE" sz="1200" kern="1200">
                            <a:solidFill>
                              <a:schemeClr val="tx1"/>
                            </a:solidFill>
                            <a:effectLst/>
                            <a:latin typeface="Cambria Math" panose="02040503050406030204" pitchFamily="18" charset="0"/>
                            <a:ea typeface="+mn-ea"/>
                            <a:cs typeface="+mn-cs"/>
                          </a:rPr>
                          <m:t>1</m:t>
                        </m:r>
                      </m:sub>
                    </m:sSub>
                  </m:oMath>
                </a14:m>
                <a:r>
                  <a:rPr lang="ar-AE" sz="1200" b="1" kern="1200">
                    <a:solidFill>
                      <a:schemeClr val="tx1"/>
                    </a:solidFill>
                    <a:effectLst/>
                    <a:latin typeface="+mn-lt"/>
                    <a:ea typeface="+mn-ea"/>
                    <a:cs typeface="+mn-cs"/>
                  </a:rPr>
                  <a:t>)</a:t>
                </a:r>
                <a:r>
                  <a:rPr lang="ar-AE" sz="1200" kern="1200">
                    <a:solidFill>
                      <a:schemeClr val="tx1"/>
                    </a:solidFill>
                    <a:effectLst/>
                    <a:latin typeface="+mn-lt"/>
                    <a:ea typeface="+mn-ea"/>
                    <a:cs typeface="+mn-cs"/>
                  </a:rPr>
                  <a:t> </a:t>
                </a:r>
                <a:r>
                  <a:rPr lang="en-US" sz="1200" kern="1200">
                    <a:solidFill>
                      <a:schemeClr val="tx1"/>
                    </a:solidFill>
                    <a:effectLst/>
                    <a:latin typeface="+mn-lt"/>
                    <a:ea typeface="+mn-ea"/>
                    <a:cs typeface="+mn-cs"/>
                  </a:rPr>
                  <a:t>captures </a:t>
                </a:r>
                <a:r>
                  <a:rPr lang="en-US" sz="1200" b="1" kern="1200">
                    <a:solidFill>
                      <a:schemeClr val="tx1"/>
                    </a:solidFill>
                    <a:effectLst/>
                    <a:latin typeface="+mn-lt"/>
                    <a:ea typeface="+mn-ea"/>
                    <a:cs typeface="+mn-cs"/>
                  </a:rPr>
                  <a:t>correlations</a:t>
                </a:r>
                <a:r>
                  <a:rPr lang="en-US" sz="1200" kern="1200">
                    <a:solidFill>
                      <a:schemeClr val="tx1"/>
                    </a:solidFill>
                    <a:effectLst/>
                    <a:latin typeface="+mn-lt"/>
                    <a:ea typeface="+mn-ea"/>
                    <a:cs typeface="+mn-cs"/>
                  </a:rPr>
                  <a:t> between neighboring or related measurements.</a:t>
                </a:r>
              </a:p>
              <a:p>
                <a:pPr lvl="0"/>
                <a:r>
                  <a:rPr lang="en-US" sz="1200" kern="1200">
                    <a:solidFill>
                      <a:schemeClr val="tx1"/>
                    </a:solidFill>
                    <a:effectLst/>
                    <a:latin typeface="+mn-lt"/>
                    <a:ea typeface="+mn-ea"/>
                    <a:cs typeface="+mn-cs"/>
                  </a:rPr>
                  <a:t>The </a:t>
                </a:r>
                <a:r>
                  <a:rPr lang="en-US" sz="1200" b="1" kern="1200">
                    <a:solidFill>
                      <a:schemeClr val="tx1"/>
                    </a:solidFill>
                    <a:effectLst/>
                    <a:latin typeface="+mn-lt"/>
                    <a:ea typeface="+mn-ea"/>
                    <a:cs typeface="+mn-cs"/>
                  </a:rPr>
                  <a:t>transverse field term (</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h</m:t>
                    </m:r>
                    <m:sSub>
                      <m:sSubPr>
                        <m:ctrlPr>
                          <a:rPr lang="en-US" sz="1200" i="1" kern="1200">
                            <a:solidFill>
                              <a:schemeClr val="tx1"/>
                            </a:solidFill>
                            <a:effectLst/>
                            <a:latin typeface="Cambria Math" panose="02040503050406030204" pitchFamily="18" charset="0"/>
                            <a:ea typeface="+mn-ea"/>
                            <a:cs typeface="+mn-cs"/>
                          </a:rPr>
                        </m:ctrlPr>
                      </m:sSubPr>
                      <m:e>
                        <m:r>
                          <a:rPr lang="en-US" sz="1200" i="1" kern="1200">
                            <a:solidFill>
                              <a:schemeClr val="tx1"/>
                            </a:solidFill>
                            <a:effectLst/>
                            <a:latin typeface="Cambria Math" panose="02040503050406030204" pitchFamily="18" charset="0"/>
                            <a:ea typeface="+mn-ea"/>
                            <a:cs typeface="+mn-cs"/>
                          </a:rPr>
                          <m:t>𝑋</m:t>
                        </m:r>
                      </m:e>
                      <m:sub>
                        <m:r>
                          <a:rPr lang="en-US" sz="1200" i="1" kern="1200">
                            <a:solidFill>
                              <a:schemeClr val="tx1"/>
                            </a:solidFill>
                            <a:effectLst/>
                            <a:latin typeface="Cambria Math" panose="02040503050406030204" pitchFamily="18" charset="0"/>
                            <a:ea typeface="+mn-ea"/>
                            <a:cs typeface="+mn-cs"/>
                          </a:rPr>
                          <m:t>𝑖</m:t>
                        </m:r>
                      </m:sub>
                    </m:sSub>
                  </m:oMath>
                </a14:m>
                <a:r>
                  <a:rPr lang="ar-AE" sz="1200" b="1" kern="1200">
                    <a:solidFill>
                      <a:schemeClr val="tx1"/>
                    </a:solidFill>
                    <a:effectLst/>
                    <a:latin typeface="+mn-lt"/>
                    <a:ea typeface="+mn-ea"/>
                    <a:cs typeface="+mn-cs"/>
                  </a:rPr>
                  <a:t>)</a:t>
                </a:r>
                <a:r>
                  <a:rPr lang="ar-AE" sz="1200" kern="1200">
                    <a:solidFill>
                      <a:schemeClr val="tx1"/>
                    </a:solidFill>
                    <a:effectLst/>
                    <a:latin typeface="+mn-lt"/>
                    <a:ea typeface="+mn-ea"/>
                    <a:cs typeface="+mn-cs"/>
                  </a:rPr>
                  <a:t> </a:t>
                </a:r>
                <a:r>
                  <a:rPr lang="en-US" sz="1200" kern="1200">
                    <a:solidFill>
                      <a:schemeClr val="tx1"/>
                    </a:solidFill>
                    <a:effectLst/>
                    <a:latin typeface="+mn-lt"/>
                    <a:ea typeface="+mn-ea"/>
                    <a:cs typeface="+mn-cs"/>
                  </a:rPr>
                  <a:t>enables </a:t>
                </a:r>
                <a:r>
                  <a:rPr lang="en-US" sz="1200" b="1" kern="1200">
                    <a:solidFill>
                      <a:schemeClr val="tx1"/>
                    </a:solidFill>
                    <a:effectLst/>
                    <a:latin typeface="+mn-lt"/>
                    <a:ea typeface="+mn-ea"/>
                    <a:cs typeface="+mn-cs"/>
                  </a:rPr>
                  <a:t>superposition</a:t>
                </a:r>
                <a:r>
                  <a:rPr lang="en-US" sz="1200" kern="1200">
                    <a:solidFill>
                      <a:schemeClr val="tx1"/>
                    </a:solidFill>
                    <a:effectLst/>
                    <a:latin typeface="+mn-lt"/>
                    <a:ea typeface="+mn-ea"/>
                    <a:cs typeface="+mn-cs"/>
                  </a:rPr>
                  <a:t> and </a:t>
                </a:r>
                <a:r>
                  <a:rPr lang="en-US" sz="1200" b="1" kern="1200">
                    <a:solidFill>
                      <a:schemeClr val="tx1"/>
                    </a:solidFill>
                    <a:effectLst/>
                    <a:latin typeface="+mn-lt"/>
                    <a:ea typeface="+mn-ea"/>
                    <a:cs typeface="+mn-cs"/>
                  </a:rPr>
                  <a:t>exploration of alternative feature configurations</a:t>
                </a:r>
                <a:r>
                  <a:rPr lang="en-US" sz="1200" kern="1200">
                    <a:solidFill>
                      <a:schemeClr val="tx1"/>
                    </a:solidFill>
                    <a:effectLst/>
                    <a:latin typeface="+mn-lt"/>
                    <a:ea typeface="+mn-ea"/>
                    <a:cs typeface="+mn-cs"/>
                  </a:rPr>
                  <a:t>, representing non-linear dependencies and possible fault states.</a:t>
                </a:r>
              </a:p>
              <a:p>
                <a:r>
                  <a:rPr lang="en-US" sz="1200" b="1" kern="1200">
                    <a:solidFill>
                      <a:schemeClr val="tx1"/>
                    </a:solidFill>
                    <a:effectLst/>
                    <a:latin typeface="+mn-lt"/>
                    <a:ea typeface="+mn-ea"/>
                    <a:cs typeface="+mn-cs"/>
                  </a:rPr>
                  <a:t>Concept             Classical Analogy                              Quantum Advantage</a:t>
                </a: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Spin coupling    Correlation between sensors            Encodes multi-variable dependencies</a:t>
                </a:r>
              </a:p>
              <a:p>
                <a:r>
                  <a:rPr lang="en-US" sz="1200" kern="1200">
                    <a:solidFill>
                      <a:schemeClr val="tx1"/>
                    </a:solidFill>
                    <a:effectLst/>
                    <a:latin typeface="+mn-lt"/>
                    <a:ea typeface="+mn-ea"/>
                    <a:cs typeface="+mn-cs"/>
                  </a:rPr>
                  <a:t>Transverse field Feature variation                               Explores alternate fault states   </a:t>
                </a:r>
              </a:p>
              <a:p>
                <a:r>
                  <a:rPr lang="en-US" sz="1200" kern="1200">
                    <a:solidFill>
                      <a:schemeClr val="tx1"/>
                    </a:solidFill>
                    <a:effectLst/>
                    <a:latin typeface="+mn-lt"/>
                    <a:ea typeface="+mn-ea"/>
                    <a:cs typeface="+mn-cs"/>
                  </a:rPr>
                  <a:t>Ground state     Optimal model configuration           Captures global fault context</a:t>
                </a:r>
              </a:p>
              <a:p>
                <a:endParaRPr lang="en-US"/>
              </a:p>
              <a:p>
                <a:endParaRPr lang="en-US"/>
              </a:p>
            </p:txBody>
          </p:sp>
        </mc:Choice>
        <mc:Fallback xmlns="">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The </a:t>
                </a:r>
                <a:r>
                  <a:rPr lang="en-US" sz="1200" b="1" kern="1200">
                    <a:solidFill>
                      <a:schemeClr val="tx1"/>
                    </a:solidFill>
                    <a:effectLst/>
                    <a:latin typeface="+mn-lt"/>
                    <a:ea typeface="+mn-ea"/>
                    <a:cs typeface="+mn-cs"/>
                  </a:rPr>
                  <a:t>Transverse Ising Model (TIM)</a:t>
                </a:r>
                <a:r>
                  <a:rPr lang="en-US" sz="1200" kern="1200">
                    <a:solidFill>
                      <a:schemeClr val="tx1"/>
                    </a:solidFill>
                    <a:effectLst/>
                    <a:latin typeface="+mn-lt"/>
                    <a:ea typeface="+mn-ea"/>
                    <a:cs typeface="+mn-cs"/>
                  </a:rPr>
                  <a:t> is a </a:t>
                </a:r>
                <a:r>
                  <a:rPr lang="en-US" sz="1200" b="1" kern="1200">
                    <a:solidFill>
                      <a:schemeClr val="tx1"/>
                    </a:solidFill>
                    <a:effectLst/>
                    <a:latin typeface="+mn-lt"/>
                    <a:ea typeface="+mn-ea"/>
                    <a:cs typeface="+mn-cs"/>
                  </a:rPr>
                  <a:t>quantum spin model</a:t>
                </a:r>
                <a:r>
                  <a:rPr lang="en-US" sz="1200" kern="1200">
                    <a:solidFill>
                      <a:schemeClr val="tx1"/>
                    </a:solidFill>
                    <a:effectLst/>
                    <a:latin typeface="+mn-lt"/>
                    <a:ea typeface="+mn-ea"/>
                    <a:cs typeface="+mn-cs"/>
                  </a:rPr>
                  <a:t> widely used to study </a:t>
                </a:r>
                <a:r>
                  <a:rPr lang="en-US" sz="1200" b="1" kern="1200">
                    <a:solidFill>
                      <a:schemeClr val="tx1"/>
                    </a:solidFill>
                    <a:effectLst/>
                    <a:latin typeface="+mn-lt"/>
                    <a:ea typeface="+mn-ea"/>
                    <a:cs typeface="+mn-cs"/>
                  </a:rPr>
                  <a:t>quantum correlations, entanglement, and phase transitions</a:t>
                </a:r>
                <a:r>
                  <a:rPr lang="en-US" sz="1200" kern="1200">
                    <a:solidFill>
                      <a:schemeClr val="tx1"/>
                    </a:solidFill>
                    <a:effectLst/>
                    <a:latin typeface="+mn-lt"/>
                    <a:ea typeface="+mn-ea"/>
                    <a:cs typeface="+mn-cs"/>
                  </a:rPr>
                  <a:t> in many-body systems. It provides a structured and interpretable framework for encoding and processing data within </a:t>
                </a:r>
                <a:r>
                  <a:rPr lang="en-US" sz="1200" b="1" kern="1200">
                    <a:solidFill>
                      <a:schemeClr val="tx1"/>
                    </a:solidFill>
                    <a:effectLst/>
                    <a:latin typeface="+mn-lt"/>
                    <a:ea typeface="+mn-ea"/>
                    <a:cs typeface="+mn-cs"/>
                  </a:rPr>
                  <a:t>quantum machine learning</a:t>
                </a:r>
                <a:r>
                  <a:rPr lang="en-US" sz="1200" kern="1200">
                    <a:solidFill>
                      <a:schemeClr val="tx1"/>
                    </a:solidFill>
                    <a:effectLst/>
                    <a:latin typeface="+mn-lt"/>
                    <a:ea typeface="+mn-ea"/>
                    <a:cs typeface="+mn-cs"/>
                  </a:rPr>
                  <a:t> and </a:t>
                </a:r>
                <a:r>
                  <a:rPr lang="en-US" sz="1200" b="1" kern="1200">
                    <a:solidFill>
                      <a:schemeClr val="tx1"/>
                    </a:solidFill>
                    <a:effectLst/>
                    <a:latin typeface="+mn-lt"/>
                    <a:ea typeface="+mn-ea"/>
                    <a:cs typeface="+mn-cs"/>
                  </a:rPr>
                  <a:t>variational quantum circuits</a:t>
                </a:r>
                <a:r>
                  <a:rPr lang="en-US" sz="1200" kern="1200">
                    <a:solidFill>
                      <a:schemeClr val="tx1"/>
                    </a:solidFill>
                    <a:effectLst/>
                    <a:latin typeface="+mn-lt"/>
                    <a:ea typeface="+mn-ea"/>
                    <a:cs typeface="+mn-cs"/>
                  </a:rPr>
                  <a:t>.</a:t>
                </a:r>
              </a:p>
              <a:p>
                <a:pPr lvl="0"/>
                <a:r>
                  <a:rPr lang="en-US" sz="1200" kern="1200">
                    <a:solidFill>
                      <a:schemeClr val="tx1"/>
                    </a:solidFill>
                    <a:effectLst/>
                    <a:latin typeface="+mn-lt"/>
                    <a:ea typeface="+mn-ea"/>
                    <a:cs typeface="+mn-cs"/>
                  </a:rPr>
                  <a:t>The </a:t>
                </a:r>
                <a:r>
                  <a:rPr lang="en-US" sz="1200" b="1" kern="1200">
                    <a:solidFill>
                      <a:schemeClr val="tx1"/>
                    </a:solidFill>
                    <a:effectLst/>
                    <a:latin typeface="+mn-lt"/>
                    <a:ea typeface="+mn-ea"/>
                    <a:cs typeface="+mn-cs"/>
                  </a:rPr>
                  <a:t>spins (qubits)</a:t>
                </a:r>
                <a:r>
                  <a:rPr lang="en-US" sz="1200" kern="1200">
                    <a:solidFill>
                      <a:schemeClr val="tx1"/>
                    </a:solidFill>
                    <a:effectLst/>
                    <a:latin typeface="+mn-lt"/>
                    <a:ea typeface="+mn-ea"/>
                    <a:cs typeface="+mn-cs"/>
                  </a:rPr>
                  <a:t> represent </a:t>
                </a:r>
                <a:r>
                  <a:rPr lang="en-US" sz="1200" b="1" kern="1200">
                    <a:solidFill>
                      <a:schemeClr val="tx1"/>
                    </a:solidFill>
                    <a:effectLst/>
                    <a:latin typeface="+mn-lt"/>
                    <a:ea typeface="+mn-ea"/>
                    <a:cs typeface="+mn-cs"/>
                  </a:rPr>
                  <a:t>measurement features</a:t>
                </a:r>
                <a:r>
                  <a:rPr lang="en-US" sz="1200" kern="1200">
                    <a:solidFill>
                      <a:schemeClr val="tx1"/>
                    </a:solidFill>
                    <a:effectLst/>
                    <a:latin typeface="+mn-lt"/>
                    <a:ea typeface="+mn-ea"/>
                    <a:cs typeface="+mn-cs"/>
                  </a:rPr>
                  <a:t> (e.g., voltage, current, irradiance, temperature).</a:t>
                </a:r>
              </a:p>
              <a:p>
                <a:pPr lvl="0"/>
                <a:r>
                  <a:rPr lang="en-US" sz="1200" kern="1200">
                    <a:solidFill>
                      <a:schemeClr val="tx1"/>
                    </a:solidFill>
                    <a:effectLst/>
                    <a:latin typeface="+mn-lt"/>
                    <a:ea typeface="+mn-ea"/>
                    <a:cs typeface="+mn-cs"/>
                  </a:rPr>
                  <a:t>The </a:t>
                </a:r>
                <a:r>
                  <a:rPr lang="en-US" sz="1200" b="1" kern="1200">
                    <a:solidFill>
                      <a:schemeClr val="tx1"/>
                    </a:solidFill>
                    <a:effectLst/>
                    <a:latin typeface="+mn-lt"/>
                    <a:ea typeface="+mn-ea"/>
                    <a:cs typeface="+mn-cs"/>
                  </a:rPr>
                  <a:t>coupling term (</a:t>
                </a:r>
                <a:r>
                  <a:rPr lang="en-US" sz="1200" i="0" kern="1200">
                    <a:solidFill>
                      <a:schemeClr val="tx1"/>
                    </a:solidFill>
                    <a:effectLst/>
                    <a:latin typeface="Cambria Math" panose="02040503050406030204" pitchFamily="18" charset="0"/>
                    <a:ea typeface="+mn-ea"/>
                    <a:cs typeface="+mn-cs"/>
                  </a:rPr>
                  <a:t>𝑍_𝑖 𝑍_(𝑖</a:t>
                </a:r>
                <a:r>
                  <a:rPr lang="ar-AE" sz="1200" i="0" kern="1200">
                    <a:solidFill>
                      <a:schemeClr val="tx1"/>
                    </a:solidFill>
                    <a:effectLst/>
                    <a:latin typeface="Cambria Math" panose="02040503050406030204" pitchFamily="18" charset="0"/>
                    <a:ea typeface="+mn-ea"/>
                    <a:cs typeface="+mn-cs"/>
                  </a:rPr>
                  <a:t>+1</a:t>
                </a:r>
                <a:r>
                  <a:rPr lang="en-US" sz="1200" i="0" kern="1200">
                    <a:solidFill>
                      <a:schemeClr val="tx1"/>
                    </a:solidFill>
                    <a:effectLst/>
                    <a:latin typeface="Cambria Math" panose="02040503050406030204" pitchFamily="18" charset="0"/>
                    <a:ea typeface="+mn-ea"/>
                    <a:cs typeface="+mn-cs"/>
                  </a:rPr>
                  <a:t>)</a:t>
                </a:r>
                <a:r>
                  <a:rPr lang="ar-AE" sz="1200" b="1" kern="1200">
                    <a:solidFill>
                      <a:schemeClr val="tx1"/>
                    </a:solidFill>
                    <a:effectLst/>
                    <a:latin typeface="+mn-lt"/>
                    <a:ea typeface="+mn-ea"/>
                    <a:cs typeface="+mn-cs"/>
                  </a:rPr>
                  <a:t>)</a:t>
                </a:r>
                <a:r>
                  <a:rPr lang="ar-AE" sz="1200" kern="1200">
                    <a:solidFill>
                      <a:schemeClr val="tx1"/>
                    </a:solidFill>
                    <a:effectLst/>
                    <a:latin typeface="+mn-lt"/>
                    <a:ea typeface="+mn-ea"/>
                    <a:cs typeface="+mn-cs"/>
                  </a:rPr>
                  <a:t> </a:t>
                </a:r>
                <a:r>
                  <a:rPr lang="en-US" sz="1200" kern="1200">
                    <a:solidFill>
                      <a:schemeClr val="tx1"/>
                    </a:solidFill>
                    <a:effectLst/>
                    <a:latin typeface="+mn-lt"/>
                    <a:ea typeface="+mn-ea"/>
                    <a:cs typeface="+mn-cs"/>
                  </a:rPr>
                  <a:t>captures </a:t>
                </a:r>
                <a:r>
                  <a:rPr lang="en-US" sz="1200" b="1" kern="1200">
                    <a:solidFill>
                      <a:schemeClr val="tx1"/>
                    </a:solidFill>
                    <a:effectLst/>
                    <a:latin typeface="+mn-lt"/>
                    <a:ea typeface="+mn-ea"/>
                    <a:cs typeface="+mn-cs"/>
                  </a:rPr>
                  <a:t>correlations</a:t>
                </a:r>
                <a:r>
                  <a:rPr lang="en-US" sz="1200" kern="1200">
                    <a:solidFill>
                      <a:schemeClr val="tx1"/>
                    </a:solidFill>
                    <a:effectLst/>
                    <a:latin typeface="+mn-lt"/>
                    <a:ea typeface="+mn-ea"/>
                    <a:cs typeface="+mn-cs"/>
                  </a:rPr>
                  <a:t> between neighboring or related measurements.</a:t>
                </a:r>
              </a:p>
              <a:p>
                <a:pPr lvl="0"/>
                <a:r>
                  <a:rPr lang="en-US" sz="1200" kern="1200">
                    <a:solidFill>
                      <a:schemeClr val="tx1"/>
                    </a:solidFill>
                    <a:effectLst/>
                    <a:latin typeface="+mn-lt"/>
                    <a:ea typeface="+mn-ea"/>
                    <a:cs typeface="+mn-cs"/>
                  </a:rPr>
                  <a:t>The </a:t>
                </a:r>
                <a:r>
                  <a:rPr lang="en-US" sz="1200" b="1" kern="1200">
                    <a:solidFill>
                      <a:schemeClr val="tx1"/>
                    </a:solidFill>
                    <a:effectLst/>
                    <a:latin typeface="+mn-lt"/>
                    <a:ea typeface="+mn-ea"/>
                    <a:cs typeface="+mn-cs"/>
                  </a:rPr>
                  <a:t>transverse field term (</a:t>
                </a:r>
                <a:r>
                  <a:rPr lang="en-US" sz="1200" i="0" kern="1200">
                    <a:solidFill>
                      <a:schemeClr val="tx1"/>
                    </a:solidFill>
                    <a:effectLst/>
                    <a:latin typeface="Cambria Math" panose="02040503050406030204" pitchFamily="18" charset="0"/>
                    <a:ea typeface="+mn-ea"/>
                    <a:cs typeface="+mn-cs"/>
                  </a:rPr>
                  <a:t>ℎ𝑋_𝑖</a:t>
                </a:r>
                <a:r>
                  <a:rPr lang="ar-AE" sz="1200" b="1" kern="1200">
                    <a:solidFill>
                      <a:schemeClr val="tx1"/>
                    </a:solidFill>
                    <a:effectLst/>
                    <a:latin typeface="+mn-lt"/>
                    <a:ea typeface="+mn-ea"/>
                    <a:cs typeface="+mn-cs"/>
                  </a:rPr>
                  <a:t>)</a:t>
                </a:r>
                <a:r>
                  <a:rPr lang="ar-AE" sz="1200" kern="1200">
                    <a:solidFill>
                      <a:schemeClr val="tx1"/>
                    </a:solidFill>
                    <a:effectLst/>
                    <a:latin typeface="+mn-lt"/>
                    <a:ea typeface="+mn-ea"/>
                    <a:cs typeface="+mn-cs"/>
                  </a:rPr>
                  <a:t> </a:t>
                </a:r>
                <a:r>
                  <a:rPr lang="en-US" sz="1200" kern="1200">
                    <a:solidFill>
                      <a:schemeClr val="tx1"/>
                    </a:solidFill>
                    <a:effectLst/>
                    <a:latin typeface="+mn-lt"/>
                    <a:ea typeface="+mn-ea"/>
                    <a:cs typeface="+mn-cs"/>
                  </a:rPr>
                  <a:t>enables </a:t>
                </a:r>
                <a:r>
                  <a:rPr lang="en-US" sz="1200" b="1" kern="1200">
                    <a:solidFill>
                      <a:schemeClr val="tx1"/>
                    </a:solidFill>
                    <a:effectLst/>
                    <a:latin typeface="+mn-lt"/>
                    <a:ea typeface="+mn-ea"/>
                    <a:cs typeface="+mn-cs"/>
                  </a:rPr>
                  <a:t>superposition</a:t>
                </a:r>
                <a:r>
                  <a:rPr lang="en-US" sz="1200" kern="1200">
                    <a:solidFill>
                      <a:schemeClr val="tx1"/>
                    </a:solidFill>
                    <a:effectLst/>
                    <a:latin typeface="+mn-lt"/>
                    <a:ea typeface="+mn-ea"/>
                    <a:cs typeface="+mn-cs"/>
                  </a:rPr>
                  <a:t> and </a:t>
                </a:r>
                <a:r>
                  <a:rPr lang="en-US" sz="1200" b="1" kern="1200">
                    <a:solidFill>
                      <a:schemeClr val="tx1"/>
                    </a:solidFill>
                    <a:effectLst/>
                    <a:latin typeface="+mn-lt"/>
                    <a:ea typeface="+mn-ea"/>
                    <a:cs typeface="+mn-cs"/>
                  </a:rPr>
                  <a:t>exploration of alternative feature configurations</a:t>
                </a:r>
                <a:r>
                  <a:rPr lang="en-US" sz="1200" kern="1200">
                    <a:solidFill>
                      <a:schemeClr val="tx1"/>
                    </a:solidFill>
                    <a:effectLst/>
                    <a:latin typeface="+mn-lt"/>
                    <a:ea typeface="+mn-ea"/>
                    <a:cs typeface="+mn-cs"/>
                  </a:rPr>
                  <a:t>, representing non-linear dependencies and possible fault states.</a:t>
                </a:r>
              </a:p>
              <a:p>
                <a:r>
                  <a:rPr lang="en-US" sz="1200" b="1" kern="1200">
                    <a:solidFill>
                      <a:schemeClr val="tx1"/>
                    </a:solidFill>
                    <a:effectLst/>
                    <a:latin typeface="+mn-lt"/>
                    <a:ea typeface="+mn-ea"/>
                    <a:cs typeface="+mn-cs"/>
                  </a:rPr>
                  <a:t>Concept             Classical Analogy                              Quantum Advantage</a:t>
                </a: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Spin coupling    Correlation between sensors            Encodes multi-variable dependencies</a:t>
                </a:r>
              </a:p>
              <a:p>
                <a:r>
                  <a:rPr lang="en-US" sz="1200" kern="1200">
                    <a:solidFill>
                      <a:schemeClr val="tx1"/>
                    </a:solidFill>
                    <a:effectLst/>
                    <a:latin typeface="+mn-lt"/>
                    <a:ea typeface="+mn-ea"/>
                    <a:cs typeface="+mn-cs"/>
                  </a:rPr>
                  <a:t>Transverse field Feature variation                               Explores alternate fault states   </a:t>
                </a:r>
              </a:p>
              <a:p>
                <a:r>
                  <a:rPr lang="en-US" sz="1200" kern="1200">
                    <a:solidFill>
                      <a:schemeClr val="tx1"/>
                    </a:solidFill>
                    <a:effectLst/>
                    <a:latin typeface="+mn-lt"/>
                    <a:ea typeface="+mn-ea"/>
                    <a:cs typeface="+mn-cs"/>
                  </a:rPr>
                  <a:t>Ground state     Optimal model configuration           Captures global fault context</a:t>
                </a:r>
              </a:p>
              <a:p>
                <a:endParaRPr lang="en-US"/>
              </a:p>
              <a:p>
                <a:endParaRPr lang="en-US"/>
              </a:p>
            </p:txBody>
          </p:sp>
        </mc:Fallback>
      </mc:AlternateContent>
      <p:sp>
        <p:nvSpPr>
          <p:cNvPr id="4" name="Slide Number Placeholder 3"/>
          <p:cNvSpPr>
            <a:spLocks noGrp="1"/>
          </p:cNvSpPr>
          <p:nvPr>
            <p:ph type="sldNum" sz="quarter" idx="5"/>
          </p:nvPr>
        </p:nvSpPr>
        <p:spPr/>
        <p:txBody>
          <a:bodyPr/>
          <a:lstStyle/>
          <a:p>
            <a:fld id="{51DC8717-AFBB-478A-9104-53E909600208}" type="slidenum">
              <a:rPr lang="en-US" smtClean="0"/>
              <a:pPr/>
              <a:t>6</a:t>
            </a:fld>
            <a:endParaRPr lang="en-US"/>
          </a:p>
        </p:txBody>
      </p:sp>
    </p:spTree>
    <p:extLst>
      <p:ext uri="{BB962C8B-B14F-4D97-AF65-F5344CB8AC3E}">
        <p14:creationId xmlns:p14="http://schemas.microsoft.com/office/powerpoint/2010/main" val="34065562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1024 shots that allow us to collect probability distributions. This is similar to classical Monte Carlo</a:t>
            </a:r>
          </a:p>
          <a:p>
            <a:endParaRPr lang="en-US"/>
          </a:p>
        </p:txBody>
      </p:sp>
      <p:sp>
        <p:nvSpPr>
          <p:cNvPr id="4" name="Slide Number Placeholder 3"/>
          <p:cNvSpPr>
            <a:spLocks noGrp="1"/>
          </p:cNvSpPr>
          <p:nvPr>
            <p:ph type="sldNum" sz="quarter" idx="5"/>
          </p:nvPr>
        </p:nvSpPr>
        <p:spPr/>
        <p:txBody>
          <a:bodyPr/>
          <a:lstStyle/>
          <a:p>
            <a:fld id="{51DC8717-AFBB-478A-9104-53E909600208}" type="slidenum">
              <a:rPr lang="en-US" smtClean="0"/>
              <a:pPr/>
              <a:t>7</a:t>
            </a:fld>
            <a:endParaRPr lang="en-US"/>
          </a:p>
        </p:txBody>
      </p:sp>
    </p:spTree>
    <p:extLst>
      <p:ext uri="{BB962C8B-B14F-4D97-AF65-F5344CB8AC3E}">
        <p14:creationId xmlns:p14="http://schemas.microsoft.com/office/powerpoint/2010/main" val="21266376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The results presented highlight the impact of feature map construction on the performance of quantum models. These interactions reveal controlled quantum fluctuations in the feature embedding, thereby enhancing the separability of the encoded data. </a:t>
            </a:r>
          </a:p>
          <a:p>
            <a:r>
              <a:rPr lang="en-US" sz="1200" kern="1200">
                <a:solidFill>
                  <a:schemeClr val="tx1"/>
                </a:solidFill>
                <a:effectLst/>
                <a:latin typeface="+mn-lt"/>
                <a:ea typeface="+mn-ea"/>
                <a:cs typeface="+mn-cs"/>
              </a:rPr>
              <a:t>The results show that feature maps with both X and ZZ encodings achieved superior accuracy (e.g., 80–86% in AER simulation and 78% under the IBM Osaka noise model), compared to single-term encodings. </a:t>
            </a:r>
          </a:p>
          <a:p>
            <a:r>
              <a:rPr lang="en-US" sz="1200" kern="1200">
                <a:solidFill>
                  <a:schemeClr val="tx1"/>
                </a:solidFill>
                <a:effectLst/>
                <a:latin typeface="+mn-lt"/>
                <a:ea typeface="+mn-ea"/>
                <a:cs typeface="+mn-cs"/>
              </a:rPr>
              <a:t>This suggests that quantum fluctuations introduced through the transverse field enhance the circuit’s ability to adapt and mitigate noise effects </a:t>
            </a:r>
          </a:p>
          <a:p>
            <a:r>
              <a:rPr lang="en-US" sz="1200" kern="1200">
                <a:solidFill>
                  <a:schemeClr val="tx1"/>
                </a:solidFill>
                <a:effectLst/>
                <a:latin typeface="+mn-lt"/>
                <a:ea typeface="+mn-ea"/>
                <a:cs typeface="+mn-cs"/>
              </a:rPr>
              <a:t>The result is a feature space that reflects not only classical similarity between input data points but also quantum correlations, allowing the model to explore a broader manifold of the Hilbert space. </a:t>
            </a:r>
          </a:p>
          <a:p>
            <a:r>
              <a:rPr lang="en-US" sz="1200" kern="1200">
                <a:solidFill>
                  <a:schemeClr val="tx1"/>
                </a:solidFill>
                <a:effectLst/>
                <a:latin typeface="+mn-lt"/>
                <a:ea typeface="+mn-ea"/>
                <a:cs typeface="+mn-cs"/>
              </a:rPr>
              <a:t>A key advantage in quantum machine learning applications.</a:t>
            </a:r>
          </a:p>
          <a:p>
            <a:pPr lvl="1"/>
            <a:endParaRPr lang="en-US" sz="2400"/>
          </a:p>
          <a:p>
            <a:endParaRPr lang="en-US"/>
          </a:p>
          <a:p>
            <a:endParaRPr lang="en-US"/>
          </a:p>
        </p:txBody>
      </p:sp>
      <p:sp>
        <p:nvSpPr>
          <p:cNvPr id="4" name="Slide Number Placeholder 3"/>
          <p:cNvSpPr>
            <a:spLocks noGrp="1"/>
          </p:cNvSpPr>
          <p:nvPr>
            <p:ph type="sldNum" sz="quarter" idx="5"/>
          </p:nvPr>
        </p:nvSpPr>
        <p:spPr/>
        <p:txBody>
          <a:bodyPr/>
          <a:lstStyle/>
          <a:p>
            <a:fld id="{51DC8717-AFBB-478A-9104-53E909600208}" type="slidenum">
              <a:rPr lang="en-US" smtClean="0"/>
              <a:pPr/>
              <a:t>12</a:t>
            </a:fld>
            <a:endParaRPr lang="en-US"/>
          </a:p>
        </p:txBody>
      </p:sp>
    </p:spTree>
    <p:extLst>
      <p:ext uri="{BB962C8B-B14F-4D97-AF65-F5344CB8AC3E}">
        <p14:creationId xmlns:p14="http://schemas.microsoft.com/office/powerpoint/2010/main" val="11001969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Special Unitary (SU) Group Ansatz, focusing on different entanglement schemes for a hardware-efficient SU(2) 2-local circuit. The SU(2) Ansatz consists of layers of SU(2) single-qubit operations combined with controlled entanglement gates, such as Controlled-NOT (CNOT).</a:t>
            </a:r>
          </a:p>
          <a:p>
            <a:r>
              <a:rPr lang="en-US"/>
              <a:t> </a:t>
            </a:r>
          </a:p>
        </p:txBody>
      </p:sp>
      <p:sp>
        <p:nvSpPr>
          <p:cNvPr id="4" name="Slide Number Placeholder 3"/>
          <p:cNvSpPr>
            <a:spLocks noGrp="1"/>
          </p:cNvSpPr>
          <p:nvPr>
            <p:ph type="sldNum" sz="quarter" idx="5"/>
          </p:nvPr>
        </p:nvSpPr>
        <p:spPr/>
        <p:txBody>
          <a:bodyPr/>
          <a:lstStyle/>
          <a:p>
            <a:fld id="{51DC8717-AFBB-478A-9104-53E909600208}" type="slidenum">
              <a:rPr lang="en-US" smtClean="0"/>
              <a:pPr/>
              <a:t>13</a:t>
            </a:fld>
            <a:endParaRPr lang="en-US"/>
          </a:p>
        </p:txBody>
      </p:sp>
    </p:spTree>
    <p:extLst>
      <p:ext uri="{BB962C8B-B14F-4D97-AF65-F5344CB8AC3E}">
        <p14:creationId xmlns:p14="http://schemas.microsoft.com/office/powerpoint/2010/main" val="24479592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1DC8717-AFBB-478A-9104-53E909600208}" type="slidenum">
              <a:rPr lang="en-US" smtClean="0"/>
              <a:pPr/>
              <a:t>14</a:t>
            </a:fld>
            <a:endParaRPr lang="en-US"/>
          </a:p>
        </p:txBody>
      </p:sp>
    </p:spTree>
    <p:extLst>
      <p:ext uri="{BB962C8B-B14F-4D97-AF65-F5344CB8AC3E}">
        <p14:creationId xmlns:p14="http://schemas.microsoft.com/office/powerpoint/2010/main" val="13160642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a:solidFill>
                  <a:schemeClr val="tx1"/>
                </a:solidFill>
                <a:effectLst/>
                <a:latin typeface="+mn-lt"/>
                <a:ea typeface="+mn-ea"/>
                <a:cs typeface="+mn-cs"/>
              </a:rPr>
              <a:t>To optimize performance and hardware feasibility, we applied a pruning strategy based on empirical feature relevance and entanglement contribution. The pruning process involved:</a:t>
            </a:r>
          </a:p>
          <a:p>
            <a:pPr lvl="1"/>
            <a:r>
              <a:rPr lang="en-US" sz="1100" b="1" kern="1200">
                <a:solidFill>
                  <a:schemeClr val="tx1"/>
                </a:solidFill>
                <a:effectLst/>
                <a:latin typeface="+mn-lt"/>
                <a:ea typeface="+mn-ea"/>
                <a:cs typeface="+mn-cs"/>
              </a:rPr>
              <a:t>Correlation Analysis</a:t>
            </a:r>
            <a:r>
              <a:rPr lang="en-US" sz="1100" kern="1200">
                <a:solidFill>
                  <a:schemeClr val="tx1"/>
                </a:solidFill>
                <a:effectLst/>
                <a:latin typeface="+mn-lt"/>
                <a:ea typeface="+mn-ea"/>
                <a:cs typeface="+mn-cs"/>
              </a:rPr>
              <a:t>: Evaluated mutual information between features to identify impactful entanglement paths.</a:t>
            </a:r>
          </a:p>
          <a:p>
            <a:pPr lvl="1"/>
            <a:r>
              <a:rPr lang="en-US" sz="1100" b="1" kern="1200">
                <a:solidFill>
                  <a:schemeClr val="tx1"/>
                </a:solidFill>
                <a:effectLst/>
                <a:latin typeface="+mn-lt"/>
                <a:ea typeface="+mn-ea"/>
                <a:cs typeface="+mn-cs"/>
              </a:rPr>
              <a:t>Gradient Sensitivity</a:t>
            </a:r>
            <a:r>
              <a:rPr lang="en-US" sz="1100" kern="1200">
                <a:solidFill>
                  <a:schemeClr val="tx1"/>
                </a:solidFill>
                <a:effectLst/>
                <a:latin typeface="+mn-lt"/>
                <a:ea typeface="+mn-ea"/>
                <a:cs typeface="+mn-cs"/>
              </a:rPr>
              <a:t>: Assessed gate-level influence on model loss during training iterations.</a:t>
            </a:r>
          </a:p>
          <a:p>
            <a:pPr lvl="1"/>
            <a:r>
              <a:rPr lang="en-US" sz="1100" b="1" kern="1200">
                <a:solidFill>
                  <a:schemeClr val="tx1"/>
                </a:solidFill>
                <a:effectLst/>
                <a:latin typeface="+mn-lt"/>
                <a:ea typeface="+mn-ea"/>
                <a:cs typeface="+mn-cs"/>
              </a:rPr>
              <a:t>Gate Reduction</a:t>
            </a:r>
            <a:r>
              <a:rPr lang="en-US" sz="1100" kern="1200">
                <a:solidFill>
                  <a:schemeClr val="tx1"/>
                </a:solidFill>
                <a:effectLst/>
                <a:latin typeface="+mn-lt"/>
                <a:ea typeface="+mn-ea"/>
                <a:cs typeface="+mn-cs"/>
              </a:rPr>
              <a:t>: Removed low-impact Toffoli gates and replaced redundant structures with CNOT or single-qubit rotations.</a:t>
            </a:r>
          </a:p>
          <a:p>
            <a:pPr lvl="1"/>
            <a:r>
              <a:rPr lang="en-US" sz="1100" b="1" kern="1200">
                <a:solidFill>
                  <a:schemeClr val="tx1"/>
                </a:solidFill>
                <a:effectLst/>
                <a:latin typeface="+mn-lt"/>
                <a:ea typeface="+mn-ea"/>
                <a:cs typeface="+mn-cs"/>
              </a:rPr>
              <a:t>Layer Simplification</a:t>
            </a:r>
            <a:r>
              <a:rPr lang="en-US" sz="1100" kern="1200">
                <a:solidFill>
                  <a:schemeClr val="tx1"/>
                </a:solidFill>
                <a:effectLst/>
                <a:latin typeface="+mn-lt"/>
                <a:ea typeface="+mn-ea"/>
                <a:cs typeface="+mn-cs"/>
              </a:rPr>
              <a:t>: Collapsed multi-controlled operations into modular blocks with reduced depth.</a:t>
            </a:r>
          </a:p>
          <a:p>
            <a:r>
              <a:rPr lang="en-US" sz="1100" kern="1200">
                <a:solidFill>
                  <a:schemeClr val="tx1"/>
                </a:solidFill>
                <a:effectLst/>
                <a:latin typeface="+mn-lt"/>
                <a:ea typeface="+mn-ea"/>
                <a:cs typeface="+mn-cs"/>
              </a:rPr>
              <a:t>Novel Ansatz for PV Fault Detection</a:t>
            </a:r>
          </a:p>
          <a:p>
            <a:r>
              <a:rPr lang="en-US" sz="1100" b="1" kern="1200">
                <a:solidFill>
                  <a:schemeClr val="tx1"/>
                </a:solidFill>
                <a:effectLst/>
                <a:latin typeface="+mn-lt"/>
                <a:ea typeface="+mn-ea"/>
                <a:cs typeface="+mn-cs"/>
              </a:rPr>
              <a:t>Layer 1:</a:t>
            </a:r>
            <a:r>
              <a:rPr lang="en-US" sz="1100" kern="1200">
                <a:solidFill>
                  <a:schemeClr val="tx1"/>
                </a:solidFill>
                <a:effectLst/>
                <a:latin typeface="+mn-lt"/>
                <a:ea typeface="+mn-ea"/>
                <a:cs typeface="+mn-cs"/>
              </a:rPr>
              <a:t> Initial Feature Embedding: Each qubit undergoes SU(2) parameterization via single-qubit rotations: </a:t>
            </a:r>
            <a:r>
              <a:rPr lang="en-US" sz="1100" kern="1200" err="1">
                <a:solidFill>
                  <a:schemeClr val="tx1"/>
                </a:solidFill>
                <a:effectLst/>
                <a:latin typeface="+mn-lt"/>
                <a:ea typeface="+mn-ea"/>
                <a:cs typeface="+mn-cs"/>
              </a:rPr>
              <a:t>Urefine</a:t>
            </a:r>
            <a:endParaRPr lang="en-US" sz="1100" kern="1200">
              <a:solidFill>
                <a:schemeClr val="tx1"/>
              </a:solidFill>
              <a:effectLst/>
              <a:latin typeface="+mn-lt"/>
              <a:ea typeface="+mn-ea"/>
              <a:cs typeface="+mn-cs"/>
            </a:endParaRPr>
          </a:p>
          <a:p>
            <a:r>
              <a:rPr lang="en-US" sz="1100" b="1" kern="1200">
                <a:solidFill>
                  <a:schemeClr val="tx1"/>
                </a:solidFill>
                <a:effectLst/>
                <a:latin typeface="+mn-lt"/>
                <a:ea typeface="+mn-ea"/>
                <a:cs typeface="+mn-cs"/>
              </a:rPr>
              <a:t>Layer 2</a:t>
            </a:r>
            <a:r>
              <a:rPr lang="en-US" sz="1100" kern="1200">
                <a:solidFill>
                  <a:schemeClr val="tx1"/>
                </a:solidFill>
                <a:effectLst/>
                <a:latin typeface="+mn-lt"/>
                <a:ea typeface="+mn-ea"/>
                <a:cs typeface="+mn-cs"/>
              </a:rPr>
              <a:t>: Entanglement and Intermediate Re-Uploading: Entanglement is introduced via CNOT and Toffoli gates. Hadamard gates create superposition, and controlled Ry gates reintroduce feature parameters conditionally: </a:t>
            </a:r>
            <a:r>
              <a:rPr lang="en-US" sz="1100" kern="1200" err="1">
                <a:solidFill>
                  <a:schemeClr val="tx1"/>
                </a:solidFill>
                <a:effectLst/>
                <a:latin typeface="+mn-lt"/>
                <a:ea typeface="+mn-ea"/>
                <a:cs typeface="+mn-cs"/>
              </a:rPr>
              <a:t>Uentangle</a:t>
            </a:r>
            <a:endParaRPr lang="en-US" sz="1100" kern="1200">
              <a:solidFill>
                <a:schemeClr val="tx1"/>
              </a:solidFill>
              <a:effectLst/>
              <a:latin typeface="+mn-lt"/>
              <a:ea typeface="+mn-ea"/>
              <a:cs typeface="+mn-cs"/>
            </a:endParaRPr>
          </a:p>
          <a:p>
            <a:r>
              <a:rPr lang="en-US" sz="1100" b="1" kern="1200">
                <a:solidFill>
                  <a:schemeClr val="tx1"/>
                </a:solidFill>
                <a:effectLst/>
                <a:latin typeface="+mn-lt"/>
                <a:ea typeface="+mn-ea"/>
                <a:cs typeface="+mn-cs"/>
              </a:rPr>
              <a:t>Layer 3:</a:t>
            </a:r>
            <a:r>
              <a:rPr lang="en-US" sz="1100" kern="1200">
                <a:solidFill>
                  <a:schemeClr val="tx1"/>
                </a:solidFill>
                <a:effectLst/>
                <a:latin typeface="+mn-lt"/>
                <a:ea typeface="+mn-ea"/>
                <a:cs typeface="+mn-cs"/>
              </a:rPr>
              <a:t> Final Feature Refinement and Re-Uploading A final round of Hadamard gates and single-qubit rotations re-encodes the data and prepares the quantum state for measurement: </a:t>
            </a:r>
            <a:r>
              <a:rPr lang="en-US" sz="1100" kern="1200" err="1">
                <a:solidFill>
                  <a:schemeClr val="tx1"/>
                </a:solidFill>
                <a:effectLst/>
                <a:latin typeface="+mn-lt"/>
                <a:ea typeface="+mn-ea"/>
                <a:cs typeface="+mn-cs"/>
              </a:rPr>
              <a:t>Uembed</a:t>
            </a:r>
            <a:endParaRPr lang="en-US" sz="110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51DC8717-AFBB-478A-9104-53E909600208}" type="slidenum">
              <a:rPr lang="en-US" smtClean="0"/>
              <a:pPr/>
              <a:t>15</a:t>
            </a:fld>
            <a:endParaRPr lang="en-US"/>
          </a:p>
        </p:txBody>
      </p:sp>
    </p:spTree>
    <p:extLst>
      <p:ext uri="{BB962C8B-B14F-4D97-AF65-F5344CB8AC3E}">
        <p14:creationId xmlns:p14="http://schemas.microsoft.com/office/powerpoint/2010/main" val="1577346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B4085-7310-A855-72CA-B0FF78D2EE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0AB85E-2A5A-55B2-4667-10B75FFCEE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7E6287-02D1-92B4-9A05-F1C97CAA2DE3}"/>
              </a:ext>
            </a:extLst>
          </p:cNvPr>
          <p:cNvSpPr>
            <a:spLocks noGrp="1"/>
          </p:cNvSpPr>
          <p:nvPr>
            <p:ph type="body" idx="1"/>
          </p:nvPr>
        </p:nvSpPr>
        <p:spPr/>
        <p:txBody>
          <a:bodyPr/>
          <a:lstStyle/>
          <a:p>
            <a:pPr rtl="0" eaLnBrk="1" fontAlgn="t" latinLnBrk="0" hangingPunct="1"/>
            <a:r>
              <a:rPr lang="en-US" sz="1000" b="1" i="0" u="none" strike="noStrike" kern="1200">
                <a:solidFill>
                  <a:schemeClr val="tx1"/>
                </a:solidFill>
                <a:effectLst/>
                <a:latin typeface="+mn-lt"/>
                <a:ea typeface="+mn-ea"/>
                <a:cs typeface="+mn-cs"/>
              </a:rPr>
              <a:t>Type Structure</a:t>
            </a:r>
            <a:r>
              <a:rPr lang="en-US" sz="1000" b="0" i="0" u="none" strike="noStrike" kern="1200">
                <a:solidFill>
                  <a:schemeClr val="tx1"/>
                </a:solidFill>
                <a:effectLst/>
                <a:latin typeface="+mn-lt"/>
                <a:ea typeface="+mn-ea"/>
                <a:cs typeface="+mn-cs"/>
              </a:rPr>
              <a:t>                            </a:t>
            </a:r>
            <a:r>
              <a:rPr lang="en-US" sz="1000" b="1" i="0" u="none" strike="noStrike" kern="1200">
                <a:solidFill>
                  <a:schemeClr val="tx1"/>
                </a:solidFill>
                <a:effectLst/>
                <a:latin typeface="+mn-lt"/>
                <a:ea typeface="+mn-ea"/>
                <a:cs typeface="+mn-cs"/>
              </a:rPr>
              <a:t>Basis</a:t>
            </a:r>
            <a:r>
              <a:rPr lang="en-US" sz="1000" b="0" i="0" u="none" strike="noStrike" kern="1200">
                <a:solidFill>
                  <a:schemeClr val="tx1"/>
                </a:solidFill>
                <a:effectLst/>
                <a:latin typeface="+mn-lt"/>
                <a:ea typeface="+mn-ea"/>
                <a:cs typeface="+mn-cs"/>
              </a:rPr>
              <a:t>   </a:t>
            </a:r>
            <a:r>
              <a:rPr lang="en-US" sz="1000" b="1" i="0" u="none" strike="noStrike" kern="1200">
                <a:solidFill>
                  <a:schemeClr val="tx1"/>
                </a:solidFill>
                <a:effectLst/>
                <a:latin typeface="+mn-lt"/>
                <a:ea typeface="+mn-ea"/>
                <a:cs typeface="+mn-cs"/>
              </a:rPr>
              <a:t>Expressivity</a:t>
            </a:r>
            <a:r>
              <a:rPr lang="en-US" sz="1000" b="0" i="0" u="none" strike="noStrike" kern="1200">
                <a:solidFill>
                  <a:schemeClr val="tx1"/>
                </a:solidFill>
                <a:effectLst/>
                <a:latin typeface="+mn-lt"/>
                <a:ea typeface="+mn-ea"/>
                <a:cs typeface="+mn-cs"/>
              </a:rPr>
              <a:t>  </a:t>
            </a:r>
            <a:r>
              <a:rPr lang="en-US" sz="1000" b="1" i="0" u="none" strike="noStrike" kern="1200">
                <a:solidFill>
                  <a:schemeClr val="tx1"/>
                </a:solidFill>
                <a:effectLst/>
                <a:latin typeface="+mn-lt"/>
                <a:ea typeface="+mn-ea"/>
                <a:cs typeface="+mn-cs"/>
              </a:rPr>
              <a:t>Use Case</a:t>
            </a:r>
            <a:endParaRPr lang="en-US" sz="1000" b="0" i="0" u="none" strike="noStrike" kern="1200">
              <a:solidFill>
                <a:schemeClr val="tx1"/>
              </a:solidFill>
              <a:effectLst/>
              <a:latin typeface="+mn-lt"/>
              <a:ea typeface="+mn-ea"/>
              <a:cs typeface="+mn-cs"/>
            </a:endParaRPr>
          </a:p>
          <a:p>
            <a:pPr rtl="0" eaLnBrk="1" fontAlgn="ctr" latinLnBrk="0" hangingPunct="1"/>
            <a:r>
              <a:rPr lang="en-US" sz="1000" b="0" i="0" u="none" strike="noStrike" kern="1200">
                <a:solidFill>
                  <a:schemeClr val="tx1"/>
                </a:solidFill>
                <a:effectLst/>
                <a:latin typeface="+mn-lt"/>
                <a:ea typeface="+mn-ea"/>
                <a:cs typeface="+mn-cs"/>
              </a:rPr>
              <a:t>1    Pure tensor product                 Z              Low         Benchmarking</a:t>
            </a:r>
          </a:p>
          <a:p>
            <a:pPr rtl="0" eaLnBrk="1" fontAlgn="ctr" latinLnBrk="0" hangingPunct="1"/>
            <a:r>
              <a:rPr lang="en-US" sz="1000" b="0" i="0" u="none" strike="noStrike" kern="1200">
                <a:solidFill>
                  <a:schemeClr val="tx1"/>
                </a:solidFill>
                <a:effectLst/>
                <a:latin typeface="+mn-lt"/>
                <a:ea typeface="+mn-ea"/>
                <a:cs typeface="+mn-cs"/>
              </a:rPr>
              <a:t>2    Mixed Pauli tensor products    X, Y, Z      Medium  Coherence, phase probing</a:t>
            </a:r>
          </a:p>
          <a:p>
            <a:pPr rtl="0" eaLnBrk="1" fontAlgn="ctr" latinLnBrk="0" hangingPunct="1"/>
            <a:r>
              <a:rPr lang="en-US" sz="1000" b="0" i="0" u="none" strike="noStrike" kern="1200">
                <a:solidFill>
                  <a:schemeClr val="tx1"/>
                </a:solidFill>
                <a:effectLst/>
                <a:latin typeface="+mn-lt"/>
                <a:ea typeface="+mn-ea"/>
                <a:cs typeface="+mn-cs"/>
              </a:rPr>
              <a:t>3    Weighted combination            Mostly Z  High        Cost function, QML observables</a:t>
            </a:r>
          </a:p>
          <a:p>
            <a:pPr rtl="0" eaLnBrk="1" fontAlgn="ctr" latinLnBrk="0" hangingPunct="1"/>
            <a:r>
              <a:rPr lang="en-US" sz="1000" b="0" i="0" u="none" strike="noStrike" kern="1200">
                <a:solidFill>
                  <a:schemeClr val="tx1"/>
                </a:solidFill>
                <a:effectLst/>
                <a:latin typeface="+mn-lt"/>
                <a:ea typeface="+mn-ea"/>
                <a:cs typeface="+mn-cs"/>
              </a:rPr>
              <a:t>4    Full basis mixing + weights      X, Y, Z     Maximal   Fault detection, image fusion</a:t>
            </a:r>
          </a:p>
          <a:p>
            <a:endParaRPr lang="en-US" sz="1000"/>
          </a:p>
          <a:p>
            <a:pPr rtl="0" eaLnBrk="1" fontAlgn="t" latinLnBrk="0" hangingPunct="1"/>
            <a:r>
              <a:rPr lang="en-US" sz="1000" b="1" i="0" u="none" strike="noStrike" kern="1200">
                <a:solidFill>
                  <a:schemeClr val="tx1"/>
                </a:solidFill>
                <a:effectLst/>
                <a:latin typeface="+mn-lt"/>
                <a:ea typeface="+mn-ea"/>
                <a:cs typeface="+mn-cs"/>
              </a:rPr>
              <a:t>Main Feature Component       Role in Fault Detection</a:t>
            </a:r>
            <a:endParaRPr lang="en-US" sz="1000" b="0" i="0" u="none" strike="noStrike" kern="1200">
              <a:solidFill>
                <a:schemeClr val="tx1"/>
              </a:solidFill>
              <a:effectLst/>
              <a:latin typeface="+mn-lt"/>
              <a:ea typeface="+mn-ea"/>
              <a:cs typeface="+mn-cs"/>
            </a:endParaRPr>
          </a:p>
          <a:p>
            <a:pPr rtl="0" eaLnBrk="1" fontAlgn="t" latinLnBrk="0" hangingPunct="1"/>
            <a:r>
              <a:rPr lang="en-US" sz="1000" b="0" i="0" u="none" strike="noStrike" kern="1200">
                <a:solidFill>
                  <a:schemeClr val="tx1"/>
                </a:solidFill>
                <a:effectLst/>
                <a:latin typeface="+mn-lt"/>
                <a:ea typeface="+mn-ea"/>
                <a:cs typeface="+mn-cs"/>
              </a:rPr>
              <a:t>Z</a:t>
            </a:r>
            <a:r>
              <a:rPr lang="en-US" sz="1000" b="0" i="0" u="none" strike="noStrike" kern="1200" baseline="30000">
                <a:solidFill>
                  <a:schemeClr val="tx1"/>
                </a:solidFill>
                <a:effectLst/>
                <a:latin typeface="+mn-lt"/>
                <a:ea typeface="+mn-ea"/>
                <a:cs typeface="+mn-cs"/>
              </a:rPr>
              <a:t>⊗6                                </a:t>
            </a:r>
            <a:r>
              <a:rPr lang="en-US" sz="1000" b="0" i="0" u="none" strike="noStrike" kern="1200">
                <a:solidFill>
                  <a:schemeClr val="tx1"/>
                </a:solidFill>
                <a:effectLst/>
                <a:latin typeface="+mn-lt"/>
                <a:ea typeface="+mn-ea"/>
                <a:cs typeface="+mn-cs"/>
              </a:rPr>
              <a:t>Captures baseline classical fault states across all qubits</a:t>
            </a:r>
          </a:p>
          <a:p>
            <a:pPr rtl="0" eaLnBrk="1" fontAlgn="t" latinLnBrk="0" hangingPunct="1"/>
            <a:r>
              <a:rPr lang="en-US" sz="1000" b="0" i="0" u="none" strike="noStrike" kern="1200">
                <a:solidFill>
                  <a:schemeClr val="tx1"/>
                </a:solidFill>
                <a:effectLst/>
                <a:latin typeface="+mn-lt"/>
                <a:ea typeface="+mn-ea"/>
                <a:cs typeface="+mn-cs"/>
              </a:rPr>
              <a:t>(X ⊗ Z)</a:t>
            </a:r>
            <a:r>
              <a:rPr lang="en-US" sz="1000" b="0" i="0" u="none" strike="noStrike" kern="1200" baseline="30000">
                <a:solidFill>
                  <a:schemeClr val="tx1"/>
                </a:solidFill>
                <a:effectLst/>
                <a:latin typeface="+mn-lt"/>
                <a:ea typeface="+mn-ea"/>
                <a:cs typeface="+mn-cs"/>
              </a:rPr>
              <a:t>⊗2                 </a:t>
            </a:r>
            <a:r>
              <a:rPr lang="en-US" sz="1000" b="0" i="0" u="none" strike="noStrike" kern="1200">
                <a:solidFill>
                  <a:schemeClr val="tx1"/>
                </a:solidFill>
                <a:effectLst/>
                <a:latin typeface="+mn-lt"/>
                <a:ea typeface="+mn-ea"/>
                <a:cs typeface="+mn-cs"/>
              </a:rPr>
              <a:t>Detects faults that disrupts superposition or causes phase flips</a:t>
            </a:r>
          </a:p>
          <a:p>
            <a:pPr rtl="0" eaLnBrk="1" fontAlgn="t" latinLnBrk="0" hangingPunct="1"/>
            <a:r>
              <a:rPr lang="en-US" sz="1000" b="0" i="0" u="none" strike="noStrike" kern="1200">
                <a:solidFill>
                  <a:schemeClr val="tx1"/>
                </a:solidFill>
                <a:effectLst/>
                <a:latin typeface="+mn-lt"/>
                <a:ea typeface="+mn-ea"/>
                <a:cs typeface="+mn-cs"/>
              </a:rPr>
              <a:t>(Y ⊗ Z ⊗ Z)</a:t>
            </a:r>
            <a:r>
              <a:rPr lang="en-US" sz="1000" b="0" i="0" u="none" strike="noStrike" kern="1200" baseline="30000">
                <a:solidFill>
                  <a:schemeClr val="tx1"/>
                </a:solidFill>
                <a:effectLst/>
                <a:latin typeface="+mn-lt"/>
                <a:ea typeface="+mn-ea"/>
                <a:cs typeface="+mn-cs"/>
              </a:rPr>
              <a:t>⊗2     </a:t>
            </a:r>
            <a:r>
              <a:rPr lang="en-US" sz="1000" b="0" i="0" u="none" strike="noStrike" kern="1200">
                <a:solidFill>
                  <a:schemeClr val="tx1"/>
                </a:solidFill>
                <a:effectLst/>
                <a:latin typeface="+mn-lt"/>
                <a:ea typeface="+mn-ea"/>
                <a:cs typeface="+mn-cs"/>
              </a:rPr>
              <a:t>Encodes complex, entangled fault patterns</a:t>
            </a:r>
          </a:p>
          <a:p>
            <a:pPr rtl="0" eaLnBrk="1" fontAlgn="t" latinLnBrk="0" hangingPunct="1"/>
            <a:r>
              <a:rPr lang="en-US" sz="1000" b="0" i="0" u="none" strike="noStrike" kern="1200">
                <a:solidFill>
                  <a:schemeClr val="tx1"/>
                </a:solidFill>
                <a:effectLst/>
                <a:latin typeface="+mn-lt"/>
                <a:ea typeface="+mn-ea"/>
                <a:cs typeface="+mn-cs"/>
              </a:rPr>
              <a:t>Coefficients       Allows tuning sensitivity to different fault types during training</a:t>
            </a:r>
          </a:p>
          <a:p>
            <a:endParaRPr lang="en-US" sz="1000"/>
          </a:p>
          <a:p>
            <a:r>
              <a:rPr lang="en-US" sz="1000"/>
              <a:t>The observable includes:</a:t>
            </a:r>
          </a:p>
          <a:p>
            <a:pPr lvl="1"/>
            <a:r>
              <a:rPr lang="en-US" sz="1000"/>
              <a:t>Z-axis terms: Classical fault signatures (e.g., voltage drops, binary sensor states).</a:t>
            </a:r>
          </a:p>
          <a:p>
            <a:pPr lvl="1"/>
            <a:r>
              <a:rPr lang="en-US" sz="1000"/>
              <a:t>X-axis terms: Superposition-sensitive anomalies (e.g., coherence loss, interference).</a:t>
            </a:r>
          </a:p>
          <a:p>
            <a:pPr lvl="1"/>
            <a:r>
              <a:rPr lang="en-US" sz="1000"/>
              <a:t>Y-axis terms: Phase-sensitive faults (e.g., timing drift, polarization shifts).</a:t>
            </a:r>
          </a:p>
          <a:p>
            <a:pPr lvl="1"/>
            <a:r>
              <a:rPr lang="en-US" sz="1000"/>
              <a:t>Weighted combinations: Tunable emphasis on different fault modalities.</a:t>
            </a:r>
          </a:p>
          <a:p>
            <a:endParaRPr lang="en-US" sz="1000"/>
          </a:p>
          <a:p>
            <a:pPr>
              <a:buNone/>
            </a:pPr>
            <a:r>
              <a:rPr lang="en-US" sz="1000"/>
              <a:t>The hypothesis for PV fault classification models, this observable:</a:t>
            </a:r>
          </a:p>
          <a:p>
            <a:pPr marL="742950" lvl="1" indent="-285750">
              <a:buFont typeface="Arial" panose="020B0604020202020204" pitchFamily="34" charset="0"/>
              <a:buChar char="•"/>
            </a:pPr>
            <a:r>
              <a:rPr lang="en-US" sz="1000"/>
              <a:t>Enhances detection of nonlinear, entangled fault signatures.</a:t>
            </a:r>
          </a:p>
          <a:p>
            <a:pPr marL="742950" lvl="1" indent="-285750">
              <a:buFont typeface="Arial" panose="020B0604020202020204" pitchFamily="34" charset="0"/>
              <a:buChar char="•"/>
            </a:pPr>
            <a:r>
              <a:rPr lang="en-US" sz="1000"/>
              <a:t>Improves robustness against noise and decoherence.</a:t>
            </a:r>
          </a:p>
          <a:p>
            <a:pPr marL="742950" lvl="1" indent="-285750">
              <a:buFont typeface="Arial" panose="020B0604020202020204" pitchFamily="34" charset="0"/>
              <a:buChar char="•"/>
            </a:pPr>
            <a:r>
              <a:rPr lang="en-US" sz="1000"/>
              <a:t>Supports multi-modal feature fusion.</a:t>
            </a:r>
          </a:p>
          <a:p>
            <a:endParaRPr lang="en-US" sz="1100"/>
          </a:p>
        </p:txBody>
      </p:sp>
      <p:sp>
        <p:nvSpPr>
          <p:cNvPr id="4" name="Slide Number Placeholder 3">
            <a:extLst>
              <a:ext uri="{FF2B5EF4-FFF2-40B4-BE49-F238E27FC236}">
                <a16:creationId xmlns:a16="http://schemas.microsoft.com/office/drawing/2014/main" id="{E8D25637-43DC-5BFB-2E08-CD42D0630CC3}"/>
              </a:ext>
            </a:extLst>
          </p:cNvPr>
          <p:cNvSpPr>
            <a:spLocks noGrp="1"/>
          </p:cNvSpPr>
          <p:nvPr>
            <p:ph type="sldNum" sz="quarter" idx="5"/>
          </p:nvPr>
        </p:nvSpPr>
        <p:spPr/>
        <p:txBody>
          <a:bodyPr/>
          <a:lstStyle/>
          <a:p>
            <a:fld id="{51DC8717-AFBB-478A-9104-53E909600208}" type="slidenum">
              <a:rPr lang="en-US" smtClean="0"/>
              <a:pPr/>
              <a:t>16</a:t>
            </a:fld>
            <a:endParaRPr lang="en-US"/>
          </a:p>
        </p:txBody>
      </p:sp>
    </p:spTree>
    <p:extLst>
      <p:ext uri="{BB962C8B-B14F-4D97-AF65-F5344CB8AC3E}">
        <p14:creationId xmlns:p14="http://schemas.microsoft.com/office/powerpoint/2010/main" val="32843271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1DC8717-AFBB-478A-9104-53E909600208}" type="slidenum">
              <a:rPr lang="en-US" smtClean="0"/>
              <a:pPr/>
              <a:t>17</a:t>
            </a:fld>
            <a:endParaRPr lang="en-US"/>
          </a:p>
        </p:txBody>
      </p:sp>
    </p:spTree>
    <p:extLst>
      <p:ext uri="{BB962C8B-B14F-4D97-AF65-F5344CB8AC3E}">
        <p14:creationId xmlns:p14="http://schemas.microsoft.com/office/powerpoint/2010/main" val="24846735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Training was not possible on the hardware due to access. The weights from the simulator were used to create the final circuit. This circuit was loaded with the PV data and testing results were taken.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The quantum hardware used for this validation was a Heron-based quantum processor, which features over 120 qubits. For the evaluation, we loaded the optimized weights from our simulation and ran the circuit for 1,024 shots for each of the observables.</a:t>
            </a:r>
          </a:p>
          <a:p>
            <a:endParaRPr lang="en-US"/>
          </a:p>
        </p:txBody>
      </p:sp>
      <p:sp>
        <p:nvSpPr>
          <p:cNvPr id="4" name="Slide Number Placeholder 3"/>
          <p:cNvSpPr>
            <a:spLocks noGrp="1"/>
          </p:cNvSpPr>
          <p:nvPr>
            <p:ph type="sldNum" sz="quarter" idx="5"/>
          </p:nvPr>
        </p:nvSpPr>
        <p:spPr/>
        <p:txBody>
          <a:bodyPr/>
          <a:lstStyle/>
          <a:p>
            <a:fld id="{51DC8717-AFBB-478A-9104-53E909600208}" type="slidenum">
              <a:rPr lang="en-US" smtClean="0"/>
              <a:pPr/>
              <a:t>18</a:t>
            </a:fld>
            <a:endParaRPr lang="en-US"/>
          </a:p>
        </p:txBody>
      </p:sp>
    </p:spTree>
    <p:extLst>
      <p:ext uri="{BB962C8B-B14F-4D97-AF65-F5344CB8AC3E}">
        <p14:creationId xmlns:p14="http://schemas.microsoft.com/office/powerpoint/2010/main" val="29351503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While these findings are strongly tied to the specific structure of the PV dataset, they highlight a broader principle. Our algorithm applied on other datasets with proper encoding will be interesting. The strategy of leveraging higher-dimensional feature interactions through Toffoli-type gates will stay a powerful design approach for parameterized quantum circuits.</a:t>
            </a:r>
          </a:p>
          <a:p>
            <a:endParaRPr lang="en-US"/>
          </a:p>
        </p:txBody>
      </p:sp>
      <p:sp>
        <p:nvSpPr>
          <p:cNvPr id="4" name="Slide Number Placeholder 3"/>
          <p:cNvSpPr>
            <a:spLocks noGrp="1"/>
          </p:cNvSpPr>
          <p:nvPr>
            <p:ph type="sldNum" sz="quarter" idx="5"/>
          </p:nvPr>
        </p:nvSpPr>
        <p:spPr/>
        <p:txBody>
          <a:bodyPr/>
          <a:lstStyle/>
          <a:p>
            <a:fld id="{51DC8717-AFBB-478A-9104-53E909600208}" type="slidenum">
              <a:rPr lang="en-US" smtClean="0"/>
              <a:pPr/>
              <a:t>19</a:t>
            </a:fld>
            <a:endParaRPr lang="en-US"/>
          </a:p>
        </p:txBody>
      </p:sp>
    </p:spTree>
    <p:extLst>
      <p:ext uri="{BB962C8B-B14F-4D97-AF65-F5344CB8AC3E}">
        <p14:creationId xmlns:p14="http://schemas.microsoft.com/office/powerpoint/2010/main" val="25807029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This hybrid methodology leverages the representational power of quantum encodings—specifically, the ability to utilize exponentially large Hilbert spaces—without necessitating a fully parameterized quantum classifier. </a:t>
            </a:r>
          </a:p>
          <a:p>
            <a:endParaRPr lang="en-US"/>
          </a:p>
        </p:txBody>
      </p:sp>
      <p:sp>
        <p:nvSpPr>
          <p:cNvPr id="4" name="Slide Number Placeholder 3"/>
          <p:cNvSpPr>
            <a:spLocks noGrp="1"/>
          </p:cNvSpPr>
          <p:nvPr>
            <p:ph type="sldNum" sz="quarter" idx="5"/>
          </p:nvPr>
        </p:nvSpPr>
        <p:spPr/>
        <p:txBody>
          <a:bodyPr/>
          <a:lstStyle/>
          <a:p>
            <a:fld id="{51DC8717-AFBB-478A-9104-53E909600208}" type="slidenum">
              <a:rPr lang="en-US" smtClean="0"/>
              <a:pPr/>
              <a:t>20</a:t>
            </a:fld>
            <a:endParaRPr lang="en-US"/>
          </a:p>
        </p:txBody>
      </p:sp>
    </p:spTree>
    <p:extLst>
      <p:ext uri="{BB962C8B-B14F-4D97-AF65-F5344CB8AC3E}">
        <p14:creationId xmlns:p14="http://schemas.microsoft.com/office/powerpoint/2010/main" val="7541556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These constraints restrict circuit depth, reduce the number of reliable shots, and ultimately cap model complexity and scalability. Despite these limitations, this dissertation demonstrates how carefully engineered quantum circuits, paired with classical preprocessing and post-selection, can yield performance across a range of signal processing tasks. </a:t>
            </a:r>
          </a:p>
          <a:p>
            <a:r>
              <a:rPr lang="en-US" sz="1200" kern="1200">
                <a:solidFill>
                  <a:schemeClr val="tx1"/>
                </a:solidFill>
                <a:effectLst/>
                <a:latin typeface="+mn-lt"/>
                <a:ea typeface="+mn-ea"/>
                <a:cs typeface="+mn-cs"/>
              </a:rPr>
              <a:t>Beginning with PV fault detection, the work expands into broader domains including image processing, audio classification, and linear prediction. Each application leverages quantum circuits, entangled observables, and data re-uploading strategies to extract meaningful features from high-dimensional inputs.</a:t>
            </a:r>
          </a:p>
          <a:p>
            <a:r>
              <a:rPr lang="en-US" sz="1200" kern="1200">
                <a:solidFill>
                  <a:schemeClr val="tx1"/>
                </a:solidFill>
                <a:effectLst/>
                <a:latin typeface="+mn-lt"/>
                <a:ea typeface="+mn-ea"/>
                <a:cs typeface="+mn-cs"/>
              </a:rPr>
              <a:t>Notably, the introduction of </a:t>
            </a:r>
            <a:r>
              <a:rPr lang="en-US" sz="1200" kern="1200" err="1">
                <a:solidFill>
                  <a:schemeClr val="tx1"/>
                </a:solidFill>
                <a:effectLst/>
                <a:latin typeface="+mn-lt"/>
                <a:ea typeface="+mn-ea"/>
                <a:cs typeface="+mn-cs"/>
              </a:rPr>
              <a:t>homophoric</a:t>
            </a:r>
            <a:r>
              <a:rPr lang="en-US" sz="1200" kern="1200">
                <a:solidFill>
                  <a:schemeClr val="tx1"/>
                </a:solidFill>
                <a:effectLst/>
                <a:latin typeface="+mn-lt"/>
                <a:ea typeface="+mn-ea"/>
                <a:cs typeface="+mn-cs"/>
              </a:rPr>
              <a:t> quantum algorithms, designed to preserve structural symmetries while enhancing expressivity, marks a significant advancement in the design of interpretable quantum models. </a:t>
            </a:r>
          </a:p>
          <a:p>
            <a:r>
              <a:rPr lang="en-US" sz="1200" kern="1200">
                <a:solidFill>
                  <a:schemeClr val="tx1"/>
                </a:solidFill>
                <a:effectLst/>
                <a:latin typeface="+mn-lt"/>
                <a:ea typeface="+mn-ea"/>
                <a:cs typeface="+mn-cs"/>
              </a:rPr>
              <a:t>These algorithms enable the encoding of domain-specific priors directly into quantum observables, facilitating improved generalization and reduced training overhead.</a:t>
            </a:r>
          </a:p>
          <a:p>
            <a:r>
              <a:rPr lang="en-US" sz="1200" kern="1200">
                <a:solidFill>
                  <a:schemeClr val="tx1"/>
                </a:solidFill>
                <a:effectLst/>
                <a:latin typeface="+mn-lt"/>
                <a:ea typeface="+mn-ea"/>
                <a:cs typeface="+mn-cs"/>
              </a:rPr>
              <a:t>By integrating Toffoli-based entanglement pruning and multi-axis measurement strategies, this work contributes a scalable framework for quantum-enhanced signal analysis. The results highlight the potential of quantum machine learning to surpass fault detection and tackle complex inference tasks across multiple modalities.</a:t>
            </a:r>
          </a:p>
          <a:p>
            <a:endParaRPr lang="en-US"/>
          </a:p>
        </p:txBody>
      </p:sp>
      <p:sp>
        <p:nvSpPr>
          <p:cNvPr id="4" name="Slide Number Placeholder 3"/>
          <p:cNvSpPr>
            <a:spLocks noGrp="1"/>
          </p:cNvSpPr>
          <p:nvPr>
            <p:ph type="sldNum" sz="quarter" idx="5"/>
          </p:nvPr>
        </p:nvSpPr>
        <p:spPr/>
        <p:txBody>
          <a:bodyPr/>
          <a:lstStyle/>
          <a:p>
            <a:fld id="{51DC8717-AFBB-478A-9104-53E909600208}" type="slidenum">
              <a:rPr lang="en-US" smtClean="0"/>
              <a:pPr/>
              <a:t>21</a:t>
            </a:fld>
            <a:endParaRPr lang="en-US"/>
          </a:p>
        </p:txBody>
      </p:sp>
    </p:spTree>
    <p:extLst>
      <p:ext uri="{BB962C8B-B14F-4D97-AF65-F5344CB8AC3E}">
        <p14:creationId xmlns:p14="http://schemas.microsoft.com/office/powerpoint/2010/main" val="6150777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This work proposes a reusable design template for QNN development, starting with encoding schemes that align with the statistical structure of the dataset (e.g., X–ZZ rotations for correlated data), and then enriching the Ansatz with gates that naturally introduce higher-order feature interactions (e.g., Toffoli gates). </a:t>
            </a:r>
          </a:p>
          <a:p>
            <a:r>
              <a:rPr lang="en-US" sz="1200" kern="1200">
                <a:solidFill>
                  <a:schemeClr val="tx1"/>
                </a:solidFill>
                <a:effectLst/>
                <a:latin typeface="+mn-lt"/>
                <a:ea typeface="+mn-ea"/>
                <a:cs typeface="+mn-cs"/>
              </a:rPr>
              <a:t>This two-step strategy, data-informed encoding followed by structured correlation extraction, offers a principled way to construct PQCs that are not only tailored to specific datasets but also adaptable across application domains where nonlinear feature entanglement is a core challenge.</a:t>
            </a:r>
          </a:p>
          <a:p>
            <a:r>
              <a:rPr lang="en-US" sz="1200" kern="1200">
                <a:solidFill>
                  <a:schemeClr val="tx1"/>
                </a:solidFill>
                <a:effectLst/>
                <a:latin typeface="+mn-lt"/>
                <a:ea typeface="+mn-ea"/>
                <a:cs typeface="+mn-cs"/>
              </a:rPr>
              <a:t>We advance the field of QML by developing novel algorithms, circuit designs, and system-level frameworks tailored for real-world applications, including PV fault detection, audio and image processing, and secure distributed learning. </a:t>
            </a:r>
          </a:p>
          <a:p>
            <a:r>
              <a:rPr lang="en-US" sz="1200" kern="1200">
                <a:solidFill>
                  <a:schemeClr val="tx1"/>
                </a:solidFill>
                <a:effectLst/>
                <a:latin typeface="+mn-lt"/>
                <a:ea typeface="+mn-ea"/>
                <a:cs typeface="+mn-cs"/>
              </a:rPr>
              <a:t>The contributions combine theoretical innovation with practical implementation, bridging the gap between quantum computing algorithm design, feature encoding strategies, and privacy-preserving computation. </a:t>
            </a:r>
          </a:p>
          <a:p>
            <a:endParaRPr lang="en-US" sz="1200"/>
          </a:p>
          <a:p>
            <a:endParaRPr lang="en-US"/>
          </a:p>
        </p:txBody>
      </p:sp>
      <p:sp>
        <p:nvSpPr>
          <p:cNvPr id="4" name="Slide Number Placeholder 3"/>
          <p:cNvSpPr>
            <a:spLocks noGrp="1"/>
          </p:cNvSpPr>
          <p:nvPr>
            <p:ph type="sldNum" sz="quarter" idx="5"/>
          </p:nvPr>
        </p:nvSpPr>
        <p:spPr/>
        <p:txBody>
          <a:bodyPr/>
          <a:lstStyle/>
          <a:p>
            <a:fld id="{51DC8717-AFBB-478A-9104-53E909600208}" type="slidenum">
              <a:rPr lang="en-US" smtClean="0"/>
              <a:pPr/>
              <a:t>22</a:t>
            </a:fld>
            <a:endParaRPr lang="en-US"/>
          </a:p>
        </p:txBody>
      </p:sp>
    </p:spTree>
    <p:extLst>
      <p:ext uri="{BB962C8B-B14F-4D97-AF65-F5344CB8AC3E}">
        <p14:creationId xmlns:p14="http://schemas.microsoft.com/office/powerpoint/2010/main" val="9364673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F1CFE554-CDC1-4383-AC12-7F38CC1BDED2}"/>
              </a:ext>
            </a:extLst>
          </p:cNvPr>
          <p:cNvSpPr>
            <a:spLocks noGrp="1" noChangeArrowheads="1"/>
          </p:cNvSpPr>
          <p:nvPr>
            <p:ph type="ctrTitle"/>
          </p:nvPr>
        </p:nvSpPr>
        <p:spPr>
          <a:xfrm>
            <a:off x="914400" y="2130426"/>
            <a:ext cx="10363200" cy="1470025"/>
          </a:xfrm>
        </p:spPr>
        <p:txBody>
          <a:bodyPr/>
          <a:lstStyle>
            <a:lvl1pPr>
              <a:defRPr/>
            </a:lvl1pPr>
          </a:lstStyle>
          <a:p>
            <a:pPr lvl="0"/>
            <a:r>
              <a:rPr lang="en-US" altLang="en-US" noProof="0"/>
              <a:t>Click to edit Master title style</a:t>
            </a:r>
          </a:p>
        </p:txBody>
      </p:sp>
      <p:sp>
        <p:nvSpPr>
          <p:cNvPr id="3075" name="Rectangle 3">
            <a:extLst>
              <a:ext uri="{FF2B5EF4-FFF2-40B4-BE49-F238E27FC236}">
                <a16:creationId xmlns:a16="http://schemas.microsoft.com/office/drawing/2014/main" id="{E3524EC0-5945-42D5-8350-02FDF77A5164}"/>
              </a:ext>
            </a:extLst>
          </p:cNvPr>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altLang="en-US" noProof="0"/>
              <a:t>Click to edit Master subtitle style</a:t>
            </a:r>
          </a:p>
        </p:txBody>
      </p:sp>
    </p:spTree>
    <p:extLst>
      <p:ext uri="{BB962C8B-B14F-4D97-AF65-F5344CB8AC3E}">
        <p14:creationId xmlns:p14="http://schemas.microsoft.com/office/powerpoint/2010/main" val="3109596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B17CE-538A-4519-B603-5BB63894E18A}"/>
              </a:ext>
            </a:extLst>
          </p:cNvPr>
          <p:cNvSpPr>
            <a:spLocks noGrp="1"/>
          </p:cNvSpPr>
          <p:nvPr>
            <p:ph type="title"/>
          </p:nvPr>
        </p:nvSpPr>
        <p:spPr>
          <a:xfrm>
            <a:off x="0" y="-12944"/>
            <a:ext cx="10972800" cy="914400"/>
          </a:xfrm>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Content Placeholder 2">
            <a:extLst>
              <a:ext uri="{FF2B5EF4-FFF2-40B4-BE49-F238E27FC236}">
                <a16:creationId xmlns:a16="http://schemas.microsoft.com/office/drawing/2014/main" id="{AC3D2459-4952-4430-B22C-9AA8B3CDB4C1}"/>
              </a:ext>
            </a:extLst>
          </p:cNvPr>
          <p:cNvSpPr>
            <a:spLocks noGrp="1"/>
          </p:cNvSpPr>
          <p:nvPr>
            <p:ph idx="1"/>
          </p:nvPr>
        </p:nvSpPr>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9F91F9B0-E4B0-4082-BA01-4A2433130BAE}"/>
              </a:ext>
            </a:extLst>
          </p:cNvPr>
          <p:cNvSpPr>
            <a:spLocks noGrp="1"/>
          </p:cNvSpPr>
          <p:nvPr>
            <p:ph type="ftr" sz="quarter" idx="10"/>
          </p:nvPr>
        </p:nvSpPr>
        <p:spPr>
          <a:xfrm>
            <a:off x="4368800" y="6245225"/>
            <a:ext cx="5392145" cy="476250"/>
          </a:xfrm>
          <a:prstGeom prst="rect">
            <a:avLst/>
          </a:prstGeom>
        </p:spPr>
        <p:txBody>
          <a:bodyPr/>
          <a:lstStyle>
            <a:lvl1pPr>
              <a:defRPr/>
            </a:lvl1pPr>
          </a:lstStyle>
          <a:p>
            <a:fld id="{9FDCE369-CE34-4554-8CA9-B159804E9F44}" type="slidenum">
              <a:rPr lang="en-US" altLang="en-US" smtClean="0"/>
              <a:pPr/>
              <a:t>‹#›</a:t>
            </a:fld>
            <a:endParaRPr lang="en-US" altLang="en-US"/>
          </a:p>
        </p:txBody>
      </p:sp>
    </p:spTree>
    <p:extLst>
      <p:ext uri="{BB962C8B-B14F-4D97-AF65-F5344CB8AC3E}">
        <p14:creationId xmlns:p14="http://schemas.microsoft.com/office/powerpoint/2010/main" val="1256901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D014F-F4AF-4B31-B5A4-421D5673AD04}"/>
              </a:ext>
            </a:extLst>
          </p:cNvPr>
          <p:cNvSpPr>
            <a:spLocks noGrp="1"/>
          </p:cNvSpPr>
          <p:nvPr>
            <p:ph type="title"/>
          </p:nvPr>
        </p:nvSpPr>
        <p:spPr>
          <a:xfrm>
            <a:off x="831851" y="1709739"/>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003A378-26F4-484B-B577-67072B86F3E0}"/>
              </a:ext>
            </a:extLst>
          </p:cNvPr>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Footer Placeholder 3">
            <a:extLst>
              <a:ext uri="{FF2B5EF4-FFF2-40B4-BE49-F238E27FC236}">
                <a16:creationId xmlns:a16="http://schemas.microsoft.com/office/drawing/2014/main" id="{AF9782AF-FBE4-483D-B1EE-1179FBE67D04}"/>
              </a:ext>
            </a:extLst>
          </p:cNvPr>
          <p:cNvSpPr>
            <a:spLocks noGrp="1"/>
          </p:cNvSpPr>
          <p:nvPr>
            <p:ph type="ftr" sz="quarter" idx="10"/>
          </p:nvPr>
        </p:nvSpPr>
        <p:spPr>
          <a:xfrm>
            <a:off x="4368800" y="6245225"/>
            <a:ext cx="5392145" cy="476250"/>
          </a:xfrm>
          <a:prstGeom prst="rect">
            <a:avLst/>
          </a:prstGeom>
        </p:spPr>
        <p:txBody>
          <a:bodyPr/>
          <a:lstStyle>
            <a:lvl1pPr>
              <a:defRPr/>
            </a:lvl1pPr>
          </a:lstStyle>
          <a:p>
            <a:fld id="{659EB4A9-368D-4D0B-A311-713AE5377A31}" type="slidenum">
              <a:rPr lang="en-US" altLang="en-US" smtClean="0"/>
              <a:pPr/>
              <a:t>‹#›</a:t>
            </a:fld>
            <a:endParaRPr lang="en-US" altLang="en-US"/>
          </a:p>
        </p:txBody>
      </p:sp>
    </p:spTree>
    <p:extLst>
      <p:ext uri="{BB962C8B-B14F-4D97-AF65-F5344CB8AC3E}">
        <p14:creationId xmlns:p14="http://schemas.microsoft.com/office/powerpoint/2010/main" val="29087869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B61A1-FAE1-4619-B13A-4559B1B16ACB}"/>
              </a:ext>
            </a:extLst>
          </p:cNvPr>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Content Placeholder 2">
            <a:extLst>
              <a:ext uri="{FF2B5EF4-FFF2-40B4-BE49-F238E27FC236}">
                <a16:creationId xmlns:a16="http://schemas.microsoft.com/office/drawing/2014/main" id="{2847E8EC-E47D-428E-8A60-700BF6F52116}"/>
              </a:ext>
            </a:extLst>
          </p:cNvPr>
          <p:cNvSpPr>
            <a:spLocks noGrp="1"/>
          </p:cNvSpPr>
          <p:nvPr>
            <p:ph sz="half" idx="1"/>
          </p:nvPr>
        </p:nvSpPr>
        <p:spPr>
          <a:xfrm>
            <a:off x="609600" y="2286000"/>
            <a:ext cx="5384800" cy="3733800"/>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CA74A13-7570-4A49-B7B8-90EEEC95816B}"/>
              </a:ext>
            </a:extLst>
          </p:cNvPr>
          <p:cNvSpPr>
            <a:spLocks noGrp="1"/>
          </p:cNvSpPr>
          <p:nvPr>
            <p:ph sz="half" idx="2"/>
          </p:nvPr>
        </p:nvSpPr>
        <p:spPr>
          <a:xfrm>
            <a:off x="6197600" y="2286000"/>
            <a:ext cx="5384800" cy="3733800"/>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EE6658F-E142-4838-9AB0-8F69D7A938AC}"/>
              </a:ext>
            </a:extLst>
          </p:cNvPr>
          <p:cNvSpPr>
            <a:spLocks noGrp="1"/>
          </p:cNvSpPr>
          <p:nvPr>
            <p:ph type="ftr" sz="quarter" idx="10"/>
          </p:nvPr>
        </p:nvSpPr>
        <p:spPr>
          <a:xfrm>
            <a:off x="4368800" y="6245225"/>
            <a:ext cx="5392145" cy="476250"/>
          </a:xfrm>
          <a:prstGeom prst="rect">
            <a:avLst/>
          </a:prstGeom>
        </p:spPr>
        <p:txBody>
          <a:bodyPr/>
          <a:lstStyle>
            <a:lvl1pPr>
              <a:defRPr/>
            </a:lvl1pPr>
          </a:lstStyle>
          <a:p>
            <a:endParaRPr lang="en-US" altLang="en-US"/>
          </a:p>
        </p:txBody>
      </p:sp>
    </p:spTree>
    <p:extLst>
      <p:ext uri="{BB962C8B-B14F-4D97-AF65-F5344CB8AC3E}">
        <p14:creationId xmlns:p14="http://schemas.microsoft.com/office/powerpoint/2010/main" val="10716972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DC78D-FEF6-410D-92A3-6BA2C30DDD67}"/>
              </a:ext>
            </a:extLst>
          </p:cNvPr>
          <p:cNvSpPr>
            <a:spLocks noGrp="1"/>
          </p:cNvSpPr>
          <p:nvPr>
            <p:ph type="title"/>
          </p:nvPr>
        </p:nvSpPr>
        <p:spPr>
          <a:xfrm>
            <a:off x="840317" y="365126"/>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FAAED0-CF57-486C-8AE8-4C582F705FD4}"/>
              </a:ext>
            </a:extLst>
          </p:cNvPr>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AD87FF-9F78-49B4-AD87-4E2BA32399D8}"/>
              </a:ext>
            </a:extLst>
          </p:cNvPr>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49C8B26-1103-441B-9FD9-D5925BA7F6C4}"/>
              </a:ext>
            </a:extLst>
          </p:cNvPr>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9ED759B-85AE-4F41-8A22-7FADDAE2E23F}"/>
              </a:ext>
            </a:extLst>
          </p:cNvPr>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C29880BC-3847-4169-BBE9-DD88FE60F345}"/>
              </a:ext>
            </a:extLst>
          </p:cNvPr>
          <p:cNvSpPr>
            <a:spLocks noGrp="1"/>
          </p:cNvSpPr>
          <p:nvPr>
            <p:ph type="ftr" sz="quarter" idx="10"/>
          </p:nvPr>
        </p:nvSpPr>
        <p:spPr>
          <a:xfrm>
            <a:off x="4368800" y="6245225"/>
            <a:ext cx="5392145" cy="476250"/>
          </a:xfrm>
          <a:prstGeom prst="rect">
            <a:avLst/>
          </a:prstGeom>
        </p:spPr>
        <p:txBody>
          <a:bodyPr/>
          <a:lstStyle>
            <a:lvl1pPr>
              <a:defRPr/>
            </a:lvl1pPr>
          </a:lstStyle>
          <a:p>
            <a:fld id="{31994EE5-E66D-4D7E-B616-A038BAA2E1A5}" type="slidenum">
              <a:rPr lang="en-US" altLang="en-US" smtClean="0"/>
              <a:pPr/>
              <a:t>‹#›</a:t>
            </a:fld>
            <a:endParaRPr lang="en-US" altLang="en-US"/>
          </a:p>
        </p:txBody>
      </p:sp>
      <p:sp>
        <p:nvSpPr>
          <p:cNvPr id="8" name="TextBox 7">
            <a:extLst>
              <a:ext uri="{FF2B5EF4-FFF2-40B4-BE49-F238E27FC236}">
                <a16:creationId xmlns:a16="http://schemas.microsoft.com/office/drawing/2014/main" id="{7FB252A6-88CA-4946-9379-AD01EBF97000}"/>
              </a:ext>
            </a:extLst>
          </p:cNvPr>
          <p:cNvSpPr txBox="1"/>
          <p:nvPr userDrawn="1"/>
        </p:nvSpPr>
        <p:spPr>
          <a:xfrm>
            <a:off x="11579469" y="6352143"/>
            <a:ext cx="466794" cy="369332"/>
          </a:xfrm>
          <a:prstGeom prst="rect">
            <a:avLst/>
          </a:prstGeom>
          <a:noFill/>
        </p:spPr>
        <p:txBody>
          <a:bodyPr wrap="none" rtlCol="0">
            <a:spAutoFit/>
          </a:bodyPr>
          <a:lstStyle/>
          <a:p>
            <a:fld id="{3CCE9E80-CB49-4B8C-B4F8-5238CB8DE56A}" type="slidenum">
              <a:rPr lang="en-US" smtClean="0"/>
              <a:t>‹#›</a:t>
            </a:fld>
            <a:endParaRPr lang="en-US"/>
          </a:p>
        </p:txBody>
      </p:sp>
    </p:spTree>
    <p:extLst>
      <p:ext uri="{BB962C8B-B14F-4D97-AF65-F5344CB8AC3E}">
        <p14:creationId xmlns:p14="http://schemas.microsoft.com/office/powerpoint/2010/main" val="2762686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A8975-F5F8-45FD-9161-B037BFFD2202}"/>
              </a:ext>
            </a:extLst>
          </p:cNvPr>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Footer Placeholder 2">
            <a:extLst>
              <a:ext uri="{FF2B5EF4-FFF2-40B4-BE49-F238E27FC236}">
                <a16:creationId xmlns:a16="http://schemas.microsoft.com/office/drawing/2014/main" id="{50EBC1CD-A167-4063-8DAF-1295DCBB1BE6}"/>
              </a:ext>
            </a:extLst>
          </p:cNvPr>
          <p:cNvSpPr>
            <a:spLocks noGrp="1"/>
          </p:cNvSpPr>
          <p:nvPr>
            <p:ph type="ftr" sz="quarter" idx="10"/>
          </p:nvPr>
        </p:nvSpPr>
        <p:spPr>
          <a:xfrm>
            <a:off x="4368800" y="6245225"/>
            <a:ext cx="5392145" cy="476250"/>
          </a:xfrm>
          <a:prstGeom prst="rect">
            <a:avLst/>
          </a:prstGeom>
        </p:spPr>
        <p:txBody>
          <a:bodyPr/>
          <a:lstStyle>
            <a:lvl1pPr>
              <a:defRPr/>
            </a:lvl1pPr>
          </a:lstStyle>
          <a:p>
            <a:fld id="{7A65FFD2-C858-480C-907B-635158DAF475}" type="slidenum">
              <a:rPr lang="en-US" altLang="en-US" smtClean="0"/>
              <a:pPr/>
              <a:t>‹#›</a:t>
            </a:fld>
            <a:endParaRPr lang="en-US" altLang="en-US"/>
          </a:p>
        </p:txBody>
      </p:sp>
    </p:spTree>
    <p:extLst>
      <p:ext uri="{BB962C8B-B14F-4D97-AF65-F5344CB8AC3E}">
        <p14:creationId xmlns:p14="http://schemas.microsoft.com/office/powerpoint/2010/main" val="28532084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D7BB3AB-02E5-4B99-ADF4-49720343520F}"/>
              </a:ext>
            </a:extLst>
          </p:cNvPr>
          <p:cNvSpPr>
            <a:spLocks noGrp="1"/>
          </p:cNvSpPr>
          <p:nvPr>
            <p:ph type="ftr" sz="quarter" idx="10"/>
          </p:nvPr>
        </p:nvSpPr>
        <p:spPr>
          <a:xfrm>
            <a:off x="4368800" y="6245225"/>
            <a:ext cx="5392145" cy="476250"/>
          </a:xfrm>
          <a:prstGeom prst="rect">
            <a:avLst/>
          </a:prstGeom>
        </p:spPr>
        <p:txBody>
          <a:bodyPr/>
          <a:lstStyle>
            <a:lvl1pPr>
              <a:defRPr/>
            </a:lvl1pPr>
          </a:lstStyle>
          <a:p>
            <a:fld id="{9AFE202E-0A05-47E0-8710-697494CCFF7B}" type="slidenum">
              <a:rPr lang="en-US" altLang="en-US" smtClean="0"/>
              <a:pPr/>
              <a:t>‹#›</a:t>
            </a:fld>
            <a:endParaRPr lang="en-US" altLang="en-US"/>
          </a:p>
        </p:txBody>
      </p:sp>
    </p:spTree>
    <p:extLst>
      <p:ext uri="{BB962C8B-B14F-4D97-AF65-F5344CB8AC3E}">
        <p14:creationId xmlns:p14="http://schemas.microsoft.com/office/powerpoint/2010/main" val="2384800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A4D6A-4E4B-40B2-8C38-E7C6DB88C068}"/>
              </a:ext>
            </a:extLst>
          </p:cNvPr>
          <p:cNvSpPr>
            <a:spLocks noGrp="1"/>
          </p:cNvSpPr>
          <p:nvPr>
            <p:ph type="title"/>
          </p:nvPr>
        </p:nvSpPr>
        <p:spPr>
          <a:xfrm>
            <a:off x="0" y="-1"/>
            <a:ext cx="11043138" cy="936625"/>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E7ACC3C-7739-4502-B006-034D361B45A0}"/>
              </a:ext>
            </a:extLst>
          </p:cNvPr>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4FECA6D-224E-48B3-B8D4-719B4754FB55}"/>
              </a:ext>
            </a:extLst>
          </p:cNvPr>
          <p:cNvSpPr>
            <a:spLocks noGrp="1"/>
          </p:cNvSpPr>
          <p:nvPr>
            <p:ph type="body" sz="half" idx="2"/>
          </p:nvPr>
        </p:nvSpPr>
        <p:spPr>
          <a:xfrm>
            <a:off x="840318" y="995363"/>
            <a:ext cx="3932767" cy="48736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Footer Placeholder 4">
            <a:extLst>
              <a:ext uri="{FF2B5EF4-FFF2-40B4-BE49-F238E27FC236}">
                <a16:creationId xmlns:a16="http://schemas.microsoft.com/office/drawing/2014/main" id="{79D74B62-4AC5-4DD0-8A3E-002318326DBB}"/>
              </a:ext>
            </a:extLst>
          </p:cNvPr>
          <p:cNvSpPr>
            <a:spLocks noGrp="1"/>
          </p:cNvSpPr>
          <p:nvPr>
            <p:ph type="ftr" sz="quarter" idx="10"/>
          </p:nvPr>
        </p:nvSpPr>
        <p:spPr>
          <a:xfrm>
            <a:off x="4368800" y="6245225"/>
            <a:ext cx="5392145" cy="476250"/>
          </a:xfrm>
          <a:prstGeom prst="rect">
            <a:avLst/>
          </a:prstGeom>
        </p:spPr>
        <p:txBody>
          <a:bodyPr/>
          <a:lstStyle>
            <a:lvl1pPr>
              <a:defRPr/>
            </a:lvl1pPr>
          </a:lstStyle>
          <a:p>
            <a:r>
              <a:rPr lang="en-US" altLang="en-US"/>
              <a:t>‹#›</a:t>
            </a:r>
          </a:p>
        </p:txBody>
      </p:sp>
    </p:spTree>
    <p:extLst>
      <p:ext uri="{BB962C8B-B14F-4D97-AF65-F5344CB8AC3E}">
        <p14:creationId xmlns:p14="http://schemas.microsoft.com/office/powerpoint/2010/main" val="25173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CBFB0-3EE6-43AD-AF26-B76D22A863C0}"/>
              </a:ext>
            </a:extLst>
          </p:cNvPr>
          <p:cNvSpPr>
            <a:spLocks noGrp="1"/>
          </p:cNvSpPr>
          <p:nvPr>
            <p:ph type="title"/>
          </p:nvPr>
        </p:nvSpPr>
        <p:spPr>
          <a:xfrm>
            <a:off x="0" y="0"/>
            <a:ext cx="11355917" cy="896815"/>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2C1517E-3426-45BC-8D79-F3F65F544B02}"/>
              </a:ext>
            </a:extLst>
          </p:cNvPr>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DFD33B-FE5E-4BED-A53C-BBBBE496BA06}"/>
              </a:ext>
            </a:extLst>
          </p:cNvPr>
          <p:cNvSpPr>
            <a:spLocks noGrp="1"/>
          </p:cNvSpPr>
          <p:nvPr>
            <p:ph type="body" sz="half" idx="2"/>
          </p:nvPr>
        </p:nvSpPr>
        <p:spPr>
          <a:xfrm>
            <a:off x="840318" y="987426"/>
            <a:ext cx="3932767" cy="488156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Footer Placeholder 4">
            <a:extLst>
              <a:ext uri="{FF2B5EF4-FFF2-40B4-BE49-F238E27FC236}">
                <a16:creationId xmlns:a16="http://schemas.microsoft.com/office/drawing/2014/main" id="{16750E0C-5A91-45CB-A8C7-2B75292F526F}"/>
              </a:ext>
            </a:extLst>
          </p:cNvPr>
          <p:cNvSpPr>
            <a:spLocks noGrp="1"/>
          </p:cNvSpPr>
          <p:nvPr>
            <p:ph type="ftr" sz="quarter" idx="10"/>
          </p:nvPr>
        </p:nvSpPr>
        <p:spPr>
          <a:xfrm>
            <a:off x="4368800" y="6245225"/>
            <a:ext cx="5392145" cy="476250"/>
          </a:xfrm>
          <a:prstGeom prst="rect">
            <a:avLst/>
          </a:prstGeom>
        </p:spPr>
        <p:txBody>
          <a:bodyPr/>
          <a:lstStyle>
            <a:lvl1pPr>
              <a:defRPr/>
            </a:lvl1pPr>
          </a:lstStyle>
          <a:p>
            <a:fld id="{6C33A072-2890-424E-B188-9EEB804EE0C8}" type="slidenum">
              <a:rPr lang="en-US" altLang="en-US" smtClean="0"/>
              <a:pPr/>
              <a:t>‹#›</a:t>
            </a:fld>
            <a:endParaRPr lang="en-US" altLang="en-US"/>
          </a:p>
        </p:txBody>
      </p:sp>
    </p:spTree>
    <p:extLst>
      <p:ext uri="{BB962C8B-B14F-4D97-AF65-F5344CB8AC3E}">
        <p14:creationId xmlns:p14="http://schemas.microsoft.com/office/powerpoint/2010/main" val="794372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5034F-A26C-40B9-85BC-A5DE849F637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1E993C9-649F-444E-A041-D6A376CFC6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F0F38C34-A41C-477E-A65F-E8C1DC6C615D}"/>
              </a:ext>
            </a:extLst>
          </p:cNvPr>
          <p:cNvSpPr>
            <a:spLocks noGrp="1"/>
          </p:cNvSpPr>
          <p:nvPr>
            <p:ph type="ftr" sz="quarter" idx="10"/>
          </p:nvPr>
        </p:nvSpPr>
        <p:spPr>
          <a:xfrm>
            <a:off x="4368800" y="6245225"/>
            <a:ext cx="5392145" cy="476250"/>
          </a:xfrm>
          <a:prstGeom prst="rect">
            <a:avLst/>
          </a:prstGeom>
        </p:spPr>
        <p:txBody>
          <a:bodyPr/>
          <a:lstStyle>
            <a:lvl1pPr>
              <a:defRPr/>
            </a:lvl1pPr>
          </a:lstStyle>
          <a:p>
            <a:fld id="{7019A8AA-6627-4313-BB90-54794FCD17CA}" type="slidenum">
              <a:rPr lang="en-US" altLang="en-US" smtClean="0"/>
              <a:pPr/>
              <a:t>‹#›</a:t>
            </a:fld>
            <a:endParaRPr lang="en-US" altLang="en-US"/>
          </a:p>
        </p:txBody>
      </p:sp>
    </p:spTree>
    <p:extLst>
      <p:ext uri="{BB962C8B-B14F-4D97-AF65-F5344CB8AC3E}">
        <p14:creationId xmlns:p14="http://schemas.microsoft.com/office/powerpoint/2010/main" val="9890057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DFBD60-DC41-43AC-B83C-C03057B6C946}"/>
              </a:ext>
            </a:extLst>
          </p:cNvPr>
          <p:cNvSpPr>
            <a:spLocks noGrp="1"/>
          </p:cNvSpPr>
          <p:nvPr>
            <p:ph type="title" orient="vert"/>
          </p:nvPr>
        </p:nvSpPr>
        <p:spPr>
          <a:xfrm>
            <a:off x="8813800" y="1219200"/>
            <a:ext cx="2768600" cy="480060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CE78A1D-7421-4D19-BB9C-FFD8D54FB5AF}"/>
              </a:ext>
            </a:extLst>
          </p:cNvPr>
          <p:cNvSpPr>
            <a:spLocks noGrp="1"/>
          </p:cNvSpPr>
          <p:nvPr>
            <p:ph type="body" orient="vert" idx="1"/>
          </p:nvPr>
        </p:nvSpPr>
        <p:spPr>
          <a:xfrm>
            <a:off x="508000" y="1219200"/>
            <a:ext cx="8102600" cy="4800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0776981-F478-4709-AF0B-876ED162E862}"/>
              </a:ext>
            </a:extLst>
          </p:cNvPr>
          <p:cNvSpPr>
            <a:spLocks noGrp="1"/>
          </p:cNvSpPr>
          <p:nvPr>
            <p:ph type="ftr" sz="quarter" idx="10"/>
          </p:nvPr>
        </p:nvSpPr>
        <p:spPr>
          <a:xfrm>
            <a:off x="4368800" y="6245225"/>
            <a:ext cx="5392145" cy="476250"/>
          </a:xfrm>
          <a:prstGeom prst="rect">
            <a:avLst/>
          </a:prstGeom>
        </p:spPr>
        <p:txBody>
          <a:bodyPr/>
          <a:lstStyle>
            <a:lvl1pPr>
              <a:defRPr/>
            </a:lvl1pPr>
          </a:lstStyle>
          <a:p>
            <a:fld id="{F184C9B6-BDFD-4AA0-8AB0-0996ED053BEA}" type="slidenum">
              <a:rPr lang="en-US" altLang="en-US" smtClean="0"/>
              <a:pPr/>
              <a:t>‹#›</a:t>
            </a:fld>
            <a:endParaRPr lang="en-US" altLang="en-US"/>
          </a:p>
        </p:txBody>
      </p:sp>
    </p:spTree>
    <p:extLst>
      <p:ext uri="{BB962C8B-B14F-4D97-AF65-F5344CB8AC3E}">
        <p14:creationId xmlns:p14="http://schemas.microsoft.com/office/powerpoint/2010/main" val="41353464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3"/>
          </p:nvPr>
        </p:nvSpPr>
        <p:spPr>
          <a:xfrm>
            <a:off x="838200" y="1825626"/>
            <a:ext cx="10515600" cy="3943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p:cNvSpPr>
            <a:spLocks noGrp="1"/>
          </p:cNvSpPr>
          <p:nvPr>
            <p:ph type="body" sz="quarter" idx="17"/>
          </p:nvPr>
        </p:nvSpPr>
        <p:spPr>
          <a:xfrm>
            <a:off x="838200" y="1106196"/>
            <a:ext cx="10515600" cy="385325"/>
          </a:xfrm>
        </p:spPr>
        <p:txBody>
          <a:bodyPr>
            <a:normAutofit/>
          </a:bodyPr>
          <a:lstStyle>
            <a:lvl1pPr marL="0" indent="0">
              <a:buNone/>
              <a:defRPr sz="2400" b="1" i="1">
                <a:solidFill>
                  <a:schemeClr val="tx1">
                    <a:lumMod val="50000"/>
                    <a:lumOff val="50000"/>
                  </a:schemeClr>
                </a:solidFill>
              </a:defRPr>
            </a:lvl1pPr>
          </a:lstStyle>
          <a:p>
            <a:pPr lvl="0"/>
            <a:r>
              <a:rPr lang="en-US"/>
              <a:t>Click to edit Master text styles</a:t>
            </a:r>
          </a:p>
        </p:txBody>
      </p:sp>
      <p:sp>
        <p:nvSpPr>
          <p:cNvPr id="5" name="Slide Number Placeholder 25"/>
          <p:cNvSpPr>
            <a:spLocks noGrp="1"/>
          </p:cNvSpPr>
          <p:nvPr>
            <p:ph type="sldNum" sz="quarter" idx="18"/>
          </p:nvPr>
        </p:nvSpPr>
        <p:spPr>
          <a:xfrm>
            <a:off x="8610600" y="6356350"/>
            <a:ext cx="2743200" cy="365125"/>
          </a:xfrm>
          <a:prstGeom prst="rect">
            <a:avLst/>
          </a:prstGeom>
        </p:spPr>
        <p:txBody>
          <a:bodyPr/>
          <a:lstStyle>
            <a:lvl1pPr>
              <a:defRPr/>
            </a:lvl1pPr>
          </a:lstStyle>
          <a:p>
            <a:pPr>
              <a:defRPr/>
            </a:pPr>
            <a:endParaRPr lang="en-US"/>
          </a:p>
        </p:txBody>
      </p:sp>
    </p:spTree>
    <p:extLst>
      <p:ext uri="{BB962C8B-B14F-4D97-AF65-F5344CB8AC3E}">
        <p14:creationId xmlns:p14="http://schemas.microsoft.com/office/powerpoint/2010/main" val="4342049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6172200" y="1825626"/>
            <a:ext cx="5181600" cy="3792751"/>
          </a:xfrm>
        </p:spPr>
        <p:txBody>
          <a:bodyPr/>
          <a:lstStyle>
            <a:lvl1pPr marL="0" indent="0">
              <a:buNone/>
              <a:defRPr sz="1200" i="1"/>
            </a:lvl1pPr>
          </a:lstStyle>
          <a:p>
            <a:pPr lvl="0"/>
            <a:r>
              <a:rPr lang="en-US"/>
              <a:t>Click to edit Master text styles</a:t>
            </a:r>
          </a:p>
        </p:txBody>
      </p:sp>
      <p:sp>
        <p:nvSpPr>
          <p:cNvPr id="14" name="Text Placeholder 13"/>
          <p:cNvSpPr>
            <a:spLocks noGrp="1"/>
          </p:cNvSpPr>
          <p:nvPr>
            <p:ph type="body" sz="quarter" idx="13"/>
          </p:nvPr>
        </p:nvSpPr>
        <p:spPr>
          <a:xfrm>
            <a:off x="838200" y="1825625"/>
            <a:ext cx="5181600" cy="37925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3"/>
          <p:cNvSpPr>
            <a:spLocks noGrp="1"/>
          </p:cNvSpPr>
          <p:nvPr>
            <p:ph type="body" sz="quarter" idx="17"/>
          </p:nvPr>
        </p:nvSpPr>
        <p:spPr>
          <a:xfrm>
            <a:off x="838200" y="1106196"/>
            <a:ext cx="10515600" cy="385325"/>
          </a:xfrm>
        </p:spPr>
        <p:txBody>
          <a:bodyPr>
            <a:normAutofit/>
          </a:bodyPr>
          <a:lstStyle>
            <a:lvl1pPr marL="0" indent="0">
              <a:buNone/>
              <a:defRPr sz="2400" b="1" i="1">
                <a:solidFill>
                  <a:schemeClr val="tx1">
                    <a:lumMod val="50000"/>
                    <a:lumOff val="50000"/>
                  </a:schemeClr>
                </a:solidFill>
              </a:defRPr>
            </a:lvl1pPr>
          </a:lstStyle>
          <a:p>
            <a:pPr lvl="0"/>
            <a:r>
              <a:rPr lang="en-US"/>
              <a:t>Click to edit Master text styles</a:t>
            </a:r>
          </a:p>
        </p:txBody>
      </p:sp>
      <p:sp>
        <p:nvSpPr>
          <p:cNvPr id="6" name="Slide Number Placeholder 25"/>
          <p:cNvSpPr>
            <a:spLocks noGrp="1"/>
          </p:cNvSpPr>
          <p:nvPr>
            <p:ph type="sldNum" sz="quarter" idx="18"/>
          </p:nvPr>
        </p:nvSpPr>
        <p:spPr>
          <a:xfrm>
            <a:off x="8610600" y="6356350"/>
            <a:ext cx="2743200" cy="365125"/>
          </a:xfrm>
          <a:prstGeom prst="rect">
            <a:avLst/>
          </a:prstGeom>
        </p:spPr>
        <p:txBody>
          <a:bodyPr/>
          <a:lstStyle>
            <a:lvl1pPr>
              <a:defRPr/>
            </a:lvl1pPr>
          </a:lstStyle>
          <a:p>
            <a:pPr>
              <a:defRPr/>
            </a:pPr>
            <a:endParaRPr lang="en-US"/>
          </a:p>
        </p:txBody>
      </p:sp>
    </p:spTree>
    <p:extLst>
      <p:ext uri="{BB962C8B-B14F-4D97-AF65-F5344CB8AC3E}">
        <p14:creationId xmlns:p14="http://schemas.microsoft.com/office/powerpoint/2010/main" val="1615889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14" name="Text Placeholder 13"/>
          <p:cNvSpPr>
            <a:spLocks noGrp="1"/>
          </p:cNvSpPr>
          <p:nvPr>
            <p:ph type="body" sz="quarter" idx="13"/>
          </p:nvPr>
        </p:nvSpPr>
        <p:spPr>
          <a:xfrm>
            <a:off x="838200" y="1825625"/>
            <a:ext cx="5181600" cy="37925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3"/>
          <p:cNvSpPr>
            <a:spLocks noGrp="1"/>
          </p:cNvSpPr>
          <p:nvPr>
            <p:ph type="body" sz="quarter" idx="14"/>
          </p:nvPr>
        </p:nvSpPr>
        <p:spPr>
          <a:xfrm>
            <a:off x="6172200" y="1825625"/>
            <a:ext cx="5181600" cy="37925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3"/>
          <p:cNvSpPr>
            <a:spLocks noGrp="1"/>
          </p:cNvSpPr>
          <p:nvPr>
            <p:ph type="body" sz="quarter" idx="17"/>
          </p:nvPr>
        </p:nvSpPr>
        <p:spPr>
          <a:xfrm>
            <a:off x="838200" y="1106196"/>
            <a:ext cx="10515600" cy="385325"/>
          </a:xfrm>
        </p:spPr>
        <p:txBody>
          <a:bodyPr>
            <a:normAutofit/>
          </a:bodyPr>
          <a:lstStyle>
            <a:lvl1pPr marL="0" indent="0">
              <a:buNone/>
              <a:defRPr sz="2400" b="1" i="1">
                <a:solidFill>
                  <a:schemeClr val="tx1">
                    <a:lumMod val="50000"/>
                    <a:lumOff val="50000"/>
                  </a:schemeClr>
                </a:solidFill>
              </a:defRPr>
            </a:lvl1pPr>
          </a:lstStyle>
          <a:p>
            <a:pPr lvl="0"/>
            <a:r>
              <a:rPr lang="en-US"/>
              <a:t>Click to edit Master text styles</a:t>
            </a:r>
          </a:p>
        </p:txBody>
      </p:sp>
      <p:sp>
        <p:nvSpPr>
          <p:cNvPr id="7" name="Title 6">
            <a:extLst>
              <a:ext uri="{FF2B5EF4-FFF2-40B4-BE49-F238E27FC236}">
                <a16:creationId xmlns:a16="http://schemas.microsoft.com/office/drawing/2014/main" id="{69CE8D62-992C-DB48-BC38-78BBF602B353}"/>
              </a:ext>
            </a:extLst>
          </p:cNvPr>
          <p:cNvSpPr>
            <a:spLocks noGrp="1"/>
          </p:cNvSpPr>
          <p:nvPr>
            <p:ph type="title"/>
          </p:nvPr>
        </p:nvSpPr>
        <p:spPr/>
        <p:txBody>
          <a:bodyPr/>
          <a:lstStyle/>
          <a:p>
            <a:r>
              <a:rPr lang="en-US"/>
              <a:t>Click to edit Master title style</a:t>
            </a:r>
          </a:p>
        </p:txBody>
      </p:sp>
      <p:sp>
        <p:nvSpPr>
          <p:cNvPr id="8" name="Footer Placeholder 7">
            <a:extLst>
              <a:ext uri="{FF2B5EF4-FFF2-40B4-BE49-F238E27FC236}">
                <a16:creationId xmlns:a16="http://schemas.microsoft.com/office/drawing/2014/main" id="{67C54675-F95D-8F4F-B0A4-C26386E3BBBB}"/>
              </a:ext>
            </a:extLst>
          </p:cNvPr>
          <p:cNvSpPr>
            <a:spLocks noGrp="1"/>
          </p:cNvSpPr>
          <p:nvPr>
            <p:ph type="ftr" sz="quarter" idx="19"/>
          </p:nvPr>
        </p:nvSpPr>
        <p:spPr>
          <a:xfrm>
            <a:off x="4368800" y="6245225"/>
            <a:ext cx="5392145" cy="476250"/>
          </a:xfrm>
          <a:prstGeom prst="rect">
            <a:avLst/>
          </a:prstGeom>
        </p:spPr>
        <p:txBody>
          <a:bodyPr/>
          <a:lstStyle/>
          <a:p>
            <a:fld id="{6C2307A7-3981-4574-9E5E-34826BCFBE4D}" type="slidenum">
              <a:rPr lang="en-US" altLang="en-US" smtClean="0"/>
              <a:pPr/>
              <a:t>‹#›</a:t>
            </a:fld>
            <a:endParaRPr lang="en-US" altLang="en-US"/>
          </a:p>
        </p:txBody>
      </p:sp>
    </p:spTree>
    <p:extLst>
      <p:ext uri="{BB962C8B-B14F-4D97-AF65-F5344CB8AC3E}">
        <p14:creationId xmlns:p14="http://schemas.microsoft.com/office/powerpoint/2010/main" val="2122517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6" cstate="print"/>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D647F6C-1C46-4022-B9D2-F94B6BE86B94}"/>
              </a:ext>
            </a:extLst>
          </p:cNvPr>
          <p:cNvPicPr>
            <a:picLocks noChangeAspect="1"/>
          </p:cNvPicPr>
          <p:nvPr userDrawn="1"/>
        </p:nvPicPr>
        <p:blipFill>
          <a:blip r:embed="rId17"/>
          <a:stretch>
            <a:fillRect/>
          </a:stretch>
        </p:blipFill>
        <p:spPr>
          <a:xfrm>
            <a:off x="0" y="5743575"/>
            <a:ext cx="4053254" cy="1114425"/>
          </a:xfrm>
          <a:prstGeom prst="rect">
            <a:avLst/>
          </a:prstGeom>
        </p:spPr>
      </p:pic>
      <p:sp>
        <p:nvSpPr>
          <p:cNvPr id="1026" name="Rectangle 2">
            <a:extLst>
              <a:ext uri="{FF2B5EF4-FFF2-40B4-BE49-F238E27FC236}">
                <a16:creationId xmlns:a16="http://schemas.microsoft.com/office/drawing/2014/main" id="{D0B2CA20-03AE-4F1C-93E5-3DADB9CDB4D9}"/>
              </a:ext>
            </a:extLst>
          </p:cNvPr>
          <p:cNvSpPr>
            <a:spLocks noGrp="1" noChangeArrowheads="1"/>
          </p:cNvSpPr>
          <p:nvPr>
            <p:ph type="title"/>
          </p:nvPr>
        </p:nvSpPr>
        <p:spPr bwMode="auto">
          <a:xfrm>
            <a:off x="0" y="-4152"/>
            <a:ext cx="109728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664500D1-2C09-478A-A0C6-DBD1524CF4BC}"/>
              </a:ext>
            </a:extLst>
          </p:cNvPr>
          <p:cNvSpPr>
            <a:spLocks noGrp="1" noChangeArrowheads="1"/>
          </p:cNvSpPr>
          <p:nvPr>
            <p:ph type="body" idx="1"/>
          </p:nvPr>
        </p:nvSpPr>
        <p:spPr bwMode="auto">
          <a:xfrm>
            <a:off x="609600" y="1382751"/>
            <a:ext cx="10972800" cy="4637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5" name="Picture 2">
            <a:extLst>
              <a:ext uri="{FF2B5EF4-FFF2-40B4-BE49-F238E27FC236}">
                <a16:creationId xmlns:a16="http://schemas.microsoft.com/office/drawing/2014/main" id="{4331897C-17D8-49F0-9047-B32A88EB0E27}"/>
              </a:ext>
            </a:extLst>
          </p:cNvPr>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0" y="6008587"/>
            <a:ext cx="2563258" cy="849413"/>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3">
            <a:extLst>
              <a:ext uri="{FF2B5EF4-FFF2-40B4-BE49-F238E27FC236}">
                <a16:creationId xmlns:a16="http://schemas.microsoft.com/office/drawing/2014/main" id="{359C33D9-817D-4009-BC76-468B4EC78B81}"/>
              </a:ext>
            </a:extLst>
          </p:cNvPr>
          <p:cNvSpPr>
            <a:spLocks noGrp="1"/>
          </p:cNvSpPr>
          <p:nvPr>
            <p:ph type="ftr" sz="quarter" idx="3"/>
          </p:nvPr>
        </p:nvSpPr>
        <p:spPr>
          <a:xfrm>
            <a:off x="4368800" y="6245225"/>
            <a:ext cx="5392145" cy="476250"/>
          </a:xfrm>
          <a:prstGeom prst="rect">
            <a:avLst/>
          </a:prstGeom>
        </p:spPr>
        <p:txBody>
          <a:bodyPr/>
          <a:lstStyle>
            <a:lvl1pPr>
              <a:defRPr/>
            </a:lvl1pPr>
          </a:lstStyle>
          <a:p>
            <a:endParaRPr lang="en-US" altLang="en-US"/>
          </a:p>
        </p:txBody>
      </p:sp>
      <p:sp>
        <p:nvSpPr>
          <p:cNvPr id="8" name="TextBox 7">
            <a:extLst>
              <a:ext uri="{FF2B5EF4-FFF2-40B4-BE49-F238E27FC236}">
                <a16:creationId xmlns:a16="http://schemas.microsoft.com/office/drawing/2014/main" id="{BC137FAC-685C-4C71-AC4A-7E2898E572B5}"/>
              </a:ext>
            </a:extLst>
          </p:cNvPr>
          <p:cNvSpPr txBox="1"/>
          <p:nvPr userDrawn="1"/>
        </p:nvSpPr>
        <p:spPr>
          <a:xfrm>
            <a:off x="11579469" y="6352143"/>
            <a:ext cx="466794" cy="369332"/>
          </a:xfrm>
          <a:prstGeom prst="rect">
            <a:avLst/>
          </a:prstGeom>
          <a:noFill/>
        </p:spPr>
        <p:txBody>
          <a:bodyPr wrap="none" rtlCol="0">
            <a:spAutoFit/>
          </a:bodyPr>
          <a:lstStyle/>
          <a:p>
            <a:fld id="{3CCE9E80-CB49-4B8C-B4F8-5238CB8DE56A}" type="slidenum">
              <a:rPr lang="en-US" smtClean="0"/>
              <a:t>‹#›</a:t>
            </a:fld>
            <a:endParaRPr lang="en-US"/>
          </a:p>
        </p:txBody>
      </p:sp>
    </p:spTree>
    <p:extLst>
      <p:ext uri="{BB962C8B-B14F-4D97-AF65-F5344CB8AC3E}">
        <p14:creationId xmlns:p14="http://schemas.microsoft.com/office/powerpoint/2010/main" val="1813306965"/>
      </p:ext>
    </p:extLst>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7" r:id="rId6"/>
    <p:sldLayoutId id="2147483788" r:id="rId7"/>
    <p:sldLayoutId id="2147483789" r:id="rId8"/>
    <p:sldLayoutId id="2147483790" r:id="rId9"/>
    <p:sldLayoutId id="2147483791" r:id="rId10"/>
    <p:sldLayoutId id="2147483792" r:id="rId11"/>
    <p:sldLayoutId id="2147483793" r:id="rId12"/>
    <p:sldLayoutId id="2147483794" r:id="rId13"/>
    <p:sldLayoutId id="2147483795" r:id="rId14"/>
  </p:sldLayoutIdLst>
  <p:hf hdr="0" ftr="0" dt="0"/>
  <p:txStyles>
    <p:titleStyle>
      <a:lvl1pPr algn="ctr" rtl="0" fontAlgn="base">
        <a:spcBef>
          <a:spcPct val="0"/>
        </a:spcBef>
        <a:spcAft>
          <a:spcPct val="0"/>
        </a:spcAft>
        <a:defRPr sz="3600" kern="1200">
          <a:solidFill>
            <a:schemeClr val="tx1"/>
          </a:solidFill>
          <a:latin typeface="+mj-lt"/>
          <a:ea typeface="+mj-ea"/>
          <a:cs typeface="+mj-cs"/>
        </a:defRPr>
      </a:lvl1pPr>
      <a:lvl2pPr algn="ctr" rtl="0" fontAlgn="base">
        <a:spcBef>
          <a:spcPct val="0"/>
        </a:spcBef>
        <a:spcAft>
          <a:spcPct val="0"/>
        </a:spcAft>
        <a:defRPr sz="3600">
          <a:solidFill>
            <a:schemeClr val="tx1"/>
          </a:solidFill>
          <a:latin typeface="Arial" panose="020B0604020202020204" pitchFamily="34" charset="0"/>
        </a:defRPr>
      </a:lvl2pPr>
      <a:lvl3pPr algn="ctr" rtl="0" fontAlgn="base">
        <a:spcBef>
          <a:spcPct val="0"/>
        </a:spcBef>
        <a:spcAft>
          <a:spcPct val="0"/>
        </a:spcAft>
        <a:defRPr sz="3600">
          <a:solidFill>
            <a:schemeClr val="tx1"/>
          </a:solidFill>
          <a:latin typeface="Arial" panose="020B0604020202020204" pitchFamily="34" charset="0"/>
        </a:defRPr>
      </a:lvl3pPr>
      <a:lvl4pPr algn="ctr" rtl="0" fontAlgn="base">
        <a:spcBef>
          <a:spcPct val="0"/>
        </a:spcBef>
        <a:spcAft>
          <a:spcPct val="0"/>
        </a:spcAft>
        <a:defRPr sz="3600">
          <a:solidFill>
            <a:schemeClr val="tx1"/>
          </a:solidFill>
          <a:latin typeface="Arial" panose="020B0604020202020204" pitchFamily="34" charset="0"/>
        </a:defRPr>
      </a:lvl4pPr>
      <a:lvl5pPr algn="ctr" rtl="0" fontAlgn="base">
        <a:spcBef>
          <a:spcPct val="0"/>
        </a:spcBef>
        <a:spcAft>
          <a:spcPct val="0"/>
        </a:spcAft>
        <a:defRPr sz="3600">
          <a:solidFill>
            <a:schemeClr val="tx1"/>
          </a:solidFill>
          <a:latin typeface="Arial" panose="020B0604020202020204" pitchFamily="34" charset="0"/>
        </a:defRPr>
      </a:lvl5pPr>
      <a:lvl6pPr marL="457200" algn="ctr" rtl="0" fontAlgn="base">
        <a:spcBef>
          <a:spcPct val="0"/>
        </a:spcBef>
        <a:spcAft>
          <a:spcPct val="0"/>
        </a:spcAft>
        <a:defRPr sz="3600">
          <a:solidFill>
            <a:schemeClr val="tx1"/>
          </a:solidFill>
          <a:latin typeface="Arial" panose="020B0604020202020204" pitchFamily="34" charset="0"/>
        </a:defRPr>
      </a:lvl6pPr>
      <a:lvl7pPr marL="914400" algn="ctr" rtl="0" fontAlgn="base">
        <a:spcBef>
          <a:spcPct val="0"/>
        </a:spcBef>
        <a:spcAft>
          <a:spcPct val="0"/>
        </a:spcAft>
        <a:defRPr sz="3600">
          <a:solidFill>
            <a:schemeClr val="tx1"/>
          </a:solidFill>
          <a:latin typeface="Arial" panose="020B0604020202020204" pitchFamily="34" charset="0"/>
        </a:defRPr>
      </a:lvl7pPr>
      <a:lvl8pPr marL="1371600" algn="ctr" rtl="0" fontAlgn="base">
        <a:spcBef>
          <a:spcPct val="0"/>
        </a:spcBef>
        <a:spcAft>
          <a:spcPct val="0"/>
        </a:spcAft>
        <a:defRPr sz="3600">
          <a:solidFill>
            <a:schemeClr val="tx1"/>
          </a:solidFill>
          <a:latin typeface="Arial" panose="020B0604020202020204" pitchFamily="34" charset="0"/>
        </a:defRPr>
      </a:lvl8pPr>
      <a:lvl9pPr marL="1828800" algn="ctr" rtl="0" fontAlgn="base">
        <a:spcBef>
          <a:spcPct val="0"/>
        </a:spcBef>
        <a:spcAft>
          <a:spcPct val="0"/>
        </a:spcAft>
        <a:defRPr sz="3600">
          <a:solidFill>
            <a:schemeClr val="tx1"/>
          </a:solidFill>
          <a:latin typeface="Arial" panose="020B0604020202020204" pitchFamily="34"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4.emf"/><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30243-5C9F-4672-945B-C91A86572C12}"/>
              </a:ext>
            </a:extLst>
          </p:cNvPr>
          <p:cNvSpPr>
            <a:spLocks noGrp="1"/>
          </p:cNvSpPr>
          <p:nvPr>
            <p:ph type="ctrTitle"/>
          </p:nvPr>
        </p:nvSpPr>
        <p:spPr/>
        <p:txBody>
          <a:bodyPr/>
          <a:lstStyle/>
          <a:p>
            <a:r>
              <a:rPr lang="en-US" altLang="en-US" sz="3600" dirty="0"/>
              <a:t>QML:</a:t>
            </a:r>
            <a:br>
              <a:rPr lang="en-US" altLang="en-US" sz="3600" dirty="0"/>
            </a:br>
            <a:r>
              <a:rPr lang="en-US" altLang="en-US" sz="3600" dirty="0"/>
              <a:t>Harnessing Entanglement for </a:t>
            </a:r>
            <a:r>
              <a:rPr lang="en-US" altLang="en-US" dirty="0"/>
              <a:t>PV</a:t>
            </a:r>
            <a:r>
              <a:rPr lang="en-US" altLang="en-US" sz="3600" dirty="0"/>
              <a:t> Fault Detection</a:t>
            </a:r>
            <a:endParaRPr lang="en-US" dirty="0"/>
          </a:p>
        </p:txBody>
      </p:sp>
      <p:sp>
        <p:nvSpPr>
          <p:cNvPr id="3" name="Subtitle 2">
            <a:extLst>
              <a:ext uri="{FF2B5EF4-FFF2-40B4-BE49-F238E27FC236}">
                <a16:creationId xmlns:a16="http://schemas.microsoft.com/office/drawing/2014/main" id="{C18B303C-C7EE-43F6-B24E-750634B8A346}"/>
              </a:ext>
            </a:extLst>
          </p:cNvPr>
          <p:cNvSpPr>
            <a:spLocks noGrp="1"/>
          </p:cNvSpPr>
          <p:nvPr>
            <p:ph type="subTitle" idx="1"/>
          </p:nvPr>
        </p:nvSpPr>
        <p:spPr/>
        <p:txBody>
          <a:bodyPr/>
          <a:lstStyle/>
          <a:p>
            <a:r>
              <a:rPr lang="en-US" sz="1800" dirty="0"/>
              <a:t>Glen S Uehara, PhD</a:t>
            </a:r>
            <a:endParaRPr lang="en-US" sz="2400" dirty="0"/>
          </a:p>
          <a:p>
            <a:endParaRPr lang="en-US" dirty="0"/>
          </a:p>
        </p:txBody>
      </p:sp>
      <p:pic>
        <p:nvPicPr>
          <p:cNvPr id="4" name="Picture 3">
            <a:extLst>
              <a:ext uri="{FF2B5EF4-FFF2-40B4-BE49-F238E27FC236}">
                <a16:creationId xmlns:a16="http://schemas.microsoft.com/office/drawing/2014/main" id="{01EC4F51-DE89-BED6-9DCD-EAF57363293E}"/>
              </a:ext>
            </a:extLst>
          </p:cNvPr>
          <p:cNvPicPr>
            <a:picLocks noChangeAspect="1"/>
          </p:cNvPicPr>
          <p:nvPr/>
        </p:nvPicPr>
        <p:blipFill>
          <a:blip r:embed="rId3"/>
          <a:stretch>
            <a:fillRect/>
          </a:stretch>
        </p:blipFill>
        <p:spPr>
          <a:xfrm>
            <a:off x="10027271" y="156691"/>
            <a:ext cx="1976761" cy="1062509"/>
          </a:xfrm>
          <a:prstGeom prst="rect">
            <a:avLst/>
          </a:prstGeom>
        </p:spPr>
      </p:pic>
    </p:spTree>
    <p:extLst>
      <p:ext uri="{BB962C8B-B14F-4D97-AF65-F5344CB8AC3E}">
        <p14:creationId xmlns:p14="http://schemas.microsoft.com/office/powerpoint/2010/main" val="21980320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0A3B10-0556-8669-6CA7-353B2B5EFF24}"/>
              </a:ext>
            </a:extLst>
          </p:cNvPr>
          <p:cNvSpPr>
            <a:spLocks noGrp="1"/>
          </p:cNvSpPr>
          <p:nvPr>
            <p:ph type="body" sz="quarter" idx="13"/>
          </p:nvPr>
        </p:nvSpPr>
        <p:spPr/>
        <p:txBody>
          <a:bodyPr/>
          <a:lstStyle/>
          <a:p>
            <a:r>
              <a:rPr lang="en-US" sz="2400"/>
              <a:t>Photovoltaic (PV) systems produce multi-sensor, high-dimensional data (voltage, current, irradiance, temperature).</a:t>
            </a:r>
          </a:p>
          <a:p>
            <a:r>
              <a:rPr lang="en-US" sz="2400"/>
              <a:t>Faults such as shading, soiling, degradation, and disconnections are hard to detect due to non-linear feature correlations.</a:t>
            </a:r>
          </a:p>
        </p:txBody>
      </p:sp>
      <p:sp>
        <p:nvSpPr>
          <p:cNvPr id="3" name="Text Placeholder 2">
            <a:extLst>
              <a:ext uri="{FF2B5EF4-FFF2-40B4-BE49-F238E27FC236}">
                <a16:creationId xmlns:a16="http://schemas.microsoft.com/office/drawing/2014/main" id="{1E62594C-917B-BEC4-F91B-65E524E15DEA}"/>
              </a:ext>
            </a:extLst>
          </p:cNvPr>
          <p:cNvSpPr>
            <a:spLocks noGrp="1"/>
          </p:cNvSpPr>
          <p:nvPr>
            <p:ph type="body" sz="quarter" idx="14"/>
          </p:nvPr>
        </p:nvSpPr>
        <p:spPr/>
        <p:txBody>
          <a:bodyPr/>
          <a:lstStyle/>
          <a:p>
            <a:r>
              <a:rPr lang="en-US" sz="2400"/>
              <a:t>Investigates designing custom quantum circuits for large-scale PV fault detection.</a:t>
            </a:r>
          </a:p>
          <a:p>
            <a:r>
              <a:rPr lang="en-US" sz="2400"/>
              <a:t>Use quantum encoding, superposition, and entanglement to capture hidden correlations.</a:t>
            </a:r>
          </a:p>
          <a:p>
            <a:r>
              <a:rPr lang="en-US" sz="2400"/>
              <a:t>Develop hybrid quantum–classical models to uncover fault patterns beyond classical reach.</a:t>
            </a:r>
          </a:p>
        </p:txBody>
      </p:sp>
      <p:sp>
        <p:nvSpPr>
          <p:cNvPr id="4" name="Text Placeholder 3">
            <a:extLst>
              <a:ext uri="{FF2B5EF4-FFF2-40B4-BE49-F238E27FC236}">
                <a16:creationId xmlns:a16="http://schemas.microsoft.com/office/drawing/2014/main" id="{8CCBB233-F2CC-2821-23D5-25784B5C43C7}"/>
              </a:ext>
            </a:extLst>
          </p:cNvPr>
          <p:cNvSpPr>
            <a:spLocks noGrp="1"/>
          </p:cNvSpPr>
          <p:nvPr>
            <p:ph type="body" sz="quarter" idx="17"/>
          </p:nvPr>
        </p:nvSpPr>
        <p:spPr>
          <a:xfrm>
            <a:off x="838200" y="1440300"/>
            <a:ext cx="4226169" cy="385325"/>
          </a:xfrm>
        </p:spPr>
        <p:txBody>
          <a:bodyPr>
            <a:normAutofit fontScale="92500" lnSpcReduction="20000"/>
          </a:bodyPr>
          <a:lstStyle/>
          <a:p>
            <a:r>
              <a:rPr lang="en-US"/>
              <a:t>Background</a:t>
            </a:r>
          </a:p>
        </p:txBody>
      </p:sp>
      <p:sp>
        <p:nvSpPr>
          <p:cNvPr id="5" name="Title 4">
            <a:extLst>
              <a:ext uri="{FF2B5EF4-FFF2-40B4-BE49-F238E27FC236}">
                <a16:creationId xmlns:a16="http://schemas.microsoft.com/office/drawing/2014/main" id="{3383BC31-5745-A848-1ECD-2671DFFB9A9C}"/>
              </a:ext>
            </a:extLst>
          </p:cNvPr>
          <p:cNvSpPr>
            <a:spLocks noGrp="1"/>
          </p:cNvSpPr>
          <p:nvPr>
            <p:ph type="title"/>
          </p:nvPr>
        </p:nvSpPr>
        <p:spPr/>
        <p:txBody>
          <a:bodyPr/>
          <a:lstStyle/>
          <a:p>
            <a:r>
              <a:rPr lang="en-US" sz="3200"/>
              <a:t>1. Introduction</a:t>
            </a:r>
          </a:p>
        </p:txBody>
      </p:sp>
      <p:sp>
        <p:nvSpPr>
          <p:cNvPr id="7" name="Text Placeholder 3">
            <a:extLst>
              <a:ext uri="{FF2B5EF4-FFF2-40B4-BE49-F238E27FC236}">
                <a16:creationId xmlns:a16="http://schemas.microsoft.com/office/drawing/2014/main" id="{35EE3616-B9EB-A8DF-F17F-A97197E153FE}"/>
              </a:ext>
            </a:extLst>
          </p:cNvPr>
          <p:cNvSpPr txBox="1">
            <a:spLocks/>
          </p:cNvSpPr>
          <p:nvPr/>
        </p:nvSpPr>
        <p:spPr bwMode="auto">
          <a:xfrm>
            <a:off x="6172200" y="1440299"/>
            <a:ext cx="4226169" cy="38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fontScale="92500" lnSpcReduction="20000"/>
          </a:bodyPr>
          <a:lstStyle>
            <a:lvl1pPr marL="0" indent="0" algn="l" rtl="0" fontAlgn="base">
              <a:spcBef>
                <a:spcPct val="20000"/>
              </a:spcBef>
              <a:spcAft>
                <a:spcPct val="0"/>
              </a:spcAft>
              <a:buNone/>
              <a:defRPr sz="2400" b="1" i="1" kern="1200">
                <a:solidFill>
                  <a:schemeClr val="tx1">
                    <a:lumMod val="50000"/>
                    <a:lumOff val="50000"/>
                  </a:schemeClr>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Research</a:t>
            </a:r>
          </a:p>
        </p:txBody>
      </p:sp>
      <p:sp>
        <p:nvSpPr>
          <p:cNvPr id="8" name="Rectangle: Rounded Corners 7">
            <a:extLst>
              <a:ext uri="{FF2B5EF4-FFF2-40B4-BE49-F238E27FC236}">
                <a16:creationId xmlns:a16="http://schemas.microsoft.com/office/drawing/2014/main" id="{1322B066-C165-FD72-9EA6-D62772F01CA1}"/>
              </a:ext>
            </a:extLst>
          </p:cNvPr>
          <p:cNvSpPr/>
          <p:nvPr/>
        </p:nvSpPr>
        <p:spPr>
          <a:xfrm>
            <a:off x="2437932" y="5535176"/>
            <a:ext cx="8633766" cy="9366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Develop and analyze quantum computing algorithms that can identify complex, high-dimensional correlations</a:t>
            </a:r>
          </a:p>
        </p:txBody>
      </p:sp>
      <p:pic>
        <p:nvPicPr>
          <p:cNvPr id="9" name="Picture 8">
            <a:extLst>
              <a:ext uri="{FF2B5EF4-FFF2-40B4-BE49-F238E27FC236}">
                <a16:creationId xmlns:a16="http://schemas.microsoft.com/office/drawing/2014/main" id="{2D825125-AF4B-1E10-07AA-6A53EF2A2962}"/>
              </a:ext>
            </a:extLst>
          </p:cNvPr>
          <p:cNvPicPr>
            <a:picLocks noChangeAspect="1"/>
          </p:cNvPicPr>
          <p:nvPr/>
        </p:nvPicPr>
        <p:blipFill>
          <a:blip r:embed="rId3"/>
          <a:stretch>
            <a:fillRect/>
          </a:stretch>
        </p:blipFill>
        <p:spPr>
          <a:xfrm>
            <a:off x="10484865" y="152986"/>
            <a:ext cx="1595766" cy="2044576"/>
          </a:xfrm>
          <a:prstGeom prst="rect">
            <a:avLst/>
          </a:prstGeom>
          <a:noFill/>
        </p:spPr>
      </p:pic>
    </p:spTree>
    <p:extLst>
      <p:ext uri="{BB962C8B-B14F-4D97-AF65-F5344CB8AC3E}">
        <p14:creationId xmlns:p14="http://schemas.microsoft.com/office/powerpoint/2010/main" val="4324035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A2DD6-43FD-0692-8DB7-69CC2D53A37D}"/>
              </a:ext>
            </a:extLst>
          </p:cNvPr>
          <p:cNvSpPr>
            <a:spLocks noGrp="1"/>
          </p:cNvSpPr>
          <p:nvPr>
            <p:ph type="title"/>
          </p:nvPr>
        </p:nvSpPr>
        <p:spPr/>
        <p:txBody>
          <a:bodyPr/>
          <a:lstStyle/>
          <a:p>
            <a:r>
              <a:rPr lang="en-US"/>
              <a:t>3. Quantum Algorithms for PV Fault Detection</a:t>
            </a:r>
          </a:p>
        </p:txBody>
      </p:sp>
      <p:pic>
        <p:nvPicPr>
          <p:cNvPr id="5" name="Content Placeholder 4">
            <a:extLst>
              <a:ext uri="{FF2B5EF4-FFF2-40B4-BE49-F238E27FC236}">
                <a16:creationId xmlns:a16="http://schemas.microsoft.com/office/drawing/2014/main" id="{7BD63637-A872-A7FF-6881-1FC7E8B66C54}"/>
              </a:ext>
            </a:extLst>
          </p:cNvPr>
          <p:cNvPicPr>
            <a:picLocks noGrp="1" noChangeAspect="1"/>
          </p:cNvPicPr>
          <p:nvPr>
            <p:ph idx="1"/>
          </p:nvPr>
        </p:nvPicPr>
        <p:blipFill>
          <a:blip r:embed="rId3"/>
          <a:stretch>
            <a:fillRect/>
          </a:stretch>
        </p:blipFill>
        <p:spPr>
          <a:xfrm>
            <a:off x="2791838" y="1433449"/>
            <a:ext cx="6807013" cy="5294343"/>
          </a:xfrm>
          <a:prstGeom prst="rect">
            <a:avLst/>
          </a:prstGeom>
        </p:spPr>
      </p:pic>
      <p:sp>
        <p:nvSpPr>
          <p:cNvPr id="4" name="TextBox 3">
            <a:extLst>
              <a:ext uri="{FF2B5EF4-FFF2-40B4-BE49-F238E27FC236}">
                <a16:creationId xmlns:a16="http://schemas.microsoft.com/office/drawing/2014/main" id="{72B35654-70E3-3DEE-F3B7-2C5B6A544219}"/>
              </a:ext>
            </a:extLst>
          </p:cNvPr>
          <p:cNvSpPr txBox="1"/>
          <p:nvPr/>
        </p:nvSpPr>
        <p:spPr>
          <a:xfrm>
            <a:off x="1053019" y="936620"/>
            <a:ext cx="6094378" cy="461665"/>
          </a:xfrm>
          <a:prstGeom prst="rect">
            <a:avLst/>
          </a:prstGeom>
          <a:noFill/>
        </p:spPr>
        <p:txBody>
          <a:bodyPr wrap="square">
            <a:spAutoFit/>
          </a:bodyPr>
          <a:lstStyle/>
          <a:p>
            <a:r>
              <a:rPr lang="en-US" sz="2400"/>
              <a:t>PV Monitoring Concept</a:t>
            </a:r>
          </a:p>
        </p:txBody>
      </p:sp>
    </p:spTree>
    <p:extLst>
      <p:ext uri="{BB962C8B-B14F-4D97-AF65-F5344CB8AC3E}">
        <p14:creationId xmlns:p14="http://schemas.microsoft.com/office/powerpoint/2010/main" val="34269602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6EEBC-3D2F-5847-5D4D-C8700FC96E16}"/>
              </a:ext>
            </a:extLst>
          </p:cNvPr>
          <p:cNvSpPr>
            <a:spLocks noGrp="1"/>
          </p:cNvSpPr>
          <p:nvPr>
            <p:ph type="title"/>
          </p:nvPr>
        </p:nvSpPr>
        <p:spPr/>
        <p:txBody>
          <a:bodyPr/>
          <a:lstStyle/>
          <a:p>
            <a:r>
              <a:rPr lang="en-US"/>
              <a:t>PV Monitoring and Fault Detection</a:t>
            </a:r>
          </a:p>
        </p:txBody>
      </p:sp>
      <p:sp>
        <p:nvSpPr>
          <p:cNvPr id="3" name="Content Placeholder 2">
            <a:extLst>
              <a:ext uri="{FF2B5EF4-FFF2-40B4-BE49-F238E27FC236}">
                <a16:creationId xmlns:a16="http://schemas.microsoft.com/office/drawing/2014/main" id="{13357900-97A5-75E6-86BB-DA79E8A693F9}"/>
              </a:ext>
            </a:extLst>
          </p:cNvPr>
          <p:cNvSpPr>
            <a:spLocks noGrp="1"/>
          </p:cNvSpPr>
          <p:nvPr>
            <p:ph idx="1"/>
          </p:nvPr>
        </p:nvSpPr>
        <p:spPr>
          <a:xfrm>
            <a:off x="483141" y="1316831"/>
            <a:ext cx="7023758" cy="3796145"/>
          </a:xfrm>
        </p:spPr>
        <p:txBody>
          <a:bodyPr/>
          <a:lstStyle/>
          <a:p>
            <a:r>
              <a:rPr lang="en-US" sz="2800"/>
              <a:t>Classical ML and its application to PV fault detection has been demonstrated. </a:t>
            </a:r>
          </a:p>
          <a:p>
            <a:r>
              <a:rPr lang="en-US" sz="2800"/>
              <a:t>The study in Rao et al. demonstrated successful use of classical neural networks for fault detection in a relatively small solar array system.</a:t>
            </a:r>
          </a:p>
          <a:p>
            <a:r>
              <a:rPr lang="en-US" sz="2800"/>
              <a:t>To address high complexity computation, we published a feasibility study where we described a simple Quantum Neural Network (QNN) binary classifier (IEEE IISA 2021).</a:t>
            </a:r>
          </a:p>
          <a:p>
            <a:endParaRPr lang="en-US" sz="2800"/>
          </a:p>
        </p:txBody>
      </p:sp>
      <p:pic>
        <p:nvPicPr>
          <p:cNvPr id="6" name="Picture 5">
            <a:extLst>
              <a:ext uri="{FF2B5EF4-FFF2-40B4-BE49-F238E27FC236}">
                <a16:creationId xmlns:a16="http://schemas.microsoft.com/office/drawing/2014/main" id="{293D3E45-DE0A-5F0E-FDC5-B54E97CDFF6F}"/>
              </a:ext>
            </a:extLst>
          </p:cNvPr>
          <p:cNvPicPr>
            <a:picLocks noChangeAspect="1"/>
          </p:cNvPicPr>
          <p:nvPr/>
        </p:nvPicPr>
        <p:blipFill>
          <a:blip r:embed="rId3"/>
          <a:stretch>
            <a:fillRect/>
          </a:stretch>
        </p:blipFill>
        <p:spPr>
          <a:xfrm>
            <a:off x="8739161" y="810994"/>
            <a:ext cx="2920765" cy="3332990"/>
          </a:xfrm>
          <a:prstGeom prst="rect">
            <a:avLst/>
          </a:prstGeom>
        </p:spPr>
      </p:pic>
      <p:pic>
        <p:nvPicPr>
          <p:cNvPr id="4" name="Picture 2">
            <a:extLst>
              <a:ext uri="{FF2B5EF4-FFF2-40B4-BE49-F238E27FC236}">
                <a16:creationId xmlns:a16="http://schemas.microsoft.com/office/drawing/2014/main" id="{E7FBA90A-ECEF-2FF6-B5F3-D78782D61E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36865" y="4243442"/>
            <a:ext cx="2337492" cy="2302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7145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0E1A3-6E38-B86F-64DB-8B4726A14752}"/>
              </a:ext>
            </a:extLst>
          </p:cNvPr>
          <p:cNvSpPr>
            <a:spLocks noGrp="1"/>
          </p:cNvSpPr>
          <p:nvPr>
            <p:ph type="title"/>
          </p:nvPr>
        </p:nvSpPr>
        <p:spPr/>
        <p:txBody>
          <a:bodyPr/>
          <a:lstStyle/>
          <a:p>
            <a:r>
              <a:rPr lang="en-US"/>
              <a:t>Enhanced Quantum ML for PV Fault Detection</a:t>
            </a:r>
          </a:p>
        </p:txBody>
      </p:sp>
      <p:sp>
        <p:nvSpPr>
          <p:cNvPr id="3" name="Content Placeholder 2">
            <a:extLst>
              <a:ext uri="{FF2B5EF4-FFF2-40B4-BE49-F238E27FC236}">
                <a16:creationId xmlns:a16="http://schemas.microsoft.com/office/drawing/2014/main" id="{EC2413B5-F2FD-2192-64E9-7D1CDE6CD58C}"/>
              </a:ext>
            </a:extLst>
          </p:cNvPr>
          <p:cNvSpPr>
            <a:spLocks noGrp="1"/>
          </p:cNvSpPr>
          <p:nvPr>
            <p:ph idx="1"/>
          </p:nvPr>
        </p:nvSpPr>
        <p:spPr>
          <a:xfrm>
            <a:off x="609599" y="1382751"/>
            <a:ext cx="10972800" cy="4637049"/>
          </a:xfrm>
        </p:spPr>
        <p:txBody>
          <a:bodyPr/>
          <a:lstStyle/>
          <a:p>
            <a:r>
              <a:rPr lang="en-US" sz="2800"/>
              <a:t>We focus on improving classification results by designing more complex and customized quantum circuits for large-scale solar array faults. </a:t>
            </a:r>
          </a:p>
          <a:p>
            <a:r>
              <a:rPr lang="en-US" sz="2800"/>
              <a:t>The proposed enhanced quantum circuits leverage quantum data correlation effectively for feature extraction in PV fault detection. </a:t>
            </a:r>
          </a:p>
        </p:txBody>
      </p:sp>
      <p:pic>
        <p:nvPicPr>
          <p:cNvPr id="15" name="Picture 14">
            <a:extLst>
              <a:ext uri="{FF2B5EF4-FFF2-40B4-BE49-F238E27FC236}">
                <a16:creationId xmlns:a16="http://schemas.microsoft.com/office/drawing/2014/main" id="{C8EEF6C4-7409-3630-AB6E-94F4841A4E41}"/>
              </a:ext>
            </a:extLst>
          </p:cNvPr>
          <p:cNvPicPr>
            <a:picLocks noChangeAspect="1"/>
          </p:cNvPicPr>
          <p:nvPr/>
        </p:nvPicPr>
        <p:blipFill>
          <a:blip r:embed="rId3"/>
          <a:stretch>
            <a:fillRect/>
          </a:stretch>
        </p:blipFill>
        <p:spPr>
          <a:xfrm>
            <a:off x="835509" y="3943661"/>
            <a:ext cx="10520979" cy="1243073"/>
          </a:xfrm>
          <a:prstGeom prst="rect">
            <a:avLst/>
          </a:prstGeom>
        </p:spPr>
      </p:pic>
    </p:spTree>
    <p:extLst>
      <p:ext uri="{BB962C8B-B14F-4D97-AF65-F5344CB8AC3E}">
        <p14:creationId xmlns:p14="http://schemas.microsoft.com/office/powerpoint/2010/main" val="10517744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C04A3-2519-3176-BE0E-EA8893400200}"/>
              </a:ext>
            </a:extLst>
          </p:cNvPr>
          <p:cNvSpPr>
            <a:spLocks noGrp="1"/>
          </p:cNvSpPr>
          <p:nvPr>
            <p:ph type="title"/>
          </p:nvPr>
        </p:nvSpPr>
        <p:spPr/>
        <p:txBody>
          <a:bodyPr/>
          <a:lstStyle/>
          <a:p>
            <a:r>
              <a:rPr lang="en-US"/>
              <a:t>The Feature Maps we considered</a:t>
            </a:r>
          </a:p>
        </p:txBody>
      </p:sp>
      <p:graphicFrame>
        <p:nvGraphicFramePr>
          <p:cNvPr id="3" name="Table 2">
            <a:extLst>
              <a:ext uri="{FF2B5EF4-FFF2-40B4-BE49-F238E27FC236}">
                <a16:creationId xmlns:a16="http://schemas.microsoft.com/office/drawing/2014/main" id="{08CC1D75-CCC3-DB2A-1D9A-AF34F16FDDDF}"/>
              </a:ext>
            </a:extLst>
          </p:cNvPr>
          <p:cNvGraphicFramePr>
            <a:graphicFrameLocks noGrp="1"/>
          </p:cNvGraphicFramePr>
          <p:nvPr>
            <p:extLst>
              <p:ext uri="{D42A27DB-BD31-4B8C-83A1-F6EECF244321}">
                <p14:modId xmlns:p14="http://schemas.microsoft.com/office/powerpoint/2010/main" val="1514245842"/>
              </p:ext>
            </p:extLst>
          </p:nvPr>
        </p:nvGraphicFramePr>
        <p:xfrm>
          <a:off x="202565" y="1663700"/>
          <a:ext cx="11786870" cy="3409950"/>
        </p:xfrm>
        <a:graphic>
          <a:graphicData uri="http://schemas.openxmlformats.org/drawingml/2006/table">
            <a:tbl>
              <a:tblPr firstRow="1">
                <a:tableStyleId>{21E4AEA4-8DFA-4A89-87EB-49C32662AFE0}</a:tableStyleId>
              </a:tblPr>
              <a:tblGrid>
                <a:gridCol w="2357374">
                  <a:extLst>
                    <a:ext uri="{9D8B030D-6E8A-4147-A177-3AD203B41FA5}">
                      <a16:colId xmlns:a16="http://schemas.microsoft.com/office/drawing/2014/main" val="481204766"/>
                    </a:ext>
                  </a:extLst>
                </a:gridCol>
                <a:gridCol w="2357374">
                  <a:extLst>
                    <a:ext uri="{9D8B030D-6E8A-4147-A177-3AD203B41FA5}">
                      <a16:colId xmlns:a16="http://schemas.microsoft.com/office/drawing/2014/main" val="27373567"/>
                    </a:ext>
                  </a:extLst>
                </a:gridCol>
                <a:gridCol w="2950600">
                  <a:extLst>
                    <a:ext uri="{9D8B030D-6E8A-4147-A177-3AD203B41FA5}">
                      <a16:colId xmlns:a16="http://schemas.microsoft.com/office/drawing/2014/main" val="1171869020"/>
                    </a:ext>
                  </a:extLst>
                </a:gridCol>
                <a:gridCol w="2210778">
                  <a:extLst>
                    <a:ext uri="{9D8B030D-6E8A-4147-A177-3AD203B41FA5}">
                      <a16:colId xmlns:a16="http://schemas.microsoft.com/office/drawing/2014/main" val="4013268677"/>
                    </a:ext>
                  </a:extLst>
                </a:gridCol>
                <a:gridCol w="1910744">
                  <a:extLst>
                    <a:ext uri="{9D8B030D-6E8A-4147-A177-3AD203B41FA5}">
                      <a16:colId xmlns:a16="http://schemas.microsoft.com/office/drawing/2014/main" val="3853173768"/>
                    </a:ext>
                  </a:extLst>
                </a:gridCol>
              </a:tblGrid>
              <a:tr h="203200">
                <a:tc>
                  <a:txBody>
                    <a:bodyPr/>
                    <a:lstStyle/>
                    <a:p>
                      <a:pPr algn="ctr" fontAlgn="b">
                        <a:buNone/>
                      </a:pPr>
                      <a:r>
                        <a:rPr lang="en-US" sz="2000" u="none" strike="noStrike">
                          <a:effectLst/>
                        </a:rPr>
                        <a:t>Feature Map</a:t>
                      </a:r>
                      <a:endParaRPr lang="en-US" sz="20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2000" u="none" strike="noStrike">
                          <a:effectLst/>
                        </a:rPr>
                        <a:t>Circuit Elements</a:t>
                      </a:r>
                      <a:endParaRPr lang="en-US" sz="20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2000" u="none" strike="noStrike">
                          <a:effectLst/>
                        </a:rPr>
                        <a:t>Encoding Role</a:t>
                      </a:r>
                      <a:endParaRPr lang="en-US" sz="20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2000" u="none" strike="noStrike">
                          <a:effectLst/>
                        </a:rPr>
                        <a:t>Ising Analog</a:t>
                      </a:r>
                      <a:endParaRPr lang="en-US" sz="20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2000" u="none" strike="noStrike">
                          <a:effectLst/>
                        </a:rPr>
                        <a:t>Transverse Ising Analog</a:t>
                      </a:r>
                      <a:endParaRPr lang="en-US" sz="20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257023550"/>
                  </a:ext>
                </a:extLst>
              </a:tr>
              <a:tr h="203200">
                <a:tc>
                  <a:txBody>
                    <a:bodyPr/>
                    <a:lstStyle/>
                    <a:p>
                      <a:pPr algn="ctr" fontAlgn="b">
                        <a:buNone/>
                      </a:pPr>
                      <a:r>
                        <a:rPr lang="en-US" sz="1800" u="none" strike="noStrike">
                          <a:effectLst/>
                        </a:rPr>
                        <a:t>Z</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RZ(xᵢ)</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Phase encoding of classical data</a:t>
                      </a:r>
                      <a:endParaRPr lang="en-US" sz="18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800" u="none" strike="noStrike">
                          <a:effectLst/>
                        </a:rPr>
                        <a:t>Local field: </a:t>
                      </a:r>
                    </a:p>
                    <a:p>
                      <a:pPr algn="ctr" fontAlgn="b">
                        <a:buNone/>
                      </a:pPr>
                      <a:r>
                        <a:rPr lang="en-US" sz="1800" u="none" strike="noStrike" err="1">
                          <a:effectLst/>
                        </a:rPr>
                        <a:t>hᵢZ</a:t>
                      </a:r>
                      <a:r>
                        <a:rPr lang="en-US" sz="1800" u="none" strike="noStrike">
                          <a:effectLst/>
                        </a:rPr>
                        <a:t>ᵢ</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None</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867270246"/>
                  </a:ext>
                </a:extLst>
              </a:tr>
              <a:tr h="203200">
                <a:tc>
                  <a:txBody>
                    <a:bodyPr/>
                    <a:lstStyle/>
                    <a:p>
                      <a:pPr algn="ctr" fontAlgn="b">
                        <a:buNone/>
                      </a:pPr>
                      <a:r>
                        <a:rPr lang="en-US" sz="1800" u="none" strike="noStrike">
                          <a:effectLst/>
                        </a:rPr>
                        <a:t>ZZ</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RZ(xᵢ) + ZZᵢⱼ</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Pairwise correlations</a:t>
                      </a:r>
                      <a:endParaRPr lang="en-US" sz="18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800" u="none" strike="noStrike">
                          <a:effectLst/>
                        </a:rPr>
                        <a:t>Coupling: </a:t>
                      </a:r>
                    </a:p>
                    <a:p>
                      <a:pPr algn="ctr" fontAlgn="b">
                        <a:buNone/>
                      </a:pPr>
                      <a:r>
                        <a:rPr lang="en-US" sz="1800" u="none" strike="noStrike">
                          <a:effectLst/>
                        </a:rPr>
                        <a:t>JᵢⱼZᵢZⱼ</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None</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027329203"/>
                  </a:ext>
                </a:extLst>
              </a:tr>
              <a:tr h="203200">
                <a:tc>
                  <a:txBody>
                    <a:bodyPr/>
                    <a:lstStyle/>
                    <a:p>
                      <a:pPr algn="ctr" fontAlgn="b">
                        <a:buNone/>
                      </a:pPr>
                      <a:r>
                        <a:rPr lang="en-US" sz="1800" u="none" strike="noStrike">
                          <a:effectLst/>
                        </a:rPr>
                        <a:t>ZZZ</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RZ(xᵢ) + ZZZᵢⱼₖ</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Higher-order correlations</a:t>
                      </a:r>
                      <a:endParaRPr lang="en-US" sz="18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800" u="none" strike="noStrike">
                          <a:effectLst/>
                        </a:rPr>
                        <a:t>Extended coupling:</a:t>
                      </a:r>
                    </a:p>
                    <a:p>
                      <a:pPr algn="ctr" fontAlgn="b">
                        <a:buNone/>
                      </a:pPr>
                      <a:r>
                        <a:rPr lang="en-US" sz="1800" u="none" strike="noStrike">
                          <a:effectLst/>
                        </a:rPr>
                        <a:t>ZᵢZⱼZₖ</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None</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447031623"/>
                  </a:ext>
                </a:extLst>
              </a:tr>
              <a:tr h="203200">
                <a:tc>
                  <a:txBody>
                    <a:bodyPr/>
                    <a:lstStyle/>
                    <a:p>
                      <a:pPr algn="ctr" fontAlgn="b">
                        <a:buNone/>
                      </a:pPr>
                      <a:r>
                        <a:rPr lang="en-US" sz="1800" u="none" strike="noStrike">
                          <a:effectLst/>
                        </a:rPr>
                        <a:t>X-ZZ</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RX(xᵢ) + ZZᵢⱼ</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Adds quantum fluctuations</a:t>
                      </a:r>
                      <a:endParaRPr lang="en-US" sz="18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800" u="none" strike="noStrike">
                          <a:effectLst/>
                        </a:rPr>
                        <a:t>Coupling: </a:t>
                      </a:r>
                    </a:p>
                    <a:p>
                      <a:pPr algn="ctr" fontAlgn="b">
                        <a:buNone/>
                      </a:pPr>
                      <a:r>
                        <a:rPr lang="en-US" sz="1800" u="none" strike="noStrike">
                          <a:effectLst/>
                        </a:rPr>
                        <a:t>ZᵢZⱼ</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Transverse field: </a:t>
                      </a:r>
                      <a:r>
                        <a:rPr lang="en-US" sz="1800" u="none" strike="noStrike" err="1">
                          <a:effectLst/>
                        </a:rPr>
                        <a:t>gᵢX</a:t>
                      </a:r>
                      <a:r>
                        <a:rPr lang="en-US" sz="1800" u="none" strike="noStrike">
                          <a:effectLst/>
                        </a:rPr>
                        <a:t>ᵢ</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148662914"/>
                  </a:ext>
                </a:extLst>
              </a:tr>
              <a:tr h="203200">
                <a:tc>
                  <a:txBody>
                    <a:bodyPr/>
                    <a:lstStyle/>
                    <a:p>
                      <a:pPr algn="ctr" fontAlgn="b">
                        <a:buNone/>
                      </a:pPr>
                      <a:r>
                        <a:rPr lang="en-US" sz="1800" u="none" strike="noStrike">
                          <a:effectLst/>
                        </a:rPr>
                        <a:t>Z-Y-ZZ</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RZ(xᵢ) + RY(xᵢ) + ZZᵢⱼ</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Rich encoding + entanglement</a:t>
                      </a:r>
                      <a:endParaRPr lang="en-US" sz="18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800" u="none" strike="noStrike" err="1">
                          <a:effectLst/>
                        </a:rPr>
                        <a:t>hᵢZ</a:t>
                      </a:r>
                      <a:r>
                        <a:rPr lang="en-US" sz="1800" u="none" strike="noStrike">
                          <a:effectLst/>
                        </a:rPr>
                        <a:t>ᵢ + JᵢⱼZᵢZⱼ</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Transverse field via </a:t>
                      </a:r>
                      <a:r>
                        <a:rPr lang="en-US" sz="1800" u="none" strike="noStrike" err="1">
                          <a:effectLst/>
                        </a:rPr>
                        <a:t>gᵢY</a:t>
                      </a:r>
                      <a:r>
                        <a:rPr lang="en-US" sz="1800" u="none" strike="noStrike">
                          <a:effectLst/>
                        </a:rPr>
                        <a:t>ᵢ</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835708368"/>
                  </a:ext>
                </a:extLst>
              </a:tr>
            </a:tbl>
          </a:graphicData>
        </a:graphic>
      </p:graphicFrame>
    </p:spTree>
    <p:extLst>
      <p:ext uri="{BB962C8B-B14F-4D97-AF65-F5344CB8AC3E}">
        <p14:creationId xmlns:p14="http://schemas.microsoft.com/office/powerpoint/2010/main" val="1813774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8AC50-2C5E-C35C-3724-5F599FF31094}"/>
              </a:ext>
            </a:extLst>
          </p:cNvPr>
          <p:cNvSpPr>
            <a:spLocks noGrp="1"/>
          </p:cNvSpPr>
          <p:nvPr>
            <p:ph type="title"/>
          </p:nvPr>
        </p:nvSpPr>
        <p:spPr/>
        <p:txBody>
          <a:bodyPr/>
          <a:lstStyle/>
          <a:p>
            <a:r>
              <a:rPr lang="en-US" dirty="0"/>
              <a:t>Binary Classification: Testing Results</a:t>
            </a:r>
          </a:p>
        </p:txBody>
      </p:sp>
      <p:graphicFrame>
        <p:nvGraphicFramePr>
          <p:cNvPr id="7" name="Table 6">
            <a:extLst>
              <a:ext uri="{FF2B5EF4-FFF2-40B4-BE49-F238E27FC236}">
                <a16:creationId xmlns:a16="http://schemas.microsoft.com/office/drawing/2014/main" id="{2881679E-B5DC-5EE1-8316-3F0E0BD298D8}"/>
              </a:ext>
            </a:extLst>
          </p:cNvPr>
          <p:cNvGraphicFramePr>
            <a:graphicFrameLocks noGrp="1"/>
          </p:cNvGraphicFramePr>
          <p:nvPr>
            <p:extLst>
              <p:ext uri="{D42A27DB-BD31-4B8C-83A1-F6EECF244321}">
                <p14:modId xmlns:p14="http://schemas.microsoft.com/office/powerpoint/2010/main" val="1377678847"/>
              </p:ext>
            </p:extLst>
          </p:nvPr>
        </p:nvGraphicFramePr>
        <p:xfrm>
          <a:off x="2612674" y="960282"/>
          <a:ext cx="7393370" cy="4526280"/>
        </p:xfrm>
        <a:graphic>
          <a:graphicData uri="http://schemas.openxmlformats.org/drawingml/2006/table">
            <a:tbl>
              <a:tblPr firstRow="1">
                <a:tableStyleId>{21E4AEA4-8DFA-4A89-87EB-49C32662AFE0}</a:tableStyleId>
              </a:tblPr>
              <a:tblGrid>
                <a:gridCol w="2367092">
                  <a:extLst>
                    <a:ext uri="{9D8B030D-6E8A-4147-A177-3AD203B41FA5}">
                      <a16:colId xmlns:a16="http://schemas.microsoft.com/office/drawing/2014/main" val="3343578391"/>
                    </a:ext>
                  </a:extLst>
                </a:gridCol>
                <a:gridCol w="1258793">
                  <a:extLst>
                    <a:ext uri="{9D8B030D-6E8A-4147-A177-3AD203B41FA5}">
                      <a16:colId xmlns:a16="http://schemas.microsoft.com/office/drawing/2014/main" val="2629570086"/>
                    </a:ext>
                  </a:extLst>
                </a:gridCol>
                <a:gridCol w="856645">
                  <a:extLst>
                    <a:ext uri="{9D8B030D-6E8A-4147-A177-3AD203B41FA5}">
                      <a16:colId xmlns:a16="http://schemas.microsoft.com/office/drawing/2014/main" val="815071320"/>
                    </a:ext>
                  </a:extLst>
                </a:gridCol>
                <a:gridCol w="838200">
                  <a:extLst>
                    <a:ext uri="{9D8B030D-6E8A-4147-A177-3AD203B41FA5}">
                      <a16:colId xmlns:a16="http://schemas.microsoft.com/office/drawing/2014/main" val="2970159505"/>
                    </a:ext>
                  </a:extLst>
                </a:gridCol>
                <a:gridCol w="1020778">
                  <a:extLst>
                    <a:ext uri="{9D8B030D-6E8A-4147-A177-3AD203B41FA5}">
                      <a16:colId xmlns:a16="http://schemas.microsoft.com/office/drawing/2014/main" val="2881707274"/>
                    </a:ext>
                  </a:extLst>
                </a:gridCol>
                <a:gridCol w="1051862">
                  <a:extLst>
                    <a:ext uri="{9D8B030D-6E8A-4147-A177-3AD203B41FA5}">
                      <a16:colId xmlns:a16="http://schemas.microsoft.com/office/drawing/2014/main" val="778097979"/>
                    </a:ext>
                  </a:extLst>
                </a:gridCol>
              </a:tblGrid>
              <a:tr h="190500">
                <a:tc>
                  <a:txBody>
                    <a:bodyPr/>
                    <a:lstStyle/>
                    <a:p>
                      <a:pPr algn="ctr" fontAlgn="b">
                        <a:buNone/>
                      </a:pPr>
                      <a:r>
                        <a:rPr lang="en-US" sz="2000" b="0" u="none" strike="noStrike">
                          <a:solidFill>
                            <a:schemeClr val="bg1"/>
                          </a:solidFill>
                          <a:effectLst/>
                        </a:rPr>
                        <a:t>Simulator</a:t>
                      </a:r>
                      <a:endParaRPr lang="en-US" sz="2000" b="0" i="0" u="none" strike="noStrike">
                        <a:solidFill>
                          <a:schemeClr val="bg1"/>
                        </a:solidFill>
                        <a:effectLst/>
                        <a:latin typeface="Aptos Narrow" panose="020B0004020202020204" pitchFamily="34" charset="0"/>
                      </a:endParaRPr>
                    </a:p>
                  </a:txBody>
                  <a:tcPr marL="9525" marR="9525" marT="9525" marB="0" anchor="ctr"/>
                </a:tc>
                <a:tc>
                  <a:txBody>
                    <a:bodyPr/>
                    <a:lstStyle/>
                    <a:p>
                      <a:pPr algn="ctr" fontAlgn="b">
                        <a:buNone/>
                      </a:pPr>
                      <a:r>
                        <a:rPr lang="en-US" sz="2000" b="0" u="none" strike="noStrike">
                          <a:solidFill>
                            <a:schemeClr val="bg1"/>
                          </a:solidFill>
                          <a:effectLst/>
                        </a:rPr>
                        <a:t>Feature Map</a:t>
                      </a:r>
                      <a:endParaRPr lang="en-US" sz="2000" b="0" i="0" u="none" strike="noStrike">
                        <a:solidFill>
                          <a:schemeClr val="bg1"/>
                        </a:solidFill>
                        <a:effectLst/>
                        <a:latin typeface="Aptos Narrow" panose="020B0004020202020204" pitchFamily="34" charset="0"/>
                      </a:endParaRPr>
                    </a:p>
                  </a:txBody>
                  <a:tcPr marL="9525" marR="9525" marT="9525" marB="0" anchor="ctr"/>
                </a:tc>
                <a:tc>
                  <a:txBody>
                    <a:bodyPr/>
                    <a:lstStyle/>
                    <a:p>
                      <a:pPr algn="ctr" fontAlgn="b">
                        <a:buNone/>
                      </a:pPr>
                      <a:r>
                        <a:rPr lang="en-US" sz="2000" b="0" u="none" strike="noStrike">
                          <a:solidFill>
                            <a:schemeClr val="bg1"/>
                          </a:solidFill>
                          <a:effectLst/>
                        </a:rPr>
                        <a:t>Qubits</a:t>
                      </a:r>
                      <a:endParaRPr lang="en-US" sz="2000" b="0" i="0" u="none" strike="noStrike">
                        <a:solidFill>
                          <a:schemeClr val="bg1"/>
                        </a:solidFill>
                        <a:effectLst/>
                        <a:latin typeface="Aptos Narrow" panose="020B0004020202020204" pitchFamily="34" charset="0"/>
                      </a:endParaRPr>
                    </a:p>
                  </a:txBody>
                  <a:tcPr marL="9525" marR="9525" marT="9525" marB="0" anchor="ctr"/>
                </a:tc>
                <a:tc>
                  <a:txBody>
                    <a:bodyPr/>
                    <a:lstStyle/>
                    <a:p>
                      <a:pPr algn="ctr" fontAlgn="b">
                        <a:buNone/>
                      </a:pPr>
                      <a:r>
                        <a:rPr lang="en-US" sz="2000" b="0" u="none" strike="noStrike">
                          <a:solidFill>
                            <a:schemeClr val="bg1"/>
                          </a:solidFill>
                          <a:effectLst/>
                        </a:rPr>
                        <a:t>Ansatz</a:t>
                      </a:r>
                      <a:endParaRPr lang="en-US" sz="2000" b="0" i="0" u="none" strike="noStrike">
                        <a:solidFill>
                          <a:schemeClr val="bg1"/>
                        </a:solidFill>
                        <a:effectLst/>
                        <a:latin typeface="Aptos Narrow" panose="020B0004020202020204" pitchFamily="34" charset="0"/>
                      </a:endParaRPr>
                    </a:p>
                  </a:txBody>
                  <a:tcPr marL="9525" marR="9525" marT="9525" marB="0" anchor="ctr"/>
                </a:tc>
                <a:tc>
                  <a:txBody>
                    <a:bodyPr/>
                    <a:lstStyle/>
                    <a:p>
                      <a:pPr algn="ctr" fontAlgn="b">
                        <a:buNone/>
                      </a:pPr>
                      <a:r>
                        <a:rPr lang="en-US" sz="2000" b="0" u="none" strike="noStrike">
                          <a:solidFill>
                            <a:schemeClr val="bg1"/>
                          </a:solidFill>
                          <a:effectLst/>
                        </a:rPr>
                        <a:t>Train Score</a:t>
                      </a:r>
                      <a:endParaRPr lang="en-US" sz="2000" b="0" i="0" u="none" strike="noStrike">
                        <a:solidFill>
                          <a:schemeClr val="bg1"/>
                        </a:solidFill>
                        <a:effectLst/>
                        <a:latin typeface="Aptos Narrow" panose="020B0004020202020204" pitchFamily="34" charset="0"/>
                      </a:endParaRPr>
                    </a:p>
                  </a:txBody>
                  <a:tcPr marL="9525" marR="9525" marT="9525" marB="0" anchor="ctr"/>
                </a:tc>
                <a:tc>
                  <a:txBody>
                    <a:bodyPr/>
                    <a:lstStyle/>
                    <a:p>
                      <a:pPr algn="ctr" fontAlgn="b">
                        <a:buNone/>
                      </a:pPr>
                      <a:r>
                        <a:rPr lang="en-US" sz="2000" b="0" u="none" strike="noStrike">
                          <a:solidFill>
                            <a:schemeClr val="bg1"/>
                          </a:solidFill>
                          <a:effectLst/>
                        </a:rPr>
                        <a:t>Test Score</a:t>
                      </a:r>
                      <a:endParaRPr lang="en-US" sz="2000" b="0" i="0" u="none" strike="noStrike">
                        <a:solidFill>
                          <a:schemeClr val="bg1"/>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551986134"/>
                  </a:ext>
                </a:extLst>
              </a:tr>
              <a:tr h="190500">
                <a:tc>
                  <a:txBody>
                    <a:bodyPr/>
                    <a:lstStyle/>
                    <a:p>
                      <a:pPr algn="l" fontAlgn="b">
                        <a:buNone/>
                      </a:pPr>
                      <a:r>
                        <a:rPr lang="en-US" sz="1800" b="0" u="none" strike="noStrike">
                          <a:solidFill>
                            <a:srgbClr val="000000"/>
                          </a:solidFill>
                          <a:effectLst/>
                        </a:rPr>
                        <a:t>AER Simulator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800" b="0" u="none" strike="noStrike">
                          <a:solidFill>
                            <a:srgbClr val="000000"/>
                          </a:solidFill>
                          <a:effectLst/>
                        </a:rPr>
                        <a:t>X, ZZ, 1 layer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6</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full</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71.35%</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71.40%</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058658909"/>
                  </a:ext>
                </a:extLst>
              </a:tr>
              <a:tr h="190500">
                <a:tc>
                  <a:txBody>
                    <a:bodyPr/>
                    <a:lstStyle/>
                    <a:p>
                      <a:pPr algn="l" fontAlgn="b">
                        <a:buNone/>
                      </a:pPr>
                      <a:r>
                        <a:rPr lang="en-US" sz="1800" b="0" u="none" strike="noStrike">
                          <a:solidFill>
                            <a:srgbClr val="000000"/>
                          </a:solidFill>
                          <a:effectLst/>
                        </a:rPr>
                        <a:t>AER Simulator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800" b="0" u="none" strike="noStrike">
                          <a:solidFill>
                            <a:srgbClr val="000000"/>
                          </a:solidFill>
                          <a:effectLst/>
                        </a:rPr>
                        <a:t>X, ZZ, 1 layer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6</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circular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80.05%</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79.26%</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578057059"/>
                  </a:ext>
                </a:extLst>
              </a:tr>
              <a:tr h="190500">
                <a:tc>
                  <a:txBody>
                    <a:bodyPr/>
                    <a:lstStyle/>
                    <a:p>
                      <a:pPr algn="l" fontAlgn="b">
                        <a:buNone/>
                      </a:pPr>
                      <a:r>
                        <a:rPr lang="en-US" sz="1800" b="0" u="none" strike="noStrike">
                          <a:solidFill>
                            <a:srgbClr val="000000"/>
                          </a:solidFill>
                          <a:effectLst/>
                        </a:rPr>
                        <a:t>AER Simulator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800" b="0" u="none" strike="noStrike">
                          <a:solidFill>
                            <a:srgbClr val="000000"/>
                          </a:solidFill>
                          <a:effectLst/>
                        </a:rPr>
                        <a:t>X, ZZ, 1 layer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6</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linear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79.52%</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79.22%</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834259624"/>
                  </a:ext>
                </a:extLst>
              </a:tr>
              <a:tr h="190500">
                <a:tc>
                  <a:txBody>
                    <a:bodyPr/>
                    <a:lstStyle/>
                    <a:p>
                      <a:pPr algn="l" fontAlgn="b">
                        <a:buNone/>
                      </a:pPr>
                      <a:r>
                        <a:rPr lang="en-US" sz="1800" b="0" u="none" strike="noStrike">
                          <a:solidFill>
                            <a:srgbClr val="000000"/>
                          </a:solidFill>
                          <a:effectLst/>
                          <a:highlight>
                            <a:srgbClr val="FFFF00"/>
                          </a:highlight>
                        </a:rPr>
                        <a:t>AER Simulator</a:t>
                      </a:r>
                      <a:endParaRPr lang="en-US" sz="1800" b="0" i="0" u="none" strike="noStrike">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l" fontAlgn="b">
                        <a:buNone/>
                      </a:pPr>
                      <a:r>
                        <a:rPr lang="en-US" sz="1800" b="0" u="none" strike="noStrike">
                          <a:solidFill>
                            <a:srgbClr val="000000"/>
                          </a:solidFill>
                          <a:effectLst/>
                          <a:highlight>
                            <a:srgbClr val="FFFF00"/>
                          </a:highlight>
                        </a:rPr>
                        <a:t>X, ZZ, 1 layer</a:t>
                      </a:r>
                      <a:endParaRPr lang="en-US" sz="1800" b="0" i="0" u="none" strike="noStrike">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highlight>
                            <a:srgbClr val="FFFF00"/>
                          </a:highlight>
                        </a:rPr>
                        <a:t>4</a:t>
                      </a:r>
                      <a:endParaRPr lang="en-US" sz="1800" b="0" i="0" u="none" strike="noStrike">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highlight>
                            <a:srgbClr val="FFFF00"/>
                          </a:highlight>
                        </a:rPr>
                        <a:t>full</a:t>
                      </a:r>
                      <a:endParaRPr lang="en-US" sz="1800" b="0" i="0" u="none" strike="noStrike">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highlight>
                            <a:srgbClr val="FFFF00"/>
                          </a:highlight>
                        </a:rPr>
                        <a:t>86.36%</a:t>
                      </a:r>
                      <a:endParaRPr lang="en-US" sz="1800" b="0" i="0" u="none" strike="noStrike">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highlight>
                            <a:srgbClr val="FFFF00"/>
                          </a:highlight>
                        </a:rPr>
                        <a:t>86.53%</a:t>
                      </a:r>
                      <a:endParaRPr lang="en-US" sz="1800" b="0" i="0" u="none" strike="noStrike">
                        <a:solidFill>
                          <a:srgbClr val="000000"/>
                        </a:solidFill>
                        <a:effectLst/>
                        <a:highlight>
                          <a:srgbClr val="FFFF00"/>
                        </a:highlight>
                        <a:latin typeface="Aptos Narrow" panose="020B0004020202020204" pitchFamily="34" charset="0"/>
                      </a:endParaRPr>
                    </a:p>
                  </a:txBody>
                  <a:tcPr marL="9525" marR="9525" marT="9525" marB="0" anchor="b"/>
                </a:tc>
                <a:extLst>
                  <a:ext uri="{0D108BD9-81ED-4DB2-BD59-A6C34878D82A}">
                    <a16:rowId xmlns:a16="http://schemas.microsoft.com/office/drawing/2014/main" val="1967915202"/>
                  </a:ext>
                </a:extLst>
              </a:tr>
              <a:tr h="190500">
                <a:tc>
                  <a:txBody>
                    <a:bodyPr/>
                    <a:lstStyle/>
                    <a:p>
                      <a:pPr algn="l" fontAlgn="b">
                        <a:buNone/>
                      </a:pPr>
                      <a:r>
                        <a:rPr lang="en-US" sz="1800" b="0" u="none" strike="noStrike">
                          <a:solidFill>
                            <a:srgbClr val="000000"/>
                          </a:solidFill>
                          <a:effectLst/>
                        </a:rPr>
                        <a:t>IBM Osaka Noise Model</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800" b="0" u="none" strike="noStrike">
                          <a:solidFill>
                            <a:srgbClr val="000000"/>
                          </a:solidFill>
                          <a:effectLst/>
                        </a:rPr>
                        <a:t>X, ZZ, 1 layer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4</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full</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78.27%</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78.10%</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654441670"/>
                  </a:ext>
                </a:extLst>
              </a:tr>
              <a:tr h="190500">
                <a:tc>
                  <a:txBody>
                    <a:bodyPr/>
                    <a:lstStyle/>
                    <a:p>
                      <a:pPr algn="l" fontAlgn="b">
                        <a:buNone/>
                      </a:pPr>
                      <a:r>
                        <a:rPr lang="en-US" sz="1800" b="0" u="none" strike="noStrike">
                          <a:solidFill>
                            <a:srgbClr val="000000"/>
                          </a:solidFill>
                          <a:effectLst/>
                        </a:rPr>
                        <a:t>AER Simulator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800" b="0" u="none" strike="noStrike">
                          <a:solidFill>
                            <a:srgbClr val="000000"/>
                          </a:solidFill>
                          <a:effectLst/>
                        </a:rPr>
                        <a:t>Y, ZZ, 1 layer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6</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full</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69.93%</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69.67%</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554147087"/>
                  </a:ext>
                </a:extLst>
              </a:tr>
              <a:tr h="190500">
                <a:tc>
                  <a:txBody>
                    <a:bodyPr/>
                    <a:lstStyle/>
                    <a:p>
                      <a:pPr algn="l" fontAlgn="b">
                        <a:buNone/>
                      </a:pPr>
                      <a:r>
                        <a:rPr lang="en-US" sz="1800" b="0" u="none" strike="noStrike">
                          <a:solidFill>
                            <a:srgbClr val="000000"/>
                          </a:solidFill>
                          <a:effectLst/>
                        </a:rPr>
                        <a:t>AER Simulator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800" b="0" u="none" strike="noStrike">
                          <a:solidFill>
                            <a:srgbClr val="000000"/>
                          </a:solidFill>
                          <a:effectLst/>
                        </a:rPr>
                        <a:t>Y, ZZ, 1 layer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6</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circular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69.95%</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69.67%</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025564224"/>
                  </a:ext>
                </a:extLst>
              </a:tr>
            </a:tbl>
          </a:graphicData>
        </a:graphic>
      </p:graphicFrame>
      <p:sp>
        <p:nvSpPr>
          <p:cNvPr id="9" name="Rectangle: Rounded Corners 8">
            <a:extLst>
              <a:ext uri="{FF2B5EF4-FFF2-40B4-BE49-F238E27FC236}">
                <a16:creationId xmlns:a16="http://schemas.microsoft.com/office/drawing/2014/main" id="{D484B2B7-7F28-F8F3-585C-B18F39650ABB}"/>
              </a:ext>
            </a:extLst>
          </p:cNvPr>
          <p:cNvSpPr/>
          <p:nvPr/>
        </p:nvSpPr>
        <p:spPr>
          <a:xfrm>
            <a:off x="3460933" y="5623833"/>
            <a:ext cx="5544457" cy="9366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a:solidFill>
                  <a:schemeClr val="tx1"/>
                </a:solidFill>
              </a:rPr>
              <a:t>Sample 1</a:t>
            </a:r>
          </a:p>
        </p:txBody>
      </p:sp>
    </p:spTree>
    <p:extLst>
      <p:ext uri="{BB962C8B-B14F-4D97-AF65-F5344CB8AC3E}">
        <p14:creationId xmlns:p14="http://schemas.microsoft.com/office/powerpoint/2010/main" val="371799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7"/>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C0D6D-296F-FB2C-7E3D-FEAEC83FDD98}"/>
              </a:ext>
            </a:extLst>
          </p:cNvPr>
          <p:cNvSpPr>
            <a:spLocks noGrp="1"/>
          </p:cNvSpPr>
          <p:nvPr>
            <p:ph type="title"/>
          </p:nvPr>
        </p:nvSpPr>
        <p:spPr/>
        <p:txBody>
          <a:bodyPr/>
          <a:lstStyle/>
          <a:p>
            <a:r>
              <a:rPr lang="en-US" dirty="0"/>
              <a:t>Binary Classification: Testing Results</a:t>
            </a:r>
          </a:p>
        </p:txBody>
      </p:sp>
      <p:graphicFrame>
        <p:nvGraphicFramePr>
          <p:cNvPr id="4" name="Table 3">
            <a:extLst>
              <a:ext uri="{FF2B5EF4-FFF2-40B4-BE49-F238E27FC236}">
                <a16:creationId xmlns:a16="http://schemas.microsoft.com/office/drawing/2014/main" id="{515946B1-FA7B-24EA-DF35-BD4DD19E5578}"/>
              </a:ext>
            </a:extLst>
          </p:cNvPr>
          <p:cNvGraphicFramePr>
            <a:graphicFrameLocks noGrp="1"/>
          </p:cNvGraphicFramePr>
          <p:nvPr>
            <p:extLst>
              <p:ext uri="{D42A27DB-BD31-4B8C-83A1-F6EECF244321}">
                <p14:modId xmlns:p14="http://schemas.microsoft.com/office/powerpoint/2010/main" val="3269727419"/>
              </p:ext>
            </p:extLst>
          </p:nvPr>
        </p:nvGraphicFramePr>
        <p:xfrm>
          <a:off x="2612674" y="1320962"/>
          <a:ext cx="7393369" cy="4554855"/>
        </p:xfrm>
        <a:graphic>
          <a:graphicData uri="http://schemas.openxmlformats.org/drawingml/2006/table">
            <a:tbl>
              <a:tblPr firstRow="1">
                <a:tableStyleId>{21E4AEA4-8DFA-4A89-87EB-49C32662AFE0}</a:tableStyleId>
              </a:tblPr>
              <a:tblGrid>
                <a:gridCol w="2366687">
                  <a:extLst>
                    <a:ext uri="{9D8B030D-6E8A-4147-A177-3AD203B41FA5}">
                      <a16:colId xmlns:a16="http://schemas.microsoft.com/office/drawing/2014/main" val="2449856266"/>
                    </a:ext>
                  </a:extLst>
                </a:gridCol>
                <a:gridCol w="1259199">
                  <a:extLst>
                    <a:ext uri="{9D8B030D-6E8A-4147-A177-3AD203B41FA5}">
                      <a16:colId xmlns:a16="http://schemas.microsoft.com/office/drawing/2014/main" val="2731534340"/>
                    </a:ext>
                  </a:extLst>
                </a:gridCol>
                <a:gridCol w="863280">
                  <a:extLst>
                    <a:ext uri="{9D8B030D-6E8A-4147-A177-3AD203B41FA5}">
                      <a16:colId xmlns:a16="http://schemas.microsoft.com/office/drawing/2014/main" val="1118385777"/>
                    </a:ext>
                  </a:extLst>
                </a:gridCol>
                <a:gridCol w="868680">
                  <a:extLst>
                    <a:ext uri="{9D8B030D-6E8A-4147-A177-3AD203B41FA5}">
                      <a16:colId xmlns:a16="http://schemas.microsoft.com/office/drawing/2014/main" val="2034519303"/>
                    </a:ext>
                  </a:extLst>
                </a:gridCol>
                <a:gridCol w="983660">
                  <a:extLst>
                    <a:ext uri="{9D8B030D-6E8A-4147-A177-3AD203B41FA5}">
                      <a16:colId xmlns:a16="http://schemas.microsoft.com/office/drawing/2014/main" val="2565130463"/>
                    </a:ext>
                  </a:extLst>
                </a:gridCol>
                <a:gridCol w="1051863">
                  <a:extLst>
                    <a:ext uri="{9D8B030D-6E8A-4147-A177-3AD203B41FA5}">
                      <a16:colId xmlns:a16="http://schemas.microsoft.com/office/drawing/2014/main" val="239469924"/>
                    </a:ext>
                  </a:extLst>
                </a:gridCol>
              </a:tblGrid>
              <a:tr h="258445">
                <a:tc>
                  <a:txBody>
                    <a:bodyPr/>
                    <a:lstStyle/>
                    <a:p>
                      <a:pPr algn="ctr" fontAlgn="b">
                        <a:buNone/>
                      </a:pPr>
                      <a:r>
                        <a:rPr lang="en-US" sz="2000" b="0" u="none" strike="noStrike">
                          <a:solidFill>
                            <a:schemeClr val="bg1"/>
                          </a:solidFill>
                          <a:effectLst/>
                        </a:rPr>
                        <a:t>Simulator</a:t>
                      </a:r>
                      <a:endParaRPr lang="en-US" sz="2000" b="0" i="0" u="none" strike="noStrike">
                        <a:solidFill>
                          <a:schemeClr val="bg1"/>
                        </a:solidFill>
                        <a:effectLst/>
                        <a:latin typeface="Aptos Narrow" panose="020B0004020202020204" pitchFamily="34" charset="0"/>
                      </a:endParaRPr>
                    </a:p>
                  </a:txBody>
                  <a:tcPr marL="9525" marR="9525" marT="9525" marB="0" anchor="ctr"/>
                </a:tc>
                <a:tc>
                  <a:txBody>
                    <a:bodyPr/>
                    <a:lstStyle/>
                    <a:p>
                      <a:pPr algn="ctr" fontAlgn="b">
                        <a:buNone/>
                      </a:pPr>
                      <a:r>
                        <a:rPr lang="en-US" sz="2000" b="0" u="none" strike="noStrike">
                          <a:solidFill>
                            <a:schemeClr val="bg1"/>
                          </a:solidFill>
                          <a:effectLst/>
                        </a:rPr>
                        <a:t>Feature Map</a:t>
                      </a:r>
                      <a:endParaRPr lang="en-US" sz="2000" b="0" i="0" u="none" strike="noStrike">
                        <a:solidFill>
                          <a:schemeClr val="bg1"/>
                        </a:solidFill>
                        <a:effectLst/>
                        <a:latin typeface="Aptos Narrow" panose="020B0004020202020204" pitchFamily="34" charset="0"/>
                      </a:endParaRPr>
                    </a:p>
                  </a:txBody>
                  <a:tcPr marL="9525" marR="9525" marT="9525" marB="0" anchor="ctr"/>
                </a:tc>
                <a:tc>
                  <a:txBody>
                    <a:bodyPr/>
                    <a:lstStyle/>
                    <a:p>
                      <a:pPr algn="ctr" fontAlgn="b">
                        <a:buNone/>
                      </a:pPr>
                      <a:r>
                        <a:rPr lang="en-US" sz="2000" b="0" u="none" strike="noStrike">
                          <a:solidFill>
                            <a:schemeClr val="bg1"/>
                          </a:solidFill>
                          <a:effectLst/>
                        </a:rPr>
                        <a:t>Qubits</a:t>
                      </a:r>
                      <a:endParaRPr lang="en-US" sz="2000" b="0" i="0" u="none" strike="noStrike">
                        <a:solidFill>
                          <a:schemeClr val="bg1"/>
                        </a:solidFill>
                        <a:effectLst/>
                        <a:latin typeface="Aptos Narrow" panose="020B0004020202020204" pitchFamily="34" charset="0"/>
                      </a:endParaRPr>
                    </a:p>
                  </a:txBody>
                  <a:tcPr marL="9525" marR="9525" marT="9525" marB="0" anchor="ctr"/>
                </a:tc>
                <a:tc>
                  <a:txBody>
                    <a:bodyPr/>
                    <a:lstStyle/>
                    <a:p>
                      <a:pPr algn="ctr" fontAlgn="b">
                        <a:buNone/>
                      </a:pPr>
                      <a:r>
                        <a:rPr lang="en-US" sz="2000" b="0" u="none" strike="noStrike">
                          <a:solidFill>
                            <a:schemeClr val="bg1"/>
                          </a:solidFill>
                          <a:effectLst/>
                        </a:rPr>
                        <a:t>Ansatz</a:t>
                      </a:r>
                      <a:endParaRPr lang="en-US" sz="2000" b="0" i="0" u="none" strike="noStrike">
                        <a:solidFill>
                          <a:schemeClr val="bg1"/>
                        </a:solidFill>
                        <a:effectLst/>
                        <a:latin typeface="Aptos Narrow" panose="020B0004020202020204" pitchFamily="34" charset="0"/>
                      </a:endParaRPr>
                    </a:p>
                  </a:txBody>
                  <a:tcPr marL="9525" marR="9525" marT="9525" marB="0" anchor="ctr"/>
                </a:tc>
                <a:tc>
                  <a:txBody>
                    <a:bodyPr/>
                    <a:lstStyle/>
                    <a:p>
                      <a:pPr algn="ctr" fontAlgn="b">
                        <a:buNone/>
                      </a:pPr>
                      <a:r>
                        <a:rPr lang="en-US" sz="2000" b="0" u="none" strike="noStrike">
                          <a:solidFill>
                            <a:schemeClr val="bg1"/>
                          </a:solidFill>
                          <a:effectLst/>
                        </a:rPr>
                        <a:t>Train Score</a:t>
                      </a:r>
                      <a:endParaRPr lang="en-US" sz="2000" b="0" i="0" u="none" strike="noStrike">
                        <a:solidFill>
                          <a:schemeClr val="bg1"/>
                        </a:solidFill>
                        <a:effectLst/>
                        <a:latin typeface="Aptos Narrow" panose="020B0004020202020204" pitchFamily="34" charset="0"/>
                      </a:endParaRPr>
                    </a:p>
                  </a:txBody>
                  <a:tcPr marL="9525" marR="9525" marT="9525" marB="0" anchor="ctr"/>
                </a:tc>
                <a:tc>
                  <a:txBody>
                    <a:bodyPr/>
                    <a:lstStyle/>
                    <a:p>
                      <a:pPr algn="ctr" fontAlgn="b">
                        <a:buNone/>
                      </a:pPr>
                      <a:r>
                        <a:rPr lang="en-US" sz="2000" b="0" u="none" strike="noStrike">
                          <a:solidFill>
                            <a:schemeClr val="bg1"/>
                          </a:solidFill>
                          <a:effectLst/>
                        </a:rPr>
                        <a:t>Test Score</a:t>
                      </a:r>
                      <a:endParaRPr lang="en-US" sz="2000" b="0" i="0" u="none" strike="noStrike">
                        <a:solidFill>
                          <a:schemeClr val="bg1"/>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587568570"/>
                  </a:ext>
                </a:extLst>
              </a:tr>
              <a:tr h="190500">
                <a:tc>
                  <a:txBody>
                    <a:bodyPr/>
                    <a:lstStyle/>
                    <a:p>
                      <a:pPr algn="l" fontAlgn="b">
                        <a:buNone/>
                      </a:pPr>
                      <a:r>
                        <a:rPr lang="en-US" sz="1800" b="0" u="none" strike="noStrike">
                          <a:solidFill>
                            <a:srgbClr val="000000"/>
                          </a:solidFill>
                          <a:effectLst/>
                        </a:rPr>
                        <a:t>AER Simulator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800" b="0" u="none" strike="noStrike">
                          <a:solidFill>
                            <a:srgbClr val="000000"/>
                          </a:solidFill>
                          <a:effectLst/>
                        </a:rPr>
                        <a:t>ZZ, 1 layer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6</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full</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84.40%</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84.04%</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730228432"/>
                  </a:ext>
                </a:extLst>
              </a:tr>
              <a:tr h="190500">
                <a:tc>
                  <a:txBody>
                    <a:bodyPr/>
                    <a:lstStyle/>
                    <a:p>
                      <a:pPr algn="l" fontAlgn="b">
                        <a:buNone/>
                      </a:pPr>
                      <a:r>
                        <a:rPr lang="en-US" sz="1800" b="0" u="none" strike="noStrike">
                          <a:solidFill>
                            <a:srgbClr val="000000"/>
                          </a:solidFill>
                          <a:effectLst/>
                        </a:rPr>
                        <a:t>AER Simulator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800" b="0" u="none" strike="noStrike">
                          <a:solidFill>
                            <a:srgbClr val="000000"/>
                          </a:solidFill>
                          <a:effectLst/>
                        </a:rPr>
                        <a:t>ZZ, 1 layer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6</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linear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83.54%</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83.59%</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446073685"/>
                  </a:ext>
                </a:extLst>
              </a:tr>
              <a:tr h="190500">
                <a:tc>
                  <a:txBody>
                    <a:bodyPr/>
                    <a:lstStyle/>
                    <a:p>
                      <a:pPr algn="l" fontAlgn="b">
                        <a:buNone/>
                      </a:pPr>
                      <a:r>
                        <a:rPr lang="en-US" sz="1800" b="0" u="none" strike="noStrike">
                          <a:solidFill>
                            <a:srgbClr val="000000"/>
                          </a:solidFill>
                          <a:effectLst/>
                        </a:rPr>
                        <a:t>AER Simulator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800" b="0" u="none" strike="noStrike">
                          <a:solidFill>
                            <a:srgbClr val="000000"/>
                          </a:solidFill>
                          <a:effectLst/>
                        </a:rPr>
                        <a:t>ZZ, 1 layer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6</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err="1">
                          <a:solidFill>
                            <a:srgbClr val="000000"/>
                          </a:solidFill>
                          <a:effectLst/>
                        </a:rPr>
                        <a:t>sca</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82.22%</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82.72%</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659408084"/>
                  </a:ext>
                </a:extLst>
              </a:tr>
              <a:tr h="190500">
                <a:tc>
                  <a:txBody>
                    <a:bodyPr/>
                    <a:lstStyle/>
                    <a:p>
                      <a:pPr algn="l" fontAlgn="b">
                        <a:buNone/>
                      </a:pPr>
                      <a:r>
                        <a:rPr lang="en-US" sz="1800" b="0" u="none" strike="noStrike">
                          <a:solidFill>
                            <a:srgbClr val="000000"/>
                          </a:solidFill>
                          <a:effectLst/>
                        </a:rPr>
                        <a:t>AER Simulator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800" b="0" u="none" strike="noStrike">
                          <a:solidFill>
                            <a:srgbClr val="000000"/>
                          </a:solidFill>
                          <a:effectLst/>
                        </a:rPr>
                        <a:t>ZZ, 1 layer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6</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circular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81.95%</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81.37%</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162739393"/>
                  </a:ext>
                </a:extLst>
              </a:tr>
              <a:tr h="190500">
                <a:tc>
                  <a:txBody>
                    <a:bodyPr/>
                    <a:lstStyle/>
                    <a:p>
                      <a:pPr algn="l" fontAlgn="b">
                        <a:buNone/>
                      </a:pPr>
                      <a:r>
                        <a:rPr lang="en-US" sz="1800" b="0" u="none" strike="noStrike">
                          <a:solidFill>
                            <a:srgbClr val="000000"/>
                          </a:solidFill>
                          <a:effectLst/>
                        </a:rPr>
                        <a:t>IBM Osaka Noise Model</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800" b="0" u="none" strike="noStrike">
                          <a:solidFill>
                            <a:srgbClr val="000000"/>
                          </a:solidFill>
                          <a:effectLst/>
                        </a:rPr>
                        <a:t>ZZ, 1 layer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6</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full</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83.39%</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83.36%</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73161163"/>
                  </a:ext>
                </a:extLst>
              </a:tr>
              <a:tr h="190500">
                <a:tc>
                  <a:txBody>
                    <a:bodyPr/>
                    <a:lstStyle/>
                    <a:p>
                      <a:pPr algn="l" fontAlgn="b">
                        <a:buNone/>
                      </a:pPr>
                      <a:r>
                        <a:rPr lang="en-US" sz="1800" b="0" u="none" strike="noStrike">
                          <a:solidFill>
                            <a:srgbClr val="000000"/>
                          </a:solidFill>
                          <a:effectLst/>
                        </a:rPr>
                        <a:t>IBM Torino Noise Model</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800" b="0" u="none" strike="noStrike">
                          <a:solidFill>
                            <a:srgbClr val="000000"/>
                          </a:solidFill>
                          <a:effectLst/>
                        </a:rPr>
                        <a:t>ZZ, 1 layer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6</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full</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81.24%</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82.39%</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585925287"/>
                  </a:ext>
                </a:extLst>
              </a:tr>
              <a:tr h="190500">
                <a:tc>
                  <a:txBody>
                    <a:bodyPr/>
                    <a:lstStyle/>
                    <a:p>
                      <a:pPr algn="l" fontAlgn="b">
                        <a:buNone/>
                      </a:pPr>
                      <a:r>
                        <a:rPr lang="en-US" sz="1800" b="0" u="none" strike="noStrike">
                          <a:solidFill>
                            <a:srgbClr val="000000"/>
                          </a:solidFill>
                          <a:effectLst/>
                        </a:rPr>
                        <a:t>AER Simulator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800" b="0" u="none" strike="noStrike">
                          <a:solidFill>
                            <a:srgbClr val="000000"/>
                          </a:solidFill>
                          <a:effectLst/>
                        </a:rPr>
                        <a:t>ZZ, 1 layer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4</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full</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82.35%</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82.27%</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767252198"/>
                  </a:ext>
                </a:extLst>
              </a:tr>
              <a:tr h="190500">
                <a:tc>
                  <a:txBody>
                    <a:bodyPr/>
                    <a:lstStyle/>
                    <a:p>
                      <a:pPr algn="l" fontAlgn="b">
                        <a:buNone/>
                      </a:pPr>
                      <a:r>
                        <a:rPr lang="en-US" sz="1800" b="0" u="none" strike="noStrike">
                          <a:solidFill>
                            <a:srgbClr val="000000"/>
                          </a:solidFill>
                          <a:effectLst/>
                        </a:rPr>
                        <a:t>IBM Osaka Noise Model</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800" b="0" u="none" strike="noStrike">
                          <a:solidFill>
                            <a:srgbClr val="000000"/>
                          </a:solidFill>
                          <a:effectLst/>
                        </a:rPr>
                        <a:t>ZZ, 1 layer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4</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full</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84.78%</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84.57%</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790420954"/>
                  </a:ext>
                </a:extLst>
              </a:tr>
              <a:tr h="190500">
                <a:tc>
                  <a:txBody>
                    <a:bodyPr/>
                    <a:lstStyle/>
                    <a:p>
                      <a:pPr algn="l" fontAlgn="b">
                        <a:buNone/>
                      </a:pPr>
                      <a:r>
                        <a:rPr lang="en-US" sz="1800" b="0" u="none" strike="noStrike">
                          <a:solidFill>
                            <a:srgbClr val="000000"/>
                          </a:solidFill>
                          <a:effectLst/>
                        </a:rPr>
                        <a:t>AER Simulator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800" b="0" u="none" strike="noStrike">
                          <a:solidFill>
                            <a:srgbClr val="000000"/>
                          </a:solidFill>
                          <a:effectLst/>
                        </a:rPr>
                        <a:t>X, ZZ, 2 layer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6</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full</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81.65%</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81.86%</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089351889"/>
                  </a:ext>
                </a:extLst>
              </a:tr>
              <a:tr h="190500">
                <a:tc>
                  <a:txBody>
                    <a:bodyPr/>
                    <a:lstStyle/>
                    <a:p>
                      <a:pPr algn="l" fontAlgn="b">
                        <a:buNone/>
                      </a:pPr>
                      <a:r>
                        <a:rPr lang="en-US" sz="1800" b="0" u="none" strike="noStrike">
                          <a:solidFill>
                            <a:srgbClr val="000000"/>
                          </a:solidFill>
                          <a:effectLst/>
                        </a:rPr>
                        <a:t>AER Simulator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800" b="0" u="none" strike="noStrike">
                          <a:solidFill>
                            <a:srgbClr val="000000"/>
                          </a:solidFill>
                          <a:effectLst/>
                        </a:rPr>
                        <a:t>ZZ, 2 layer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6</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full</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84.15%</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dirty="0">
                          <a:solidFill>
                            <a:srgbClr val="000000"/>
                          </a:solidFill>
                          <a:effectLst/>
                        </a:rPr>
                        <a:t>84.87%</a:t>
                      </a:r>
                      <a:endParaRPr lang="en-US" sz="18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562558582"/>
                  </a:ext>
                </a:extLst>
              </a:tr>
            </a:tbl>
          </a:graphicData>
        </a:graphic>
      </p:graphicFrame>
      <p:sp>
        <p:nvSpPr>
          <p:cNvPr id="5" name="Rectangle: Rounded Corners 4">
            <a:extLst>
              <a:ext uri="{FF2B5EF4-FFF2-40B4-BE49-F238E27FC236}">
                <a16:creationId xmlns:a16="http://schemas.microsoft.com/office/drawing/2014/main" id="{52767C3D-BA05-C35E-7FFC-436F872C91CB}"/>
              </a:ext>
            </a:extLst>
          </p:cNvPr>
          <p:cNvSpPr/>
          <p:nvPr/>
        </p:nvSpPr>
        <p:spPr>
          <a:xfrm>
            <a:off x="3451968" y="5921375"/>
            <a:ext cx="5544457" cy="9366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a:solidFill>
                  <a:schemeClr val="tx1"/>
                </a:solidFill>
              </a:rPr>
              <a:t>Sample 1</a:t>
            </a:r>
          </a:p>
        </p:txBody>
      </p:sp>
    </p:spTree>
    <p:extLst>
      <p:ext uri="{BB962C8B-B14F-4D97-AF65-F5344CB8AC3E}">
        <p14:creationId xmlns:p14="http://schemas.microsoft.com/office/powerpoint/2010/main" val="1017050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A7F23-6B38-E02B-E380-18F3A0A5B5FC}"/>
              </a:ext>
            </a:extLst>
          </p:cNvPr>
          <p:cNvSpPr>
            <a:spLocks noGrp="1"/>
          </p:cNvSpPr>
          <p:nvPr>
            <p:ph type="title"/>
          </p:nvPr>
        </p:nvSpPr>
        <p:spPr/>
        <p:txBody>
          <a:bodyPr/>
          <a:lstStyle/>
          <a:p>
            <a:r>
              <a:rPr lang="en-US" dirty="0"/>
              <a:t>Testing Results</a:t>
            </a:r>
          </a:p>
        </p:txBody>
      </p:sp>
      <p:sp>
        <p:nvSpPr>
          <p:cNvPr id="4" name="Rectangle: Rounded Corners 3">
            <a:extLst>
              <a:ext uri="{FF2B5EF4-FFF2-40B4-BE49-F238E27FC236}">
                <a16:creationId xmlns:a16="http://schemas.microsoft.com/office/drawing/2014/main" id="{8711DE0E-5E22-588D-A14F-C39A0697947B}"/>
              </a:ext>
            </a:extLst>
          </p:cNvPr>
          <p:cNvSpPr/>
          <p:nvPr/>
        </p:nvSpPr>
        <p:spPr>
          <a:xfrm>
            <a:off x="3460933" y="5612333"/>
            <a:ext cx="5544457" cy="9366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a:solidFill>
                  <a:schemeClr val="tx1"/>
                </a:solidFill>
              </a:rPr>
              <a:t>Sample 2</a:t>
            </a:r>
          </a:p>
        </p:txBody>
      </p:sp>
      <p:graphicFrame>
        <p:nvGraphicFramePr>
          <p:cNvPr id="5" name="Table 4">
            <a:extLst>
              <a:ext uri="{FF2B5EF4-FFF2-40B4-BE49-F238E27FC236}">
                <a16:creationId xmlns:a16="http://schemas.microsoft.com/office/drawing/2014/main" id="{A842C72B-2576-FF8A-4A8D-DB896732AFFE}"/>
              </a:ext>
            </a:extLst>
          </p:cNvPr>
          <p:cNvGraphicFramePr>
            <a:graphicFrameLocks noGrp="1"/>
          </p:cNvGraphicFramePr>
          <p:nvPr>
            <p:extLst>
              <p:ext uri="{D42A27DB-BD31-4B8C-83A1-F6EECF244321}">
                <p14:modId xmlns:p14="http://schemas.microsoft.com/office/powerpoint/2010/main" val="171887285"/>
              </p:ext>
            </p:extLst>
          </p:nvPr>
        </p:nvGraphicFramePr>
        <p:xfrm>
          <a:off x="2612673" y="2128682"/>
          <a:ext cx="7393369" cy="2851785"/>
        </p:xfrm>
        <a:graphic>
          <a:graphicData uri="http://schemas.openxmlformats.org/drawingml/2006/table">
            <a:tbl>
              <a:tblPr firstRow="1">
                <a:tableStyleId>{21E4AEA4-8DFA-4A89-87EB-49C32662AFE0}</a:tableStyleId>
              </a:tblPr>
              <a:tblGrid>
                <a:gridCol w="2383306">
                  <a:extLst>
                    <a:ext uri="{9D8B030D-6E8A-4147-A177-3AD203B41FA5}">
                      <a16:colId xmlns:a16="http://schemas.microsoft.com/office/drawing/2014/main" val="1215249078"/>
                    </a:ext>
                  </a:extLst>
                </a:gridCol>
                <a:gridCol w="1264735">
                  <a:extLst>
                    <a:ext uri="{9D8B030D-6E8A-4147-A177-3AD203B41FA5}">
                      <a16:colId xmlns:a16="http://schemas.microsoft.com/office/drawing/2014/main" val="91859348"/>
                    </a:ext>
                  </a:extLst>
                </a:gridCol>
                <a:gridCol w="856367">
                  <a:extLst>
                    <a:ext uri="{9D8B030D-6E8A-4147-A177-3AD203B41FA5}">
                      <a16:colId xmlns:a16="http://schemas.microsoft.com/office/drawing/2014/main" val="1382592432"/>
                    </a:ext>
                  </a:extLst>
                </a:gridCol>
                <a:gridCol w="868680">
                  <a:extLst>
                    <a:ext uri="{9D8B030D-6E8A-4147-A177-3AD203B41FA5}">
                      <a16:colId xmlns:a16="http://schemas.microsoft.com/office/drawing/2014/main" val="2760211734"/>
                    </a:ext>
                  </a:extLst>
                </a:gridCol>
                <a:gridCol w="982785">
                  <a:extLst>
                    <a:ext uri="{9D8B030D-6E8A-4147-A177-3AD203B41FA5}">
                      <a16:colId xmlns:a16="http://schemas.microsoft.com/office/drawing/2014/main" val="756795125"/>
                    </a:ext>
                  </a:extLst>
                </a:gridCol>
                <a:gridCol w="1037496">
                  <a:extLst>
                    <a:ext uri="{9D8B030D-6E8A-4147-A177-3AD203B41FA5}">
                      <a16:colId xmlns:a16="http://schemas.microsoft.com/office/drawing/2014/main" val="549510941"/>
                    </a:ext>
                  </a:extLst>
                </a:gridCol>
              </a:tblGrid>
              <a:tr h="0">
                <a:tc>
                  <a:txBody>
                    <a:bodyPr/>
                    <a:lstStyle/>
                    <a:p>
                      <a:pPr algn="ctr" fontAlgn="b">
                        <a:buNone/>
                      </a:pPr>
                      <a:r>
                        <a:rPr lang="en-US" sz="2000" b="0" u="none" strike="noStrike">
                          <a:solidFill>
                            <a:schemeClr val="bg1"/>
                          </a:solidFill>
                          <a:effectLst/>
                        </a:rPr>
                        <a:t>Simulator</a:t>
                      </a:r>
                      <a:endParaRPr lang="en-US" sz="2000" b="0" i="0" u="none" strike="noStrike">
                        <a:solidFill>
                          <a:schemeClr val="bg1"/>
                        </a:solidFill>
                        <a:effectLst/>
                        <a:latin typeface="Aptos Narrow" panose="020B0004020202020204" pitchFamily="34" charset="0"/>
                      </a:endParaRPr>
                    </a:p>
                  </a:txBody>
                  <a:tcPr marL="9525" marR="9525" marT="9525" marB="0" anchor="ctr"/>
                </a:tc>
                <a:tc>
                  <a:txBody>
                    <a:bodyPr/>
                    <a:lstStyle/>
                    <a:p>
                      <a:pPr algn="ctr" fontAlgn="b">
                        <a:buNone/>
                      </a:pPr>
                      <a:r>
                        <a:rPr lang="en-US" sz="2000" b="0" u="none" strike="noStrike">
                          <a:solidFill>
                            <a:schemeClr val="bg1"/>
                          </a:solidFill>
                          <a:effectLst/>
                        </a:rPr>
                        <a:t>Feature Map</a:t>
                      </a:r>
                      <a:endParaRPr lang="en-US" sz="2000" b="0" i="0" u="none" strike="noStrike">
                        <a:solidFill>
                          <a:schemeClr val="bg1"/>
                        </a:solidFill>
                        <a:effectLst/>
                        <a:latin typeface="Aptos Narrow" panose="020B0004020202020204" pitchFamily="34" charset="0"/>
                      </a:endParaRPr>
                    </a:p>
                  </a:txBody>
                  <a:tcPr marL="9525" marR="9525" marT="9525" marB="0" anchor="ctr"/>
                </a:tc>
                <a:tc>
                  <a:txBody>
                    <a:bodyPr/>
                    <a:lstStyle/>
                    <a:p>
                      <a:pPr algn="ctr" fontAlgn="b">
                        <a:buNone/>
                      </a:pPr>
                      <a:r>
                        <a:rPr lang="en-US" sz="2000" b="0" u="none" strike="noStrike">
                          <a:solidFill>
                            <a:schemeClr val="bg1"/>
                          </a:solidFill>
                          <a:effectLst/>
                        </a:rPr>
                        <a:t>Qubits</a:t>
                      </a:r>
                      <a:endParaRPr lang="en-US" sz="2000" b="0" i="0" u="none" strike="noStrike">
                        <a:solidFill>
                          <a:schemeClr val="bg1"/>
                        </a:solidFill>
                        <a:effectLst/>
                        <a:latin typeface="Aptos Narrow" panose="020B0004020202020204" pitchFamily="34" charset="0"/>
                      </a:endParaRPr>
                    </a:p>
                  </a:txBody>
                  <a:tcPr marL="9525" marR="9525" marT="9525" marB="0" anchor="ctr"/>
                </a:tc>
                <a:tc>
                  <a:txBody>
                    <a:bodyPr/>
                    <a:lstStyle/>
                    <a:p>
                      <a:pPr algn="ctr" fontAlgn="b">
                        <a:buNone/>
                      </a:pPr>
                      <a:r>
                        <a:rPr lang="en-US" sz="2000" b="0" u="none" strike="noStrike">
                          <a:solidFill>
                            <a:schemeClr val="bg1"/>
                          </a:solidFill>
                          <a:effectLst/>
                        </a:rPr>
                        <a:t>Ansatz</a:t>
                      </a:r>
                      <a:endParaRPr lang="en-US" sz="2000" b="0" i="0" u="none" strike="noStrike">
                        <a:solidFill>
                          <a:schemeClr val="bg1"/>
                        </a:solidFill>
                        <a:effectLst/>
                        <a:latin typeface="Aptos Narrow" panose="020B0004020202020204" pitchFamily="34" charset="0"/>
                      </a:endParaRPr>
                    </a:p>
                  </a:txBody>
                  <a:tcPr marL="9525" marR="9525" marT="9525" marB="0" anchor="ctr"/>
                </a:tc>
                <a:tc>
                  <a:txBody>
                    <a:bodyPr/>
                    <a:lstStyle/>
                    <a:p>
                      <a:pPr algn="ctr" fontAlgn="b">
                        <a:buNone/>
                      </a:pPr>
                      <a:r>
                        <a:rPr lang="en-US" sz="2000" b="0" u="none" strike="noStrike">
                          <a:solidFill>
                            <a:schemeClr val="bg1"/>
                          </a:solidFill>
                          <a:effectLst/>
                        </a:rPr>
                        <a:t>Train Score</a:t>
                      </a:r>
                      <a:endParaRPr lang="en-US" sz="2000" b="0" i="0" u="none" strike="noStrike">
                        <a:solidFill>
                          <a:schemeClr val="bg1"/>
                        </a:solidFill>
                        <a:effectLst/>
                        <a:latin typeface="Aptos Narrow" panose="020B0004020202020204" pitchFamily="34" charset="0"/>
                      </a:endParaRPr>
                    </a:p>
                  </a:txBody>
                  <a:tcPr marL="9525" marR="9525" marT="9525" marB="0" anchor="ctr"/>
                </a:tc>
                <a:tc>
                  <a:txBody>
                    <a:bodyPr/>
                    <a:lstStyle/>
                    <a:p>
                      <a:pPr algn="ctr" fontAlgn="b">
                        <a:buNone/>
                      </a:pPr>
                      <a:r>
                        <a:rPr lang="en-US" sz="2000" b="0" u="none" strike="noStrike">
                          <a:solidFill>
                            <a:schemeClr val="bg1"/>
                          </a:solidFill>
                          <a:effectLst/>
                        </a:rPr>
                        <a:t>Test Score</a:t>
                      </a:r>
                      <a:endParaRPr lang="en-US" sz="2000" b="0" i="0" u="none" strike="noStrike">
                        <a:solidFill>
                          <a:schemeClr val="bg1"/>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2918347236"/>
                  </a:ext>
                </a:extLst>
              </a:tr>
              <a:tr h="190500">
                <a:tc>
                  <a:txBody>
                    <a:bodyPr/>
                    <a:lstStyle/>
                    <a:p>
                      <a:pPr algn="l" fontAlgn="b">
                        <a:buNone/>
                      </a:pPr>
                      <a:r>
                        <a:rPr lang="en-US" sz="1800" b="0" u="none" strike="noStrike">
                          <a:solidFill>
                            <a:srgbClr val="000000"/>
                          </a:solidFill>
                          <a:effectLst/>
                        </a:rPr>
                        <a:t>AER Simulator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800" b="0" u="none" strike="noStrike">
                          <a:solidFill>
                            <a:srgbClr val="000000"/>
                          </a:solidFill>
                          <a:effectLst/>
                        </a:rPr>
                        <a:t>ZZ, 1 layer, full</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8</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full</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72.97%</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73.13%</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448162702"/>
                  </a:ext>
                </a:extLst>
              </a:tr>
              <a:tr h="190500">
                <a:tc>
                  <a:txBody>
                    <a:bodyPr/>
                    <a:lstStyle/>
                    <a:p>
                      <a:pPr algn="l" fontAlgn="b">
                        <a:buNone/>
                      </a:pPr>
                      <a:r>
                        <a:rPr lang="en-US" sz="1800" b="0" u="none" strike="noStrike">
                          <a:solidFill>
                            <a:srgbClr val="000000"/>
                          </a:solidFill>
                          <a:effectLst/>
                        </a:rPr>
                        <a:t>AER Simulator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800" b="0" u="none" strike="noStrike">
                          <a:solidFill>
                            <a:srgbClr val="000000"/>
                          </a:solidFill>
                          <a:effectLst/>
                        </a:rPr>
                        <a:t>X, ZZ, 1 layer, full</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8</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full</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77.45%</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77.76%</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408483326"/>
                  </a:ext>
                </a:extLst>
              </a:tr>
              <a:tr h="190500">
                <a:tc>
                  <a:txBody>
                    <a:bodyPr/>
                    <a:lstStyle/>
                    <a:p>
                      <a:pPr algn="l" fontAlgn="b">
                        <a:buNone/>
                      </a:pPr>
                      <a:r>
                        <a:rPr lang="en-US" sz="1800" b="0" u="none" strike="noStrike">
                          <a:solidFill>
                            <a:srgbClr val="000000"/>
                          </a:solidFill>
                          <a:effectLst/>
                        </a:rPr>
                        <a:t>AER Simulator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800" b="0" u="none" strike="noStrike">
                          <a:solidFill>
                            <a:srgbClr val="000000"/>
                          </a:solidFill>
                          <a:effectLst/>
                        </a:rPr>
                        <a:t>X, ZZ, 1 layer, full</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4</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full</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74.09%</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74.69%</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226925289"/>
                  </a:ext>
                </a:extLst>
              </a:tr>
              <a:tr h="190500">
                <a:tc>
                  <a:txBody>
                    <a:bodyPr/>
                    <a:lstStyle/>
                    <a:p>
                      <a:pPr algn="l" fontAlgn="b">
                        <a:buNone/>
                      </a:pPr>
                      <a:r>
                        <a:rPr lang="en-US" sz="1800" b="0" u="none" strike="noStrike">
                          <a:solidFill>
                            <a:srgbClr val="000000"/>
                          </a:solidFill>
                          <a:effectLst/>
                          <a:highlight>
                            <a:srgbClr val="FFFF00"/>
                          </a:highlight>
                        </a:rPr>
                        <a:t>AER Simulator</a:t>
                      </a:r>
                      <a:endParaRPr lang="en-US" sz="1800" b="0" i="0" u="none" strike="noStrike">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l" fontAlgn="b">
                        <a:buNone/>
                      </a:pPr>
                      <a:r>
                        <a:rPr lang="en-US" sz="1800" b="0" u="none" strike="noStrike">
                          <a:solidFill>
                            <a:srgbClr val="000000"/>
                          </a:solidFill>
                          <a:effectLst/>
                          <a:highlight>
                            <a:srgbClr val="FFFF00"/>
                          </a:highlight>
                        </a:rPr>
                        <a:t>ZZ, 1 layer, full</a:t>
                      </a:r>
                      <a:endParaRPr lang="en-US" sz="1800" b="0" i="0" u="none" strike="noStrike">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highlight>
                            <a:srgbClr val="FFFF00"/>
                          </a:highlight>
                        </a:rPr>
                        <a:t>4</a:t>
                      </a:r>
                      <a:endParaRPr lang="en-US" sz="1800" b="0" i="0" u="none" strike="noStrike">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highlight>
                            <a:srgbClr val="FFFF00"/>
                          </a:highlight>
                        </a:rPr>
                        <a:t>full</a:t>
                      </a:r>
                      <a:endParaRPr lang="en-US" sz="1800" b="0" i="0" u="none" strike="noStrike">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highlight>
                            <a:srgbClr val="FFFF00"/>
                          </a:highlight>
                        </a:rPr>
                        <a:t>97.19%</a:t>
                      </a:r>
                      <a:endParaRPr lang="en-US" sz="1800" b="0" i="0" u="none" strike="noStrike">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r" fontAlgn="b">
                        <a:buNone/>
                      </a:pPr>
                      <a:r>
                        <a:rPr lang="en-US" sz="1800" b="0" u="none" strike="noStrike" dirty="0">
                          <a:solidFill>
                            <a:srgbClr val="000000"/>
                          </a:solidFill>
                          <a:effectLst/>
                          <a:highlight>
                            <a:srgbClr val="FFFF00"/>
                          </a:highlight>
                        </a:rPr>
                        <a:t>96.67%</a:t>
                      </a:r>
                      <a:endParaRPr lang="en-US" sz="1800" b="0" i="0" u="none" strike="noStrike" dirty="0">
                        <a:solidFill>
                          <a:srgbClr val="000000"/>
                        </a:solidFill>
                        <a:effectLst/>
                        <a:highlight>
                          <a:srgbClr val="FFFF00"/>
                        </a:highlight>
                        <a:latin typeface="Aptos Narrow" panose="020B0004020202020204" pitchFamily="34" charset="0"/>
                      </a:endParaRPr>
                    </a:p>
                  </a:txBody>
                  <a:tcPr marL="9525" marR="9525" marT="9525" marB="0" anchor="b"/>
                </a:tc>
                <a:extLst>
                  <a:ext uri="{0D108BD9-81ED-4DB2-BD59-A6C34878D82A}">
                    <a16:rowId xmlns:a16="http://schemas.microsoft.com/office/drawing/2014/main" val="2600222731"/>
                  </a:ext>
                </a:extLst>
              </a:tr>
            </a:tbl>
          </a:graphicData>
        </a:graphic>
      </p:graphicFrame>
    </p:spTree>
    <p:extLst>
      <p:ext uri="{BB962C8B-B14F-4D97-AF65-F5344CB8AC3E}">
        <p14:creationId xmlns:p14="http://schemas.microsoft.com/office/powerpoint/2010/main" val="2830454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5"/>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7AE15-3551-D44F-A511-1AE9082A7CE2}"/>
              </a:ext>
            </a:extLst>
          </p:cNvPr>
          <p:cNvSpPr>
            <a:spLocks noGrp="1"/>
          </p:cNvSpPr>
          <p:nvPr>
            <p:ph type="title"/>
          </p:nvPr>
        </p:nvSpPr>
        <p:spPr/>
        <p:txBody>
          <a:bodyPr/>
          <a:lstStyle/>
          <a:p>
            <a:r>
              <a:rPr lang="en-US" dirty="0"/>
              <a:t>Binary Classification: Testing Results</a:t>
            </a:r>
          </a:p>
        </p:txBody>
      </p:sp>
      <p:sp>
        <p:nvSpPr>
          <p:cNvPr id="4" name="Rectangle: Rounded Corners 3">
            <a:extLst>
              <a:ext uri="{FF2B5EF4-FFF2-40B4-BE49-F238E27FC236}">
                <a16:creationId xmlns:a16="http://schemas.microsoft.com/office/drawing/2014/main" id="{FB3CF6A3-D459-9FD8-5543-86040873D9E4}"/>
              </a:ext>
            </a:extLst>
          </p:cNvPr>
          <p:cNvSpPr/>
          <p:nvPr/>
        </p:nvSpPr>
        <p:spPr>
          <a:xfrm>
            <a:off x="3238611" y="5197316"/>
            <a:ext cx="5544457" cy="9366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a:solidFill>
                  <a:schemeClr val="tx1"/>
                </a:solidFill>
              </a:rPr>
              <a:t>Sample 3</a:t>
            </a:r>
          </a:p>
        </p:txBody>
      </p:sp>
      <p:graphicFrame>
        <p:nvGraphicFramePr>
          <p:cNvPr id="5" name="Table 4">
            <a:extLst>
              <a:ext uri="{FF2B5EF4-FFF2-40B4-BE49-F238E27FC236}">
                <a16:creationId xmlns:a16="http://schemas.microsoft.com/office/drawing/2014/main" id="{69969A10-5F5A-055B-8E12-E7804DE3AABC}"/>
              </a:ext>
            </a:extLst>
          </p:cNvPr>
          <p:cNvGraphicFramePr>
            <a:graphicFrameLocks noGrp="1"/>
          </p:cNvGraphicFramePr>
          <p:nvPr>
            <p:extLst>
              <p:ext uri="{D42A27DB-BD31-4B8C-83A1-F6EECF244321}">
                <p14:modId xmlns:p14="http://schemas.microsoft.com/office/powerpoint/2010/main" val="873656658"/>
              </p:ext>
            </p:extLst>
          </p:nvPr>
        </p:nvGraphicFramePr>
        <p:xfrm>
          <a:off x="2399315" y="2003107"/>
          <a:ext cx="7393369" cy="2851785"/>
        </p:xfrm>
        <a:graphic>
          <a:graphicData uri="http://schemas.openxmlformats.org/drawingml/2006/table">
            <a:tbl>
              <a:tblPr firstRow="1">
                <a:tableStyleId>{21E4AEA4-8DFA-4A89-87EB-49C32662AFE0}</a:tableStyleId>
              </a:tblPr>
              <a:tblGrid>
                <a:gridCol w="2383306">
                  <a:extLst>
                    <a:ext uri="{9D8B030D-6E8A-4147-A177-3AD203B41FA5}">
                      <a16:colId xmlns:a16="http://schemas.microsoft.com/office/drawing/2014/main" val="1215249078"/>
                    </a:ext>
                  </a:extLst>
                </a:gridCol>
                <a:gridCol w="1264735">
                  <a:extLst>
                    <a:ext uri="{9D8B030D-6E8A-4147-A177-3AD203B41FA5}">
                      <a16:colId xmlns:a16="http://schemas.microsoft.com/office/drawing/2014/main" val="91859348"/>
                    </a:ext>
                  </a:extLst>
                </a:gridCol>
                <a:gridCol w="841128">
                  <a:extLst>
                    <a:ext uri="{9D8B030D-6E8A-4147-A177-3AD203B41FA5}">
                      <a16:colId xmlns:a16="http://schemas.microsoft.com/office/drawing/2014/main" val="1382592432"/>
                    </a:ext>
                  </a:extLst>
                </a:gridCol>
                <a:gridCol w="868680">
                  <a:extLst>
                    <a:ext uri="{9D8B030D-6E8A-4147-A177-3AD203B41FA5}">
                      <a16:colId xmlns:a16="http://schemas.microsoft.com/office/drawing/2014/main" val="2760211734"/>
                    </a:ext>
                  </a:extLst>
                </a:gridCol>
                <a:gridCol w="998024">
                  <a:extLst>
                    <a:ext uri="{9D8B030D-6E8A-4147-A177-3AD203B41FA5}">
                      <a16:colId xmlns:a16="http://schemas.microsoft.com/office/drawing/2014/main" val="756795125"/>
                    </a:ext>
                  </a:extLst>
                </a:gridCol>
                <a:gridCol w="1037496">
                  <a:extLst>
                    <a:ext uri="{9D8B030D-6E8A-4147-A177-3AD203B41FA5}">
                      <a16:colId xmlns:a16="http://schemas.microsoft.com/office/drawing/2014/main" val="549510941"/>
                    </a:ext>
                  </a:extLst>
                </a:gridCol>
              </a:tblGrid>
              <a:tr h="0">
                <a:tc>
                  <a:txBody>
                    <a:bodyPr/>
                    <a:lstStyle/>
                    <a:p>
                      <a:pPr algn="ctr" fontAlgn="b">
                        <a:buNone/>
                      </a:pPr>
                      <a:r>
                        <a:rPr lang="en-US" sz="2000" b="0" u="none" strike="noStrike">
                          <a:solidFill>
                            <a:schemeClr val="bg1"/>
                          </a:solidFill>
                          <a:effectLst/>
                        </a:rPr>
                        <a:t>Simulator</a:t>
                      </a:r>
                      <a:endParaRPr lang="en-US" sz="2000" b="0" i="0" u="none" strike="noStrike">
                        <a:solidFill>
                          <a:schemeClr val="bg1"/>
                        </a:solidFill>
                        <a:effectLst/>
                        <a:latin typeface="Aptos Narrow" panose="020B0004020202020204" pitchFamily="34" charset="0"/>
                      </a:endParaRPr>
                    </a:p>
                  </a:txBody>
                  <a:tcPr marL="9525" marR="9525" marT="9525" marB="0" anchor="ctr"/>
                </a:tc>
                <a:tc>
                  <a:txBody>
                    <a:bodyPr/>
                    <a:lstStyle/>
                    <a:p>
                      <a:pPr algn="ctr" fontAlgn="b">
                        <a:buNone/>
                      </a:pPr>
                      <a:r>
                        <a:rPr lang="en-US" sz="2000" b="0" u="none" strike="noStrike">
                          <a:solidFill>
                            <a:schemeClr val="bg1"/>
                          </a:solidFill>
                          <a:effectLst/>
                        </a:rPr>
                        <a:t>Feature Map</a:t>
                      </a:r>
                      <a:endParaRPr lang="en-US" sz="2000" b="0" i="0" u="none" strike="noStrike">
                        <a:solidFill>
                          <a:schemeClr val="bg1"/>
                        </a:solidFill>
                        <a:effectLst/>
                        <a:latin typeface="Aptos Narrow" panose="020B0004020202020204" pitchFamily="34" charset="0"/>
                      </a:endParaRPr>
                    </a:p>
                  </a:txBody>
                  <a:tcPr marL="9525" marR="9525" marT="9525" marB="0" anchor="ctr"/>
                </a:tc>
                <a:tc>
                  <a:txBody>
                    <a:bodyPr/>
                    <a:lstStyle/>
                    <a:p>
                      <a:pPr algn="ctr" fontAlgn="b">
                        <a:buNone/>
                      </a:pPr>
                      <a:r>
                        <a:rPr lang="en-US" sz="2000" b="0" u="none" strike="noStrike">
                          <a:solidFill>
                            <a:schemeClr val="bg1"/>
                          </a:solidFill>
                          <a:effectLst/>
                        </a:rPr>
                        <a:t>Qubits</a:t>
                      </a:r>
                      <a:endParaRPr lang="en-US" sz="2000" b="0" i="0" u="none" strike="noStrike">
                        <a:solidFill>
                          <a:schemeClr val="bg1"/>
                        </a:solidFill>
                        <a:effectLst/>
                        <a:latin typeface="Aptos Narrow" panose="020B0004020202020204" pitchFamily="34" charset="0"/>
                      </a:endParaRPr>
                    </a:p>
                  </a:txBody>
                  <a:tcPr marL="9525" marR="9525" marT="9525" marB="0" anchor="ctr"/>
                </a:tc>
                <a:tc>
                  <a:txBody>
                    <a:bodyPr/>
                    <a:lstStyle/>
                    <a:p>
                      <a:pPr algn="ctr" fontAlgn="b">
                        <a:buNone/>
                      </a:pPr>
                      <a:r>
                        <a:rPr lang="en-US" sz="2000" b="0" u="none" strike="noStrike">
                          <a:solidFill>
                            <a:schemeClr val="bg1"/>
                          </a:solidFill>
                          <a:effectLst/>
                        </a:rPr>
                        <a:t>Ansatz</a:t>
                      </a:r>
                      <a:endParaRPr lang="en-US" sz="2000" b="0" i="0" u="none" strike="noStrike">
                        <a:solidFill>
                          <a:schemeClr val="bg1"/>
                        </a:solidFill>
                        <a:effectLst/>
                        <a:latin typeface="Aptos Narrow" panose="020B0004020202020204" pitchFamily="34" charset="0"/>
                      </a:endParaRPr>
                    </a:p>
                  </a:txBody>
                  <a:tcPr marL="9525" marR="9525" marT="9525" marB="0" anchor="ctr"/>
                </a:tc>
                <a:tc>
                  <a:txBody>
                    <a:bodyPr/>
                    <a:lstStyle/>
                    <a:p>
                      <a:pPr algn="ctr" fontAlgn="b">
                        <a:buNone/>
                      </a:pPr>
                      <a:r>
                        <a:rPr lang="en-US" sz="2000" b="0" u="none" strike="noStrike" dirty="0">
                          <a:solidFill>
                            <a:schemeClr val="bg1"/>
                          </a:solidFill>
                          <a:effectLst/>
                        </a:rPr>
                        <a:t>Train Score</a:t>
                      </a:r>
                      <a:endParaRPr lang="en-US" sz="2000" b="0" i="0" u="none" strike="noStrike" dirty="0">
                        <a:solidFill>
                          <a:schemeClr val="bg1"/>
                        </a:solidFill>
                        <a:effectLst/>
                        <a:latin typeface="Aptos Narrow" panose="020B0004020202020204" pitchFamily="34" charset="0"/>
                      </a:endParaRPr>
                    </a:p>
                  </a:txBody>
                  <a:tcPr marL="9525" marR="9525" marT="9525" marB="0" anchor="ctr"/>
                </a:tc>
                <a:tc>
                  <a:txBody>
                    <a:bodyPr/>
                    <a:lstStyle/>
                    <a:p>
                      <a:pPr algn="ctr" fontAlgn="b">
                        <a:buNone/>
                      </a:pPr>
                      <a:r>
                        <a:rPr lang="en-US" sz="2000" b="0" u="none" strike="noStrike">
                          <a:solidFill>
                            <a:schemeClr val="bg1"/>
                          </a:solidFill>
                          <a:effectLst/>
                        </a:rPr>
                        <a:t>Test Score</a:t>
                      </a:r>
                      <a:endParaRPr lang="en-US" sz="2000" b="0" i="0" u="none" strike="noStrike">
                        <a:solidFill>
                          <a:schemeClr val="bg1"/>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2918347236"/>
                  </a:ext>
                </a:extLst>
              </a:tr>
              <a:tr h="190500">
                <a:tc>
                  <a:txBody>
                    <a:bodyPr/>
                    <a:lstStyle/>
                    <a:p>
                      <a:pPr algn="l" fontAlgn="b">
                        <a:buNone/>
                      </a:pPr>
                      <a:r>
                        <a:rPr lang="en-US" sz="1800" b="0" u="none" strike="noStrike">
                          <a:solidFill>
                            <a:srgbClr val="000000"/>
                          </a:solidFill>
                          <a:effectLst/>
                        </a:rPr>
                        <a:t>AER Simulator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800" b="0" u="none" strike="noStrike">
                          <a:solidFill>
                            <a:srgbClr val="000000"/>
                          </a:solidFill>
                          <a:effectLst/>
                        </a:rPr>
                        <a:t>ZZ, 1 layer, full</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8</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full</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72.97%</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73.13%</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448162702"/>
                  </a:ext>
                </a:extLst>
              </a:tr>
              <a:tr h="190500">
                <a:tc>
                  <a:txBody>
                    <a:bodyPr/>
                    <a:lstStyle/>
                    <a:p>
                      <a:pPr algn="l" fontAlgn="b">
                        <a:buNone/>
                      </a:pPr>
                      <a:r>
                        <a:rPr lang="en-US" sz="1800" b="0" u="none" strike="noStrike">
                          <a:solidFill>
                            <a:srgbClr val="000000"/>
                          </a:solidFill>
                          <a:effectLst/>
                        </a:rPr>
                        <a:t>AER Simulator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800" b="0" u="none" strike="noStrike">
                          <a:solidFill>
                            <a:srgbClr val="000000"/>
                          </a:solidFill>
                          <a:effectLst/>
                        </a:rPr>
                        <a:t>X, ZZ, 1 layer, full</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8</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full</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77.45%</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77.76%</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408483326"/>
                  </a:ext>
                </a:extLst>
              </a:tr>
              <a:tr h="190500">
                <a:tc>
                  <a:txBody>
                    <a:bodyPr/>
                    <a:lstStyle/>
                    <a:p>
                      <a:pPr algn="l" fontAlgn="b">
                        <a:buNone/>
                      </a:pPr>
                      <a:r>
                        <a:rPr lang="en-US" sz="1800" b="0" u="none" strike="noStrike">
                          <a:solidFill>
                            <a:srgbClr val="000000"/>
                          </a:solidFill>
                          <a:effectLst/>
                        </a:rPr>
                        <a:t>AER Simulator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800" b="0" u="none" strike="noStrike">
                          <a:solidFill>
                            <a:srgbClr val="000000"/>
                          </a:solidFill>
                          <a:effectLst/>
                        </a:rPr>
                        <a:t>X, ZZ, 1 layer, full</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4</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full</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74.09%</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74.69%</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226925289"/>
                  </a:ext>
                </a:extLst>
              </a:tr>
              <a:tr h="190500">
                <a:tc>
                  <a:txBody>
                    <a:bodyPr/>
                    <a:lstStyle/>
                    <a:p>
                      <a:pPr algn="l" fontAlgn="b">
                        <a:buNone/>
                      </a:pPr>
                      <a:r>
                        <a:rPr lang="en-US" sz="1800" b="0" u="none" strike="noStrike">
                          <a:solidFill>
                            <a:srgbClr val="000000"/>
                          </a:solidFill>
                          <a:effectLst/>
                          <a:highlight>
                            <a:srgbClr val="FFFF00"/>
                          </a:highlight>
                        </a:rPr>
                        <a:t>AER Simulator</a:t>
                      </a:r>
                      <a:endParaRPr lang="en-US" sz="1800" b="0" i="0" u="none" strike="noStrike">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l" fontAlgn="b">
                        <a:buNone/>
                      </a:pPr>
                      <a:r>
                        <a:rPr lang="en-US" sz="1800" b="0" u="none" strike="noStrike">
                          <a:solidFill>
                            <a:srgbClr val="000000"/>
                          </a:solidFill>
                          <a:effectLst/>
                          <a:highlight>
                            <a:srgbClr val="FFFF00"/>
                          </a:highlight>
                        </a:rPr>
                        <a:t>ZZ, 1 layer, full</a:t>
                      </a:r>
                      <a:endParaRPr lang="en-US" sz="1800" b="0" i="0" u="none" strike="noStrike">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highlight>
                            <a:srgbClr val="FFFF00"/>
                          </a:highlight>
                        </a:rPr>
                        <a:t>4</a:t>
                      </a:r>
                      <a:endParaRPr lang="en-US" sz="1800" b="0" i="0" u="none" strike="noStrike">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highlight>
                            <a:srgbClr val="FFFF00"/>
                          </a:highlight>
                        </a:rPr>
                        <a:t>full</a:t>
                      </a:r>
                      <a:endParaRPr lang="en-US" sz="1800" b="0" i="0" u="none" strike="noStrike">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highlight>
                            <a:srgbClr val="FFFF00"/>
                          </a:highlight>
                        </a:rPr>
                        <a:t>97.19%</a:t>
                      </a:r>
                      <a:endParaRPr lang="en-US" sz="1800" b="0" i="0" u="none" strike="noStrike">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r" fontAlgn="b">
                        <a:buNone/>
                      </a:pPr>
                      <a:r>
                        <a:rPr lang="en-US" sz="1800" b="0" u="none" strike="noStrike" dirty="0">
                          <a:solidFill>
                            <a:srgbClr val="000000"/>
                          </a:solidFill>
                          <a:effectLst/>
                          <a:highlight>
                            <a:srgbClr val="FFFF00"/>
                          </a:highlight>
                        </a:rPr>
                        <a:t>96.67%</a:t>
                      </a:r>
                      <a:endParaRPr lang="en-US" sz="1800" b="0" i="0" u="none" strike="noStrike" dirty="0">
                        <a:solidFill>
                          <a:srgbClr val="000000"/>
                        </a:solidFill>
                        <a:effectLst/>
                        <a:highlight>
                          <a:srgbClr val="FFFF00"/>
                        </a:highlight>
                        <a:latin typeface="Aptos Narrow" panose="020B0004020202020204" pitchFamily="34" charset="0"/>
                      </a:endParaRPr>
                    </a:p>
                  </a:txBody>
                  <a:tcPr marL="9525" marR="9525" marT="9525" marB="0" anchor="b"/>
                </a:tc>
                <a:extLst>
                  <a:ext uri="{0D108BD9-81ED-4DB2-BD59-A6C34878D82A}">
                    <a16:rowId xmlns:a16="http://schemas.microsoft.com/office/drawing/2014/main" val="2600222731"/>
                  </a:ext>
                </a:extLst>
              </a:tr>
            </a:tbl>
          </a:graphicData>
        </a:graphic>
      </p:graphicFrame>
    </p:spTree>
    <p:extLst>
      <p:ext uri="{BB962C8B-B14F-4D97-AF65-F5344CB8AC3E}">
        <p14:creationId xmlns:p14="http://schemas.microsoft.com/office/powerpoint/2010/main" val="4088578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4"/>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08BBC-70D4-B5D5-C572-F3D3DAFD13C7}"/>
              </a:ext>
            </a:extLst>
          </p:cNvPr>
          <p:cNvSpPr>
            <a:spLocks noGrp="1"/>
          </p:cNvSpPr>
          <p:nvPr>
            <p:ph type="title"/>
          </p:nvPr>
        </p:nvSpPr>
        <p:spPr/>
        <p:txBody>
          <a:bodyPr/>
          <a:lstStyle/>
          <a:p>
            <a:r>
              <a:rPr lang="en-US" dirty="0"/>
              <a:t>Binary Classification: Testing Results</a:t>
            </a:r>
          </a:p>
        </p:txBody>
      </p:sp>
      <p:sp>
        <p:nvSpPr>
          <p:cNvPr id="4" name="Rectangle: Rounded Corners 3">
            <a:extLst>
              <a:ext uri="{FF2B5EF4-FFF2-40B4-BE49-F238E27FC236}">
                <a16:creationId xmlns:a16="http://schemas.microsoft.com/office/drawing/2014/main" id="{C5C89D30-48EC-EFCD-2619-6EE3C058399E}"/>
              </a:ext>
            </a:extLst>
          </p:cNvPr>
          <p:cNvSpPr/>
          <p:nvPr/>
        </p:nvSpPr>
        <p:spPr>
          <a:xfrm>
            <a:off x="3460932" y="5611241"/>
            <a:ext cx="5544457" cy="9366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a:solidFill>
                  <a:schemeClr val="tx1"/>
                </a:solidFill>
              </a:rPr>
              <a:t>Sample 4 (Synthetic)</a:t>
            </a:r>
          </a:p>
        </p:txBody>
      </p:sp>
      <p:graphicFrame>
        <p:nvGraphicFramePr>
          <p:cNvPr id="5" name="Table 4">
            <a:extLst>
              <a:ext uri="{FF2B5EF4-FFF2-40B4-BE49-F238E27FC236}">
                <a16:creationId xmlns:a16="http://schemas.microsoft.com/office/drawing/2014/main" id="{57958915-124C-A254-8326-771F30974415}"/>
              </a:ext>
            </a:extLst>
          </p:cNvPr>
          <p:cNvGraphicFramePr>
            <a:graphicFrameLocks noGrp="1"/>
          </p:cNvGraphicFramePr>
          <p:nvPr>
            <p:extLst>
              <p:ext uri="{D42A27DB-BD31-4B8C-83A1-F6EECF244321}">
                <p14:modId xmlns:p14="http://schemas.microsoft.com/office/powerpoint/2010/main" val="4158127433"/>
              </p:ext>
            </p:extLst>
          </p:nvPr>
        </p:nvGraphicFramePr>
        <p:xfrm>
          <a:off x="2612672" y="959190"/>
          <a:ext cx="7393369" cy="3968115"/>
        </p:xfrm>
        <a:graphic>
          <a:graphicData uri="http://schemas.openxmlformats.org/drawingml/2006/table">
            <a:tbl>
              <a:tblPr firstRow="1">
                <a:tableStyleId>{21E4AEA4-8DFA-4A89-87EB-49C32662AFE0}</a:tableStyleId>
              </a:tblPr>
              <a:tblGrid>
                <a:gridCol w="2334664">
                  <a:extLst>
                    <a:ext uri="{9D8B030D-6E8A-4147-A177-3AD203B41FA5}">
                      <a16:colId xmlns:a16="http://schemas.microsoft.com/office/drawing/2014/main" val="435799123"/>
                    </a:ext>
                  </a:extLst>
                </a:gridCol>
                <a:gridCol w="1264735">
                  <a:extLst>
                    <a:ext uri="{9D8B030D-6E8A-4147-A177-3AD203B41FA5}">
                      <a16:colId xmlns:a16="http://schemas.microsoft.com/office/drawing/2014/main" val="1043599625"/>
                    </a:ext>
                  </a:extLst>
                </a:gridCol>
                <a:gridCol w="874531">
                  <a:extLst>
                    <a:ext uri="{9D8B030D-6E8A-4147-A177-3AD203B41FA5}">
                      <a16:colId xmlns:a16="http://schemas.microsoft.com/office/drawing/2014/main" val="1553831189"/>
                    </a:ext>
                  </a:extLst>
                </a:gridCol>
                <a:gridCol w="914400">
                  <a:extLst>
                    <a:ext uri="{9D8B030D-6E8A-4147-A177-3AD203B41FA5}">
                      <a16:colId xmlns:a16="http://schemas.microsoft.com/office/drawing/2014/main" val="3172187743"/>
                    </a:ext>
                  </a:extLst>
                </a:gridCol>
                <a:gridCol w="983758">
                  <a:extLst>
                    <a:ext uri="{9D8B030D-6E8A-4147-A177-3AD203B41FA5}">
                      <a16:colId xmlns:a16="http://schemas.microsoft.com/office/drawing/2014/main" val="3552733738"/>
                    </a:ext>
                  </a:extLst>
                </a:gridCol>
                <a:gridCol w="1021281">
                  <a:extLst>
                    <a:ext uri="{9D8B030D-6E8A-4147-A177-3AD203B41FA5}">
                      <a16:colId xmlns:a16="http://schemas.microsoft.com/office/drawing/2014/main" val="376562541"/>
                    </a:ext>
                  </a:extLst>
                </a:gridCol>
              </a:tblGrid>
              <a:tr h="0">
                <a:tc>
                  <a:txBody>
                    <a:bodyPr/>
                    <a:lstStyle/>
                    <a:p>
                      <a:pPr algn="ctr" fontAlgn="b">
                        <a:buNone/>
                      </a:pPr>
                      <a:r>
                        <a:rPr lang="en-US" sz="2000" b="0" u="none" strike="noStrike">
                          <a:solidFill>
                            <a:schemeClr val="bg1"/>
                          </a:solidFill>
                          <a:effectLst/>
                        </a:rPr>
                        <a:t>Simulator</a:t>
                      </a:r>
                      <a:endParaRPr lang="en-US" sz="2000" b="0" i="0" u="none" strike="noStrike">
                        <a:solidFill>
                          <a:schemeClr val="bg1"/>
                        </a:solidFill>
                        <a:effectLst/>
                        <a:latin typeface="Aptos Narrow" panose="020B0004020202020204" pitchFamily="34" charset="0"/>
                      </a:endParaRPr>
                    </a:p>
                  </a:txBody>
                  <a:tcPr marL="9525" marR="9525" marT="9525" marB="0" anchor="ctr"/>
                </a:tc>
                <a:tc>
                  <a:txBody>
                    <a:bodyPr/>
                    <a:lstStyle/>
                    <a:p>
                      <a:pPr algn="ctr" fontAlgn="b">
                        <a:buNone/>
                      </a:pPr>
                      <a:r>
                        <a:rPr lang="en-US" sz="2000" b="0" u="none" strike="noStrike" dirty="0">
                          <a:solidFill>
                            <a:schemeClr val="bg1"/>
                          </a:solidFill>
                          <a:effectLst/>
                        </a:rPr>
                        <a:t>Feature Map</a:t>
                      </a:r>
                      <a:endParaRPr lang="en-US" sz="2000" b="0" i="0" u="none" strike="noStrike" dirty="0">
                        <a:solidFill>
                          <a:schemeClr val="bg1"/>
                        </a:solidFill>
                        <a:effectLst/>
                        <a:latin typeface="Aptos Narrow" panose="020B0004020202020204" pitchFamily="34" charset="0"/>
                      </a:endParaRPr>
                    </a:p>
                  </a:txBody>
                  <a:tcPr marL="9525" marR="9525" marT="9525" marB="0" anchor="ctr"/>
                </a:tc>
                <a:tc>
                  <a:txBody>
                    <a:bodyPr/>
                    <a:lstStyle/>
                    <a:p>
                      <a:pPr algn="ctr" fontAlgn="b">
                        <a:buNone/>
                      </a:pPr>
                      <a:r>
                        <a:rPr lang="en-US" sz="2000" b="0" u="none" strike="noStrike" dirty="0">
                          <a:solidFill>
                            <a:schemeClr val="bg1"/>
                          </a:solidFill>
                          <a:effectLst/>
                        </a:rPr>
                        <a:t>Qubits</a:t>
                      </a:r>
                      <a:endParaRPr lang="en-US" sz="2000" b="0" i="0" u="none" strike="noStrike" dirty="0">
                        <a:solidFill>
                          <a:schemeClr val="bg1"/>
                        </a:solidFill>
                        <a:effectLst/>
                        <a:latin typeface="Aptos Narrow" panose="020B0004020202020204" pitchFamily="34" charset="0"/>
                      </a:endParaRPr>
                    </a:p>
                  </a:txBody>
                  <a:tcPr marL="9525" marR="9525" marT="9525" marB="0" anchor="ctr"/>
                </a:tc>
                <a:tc>
                  <a:txBody>
                    <a:bodyPr/>
                    <a:lstStyle/>
                    <a:p>
                      <a:pPr algn="ctr" fontAlgn="b">
                        <a:buNone/>
                      </a:pPr>
                      <a:r>
                        <a:rPr lang="en-US" sz="2000" b="0" u="none" strike="noStrike">
                          <a:solidFill>
                            <a:schemeClr val="bg1"/>
                          </a:solidFill>
                          <a:effectLst/>
                        </a:rPr>
                        <a:t>Ansatz</a:t>
                      </a:r>
                      <a:endParaRPr lang="en-US" sz="2000" b="0" i="0" u="none" strike="noStrike">
                        <a:solidFill>
                          <a:schemeClr val="bg1"/>
                        </a:solidFill>
                        <a:effectLst/>
                        <a:latin typeface="Aptos Narrow" panose="020B0004020202020204" pitchFamily="34" charset="0"/>
                      </a:endParaRPr>
                    </a:p>
                  </a:txBody>
                  <a:tcPr marL="9525" marR="9525" marT="9525" marB="0" anchor="ctr"/>
                </a:tc>
                <a:tc>
                  <a:txBody>
                    <a:bodyPr/>
                    <a:lstStyle/>
                    <a:p>
                      <a:pPr algn="ctr" fontAlgn="b">
                        <a:buNone/>
                      </a:pPr>
                      <a:r>
                        <a:rPr lang="en-US" sz="2000" b="0" u="none" strike="noStrike">
                          <a:solidFill>
                            <a:schemeClr val="bg1"/>
                          </a:solidFill>
                          <a:effectLst/>
                        </a:rPr>
                        <a:t>Train Score</a:t>
                      </a:r>
                      <a:endParaRPr lang="en-US" sz="2000" b="0" i="0" u="none" strike="noStrike">
                        <a:solidFill>
                          <a:schemeClr val="bg1"/>
                        </a:solidFill>
                        <a:effectLst/>
                        <a:latin typeface="Aptos Narrow" panose="020B0004020202020204" pitchFamily="34" charset="0"/>
                      </a:endParaRPr>
                    </a:p>
                  </a:txBody>
                  <a:tcPr marL="9525" marR="9525" marT="9525" marB="0" anchor="ctr"/>
                </a:tc>
                <a:tc>
                  <a:txBody>
                    <a:bodyPr/>
                    <a:lstStyle/>
                    <a:p>
                      <a:pPr algn="ctr" fontAlgn="b">
                        <a:buNone/>
                      </a:pPr>
                      <a:r>
                        <a:rPr lang="en-US" sz="2000" b="0" u="none" strike="noStrike">
                          <a:solidFill>
                            <a:schemeClr val="bg1"/>
                          </a:solidFill>
                          <a:effectLst/>
                        </a:rPr>
                        <a:t>Test Score</a:t>
                      </a:r>
                      <a:endParaRPr lang="en-US" sz="2000" b="0" i="0" u="none" strike="noStrike">
                        <a:solidFill>
                          <a:schemeClr val="bg1"/>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543769157"/>
                  </a:ext>
                </a:extLst>
              </a:tr>
              <a:tr h="190500">
                <a:tc>
                  <a:txBody>
                    <a:bodyPr/>
                    <a:lstStyle/>
                    <a:p>
                      <a:pPr algn="l" fontAlgn="b">
                        <a:buNone/>
                      </a:pPr>
                      <a:r>
                        <a:rPr lang="en-US" sz="1800" b="0" u="none" strike="noStrike">
                          <a:solidFill>
                            <a:srgbClr val="000000"/>
                          </a:solidFill>
                          <a:effectLst/>
                        </a:rPr>
                        <a:t>AER Simulator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800" b="0" u="none" strike="noStrike" dirty="0">
                          <a:solidFill>
                            <a:srgbClr val="000000"/>
                          </a:solidFill>
                          <a:effectLst/>
                        </a:rPr>
                        <a:t>ZZ, 1 layer, full</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10</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full</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78.94%</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78.57%</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967623575"/>
                  </a:ext>
                </a:extLst>
              </a:tr>
              <a:tr h="190500">
                <a:tc>
                  <a:txBody>
                    <a:bodyPr/>
                    <a:lstStyle/>
                    <a:p>
                      <a:pPr algn="l" fontAlgn="b">
                        <a:buNone/>
                      </a:pPr>
                      <a:r>
                        <a:rPr lang="en-US" sz="1800" b="0" u="none" strike="noStrike">
                          <a:solidFill>
                            <a:srgbClr val="000000"/>
                          </a:solidFill>
                          <a:effectLst/>
                        </a:rPr>
                        <a:t>AER Simulator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800" b="0" u="none" strike="noStrike" dirty="0">
                          <a:solidFill>
                            <a:srgbClr val="000000"/>
                          </a:solidFill>
                          <a:effectLst/>
                        </a:rPr>
                        <a:t>X, ZZ, 1 layer, full</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10</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full</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77.93%</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77.26%</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384374724"/>
                  </a:ext>
                </a:extLst>
              </a:tr>
              <a:tr h="190500">
                <a:tc>
                  <a:txBody>
                    <a:bodyPr/>
                    <a:lstStyle/>
                    <a:p>
                      <a:pPr algn="l" fontAlgn="b">
                        <a:buNone/>
                      </a:pPr>
                      <a:r>
                        <a:rPr lang="en-US" sz="1800" b="0" u="none" strike="noStrike">
                          <a:solidFill>
                            <a:srgbClr val="000000"/>
                          </a:solidFill>
                          <a:effectLst/>
                          <a:highlight>
                            <a:srgbClr val="FFFF00"/>
                          </a:highlight>
                        </a:rPr>
                        <a:t>AER Simulator</a:t>
                      </a:r>
                      <a:endParaRPr lang="en-US" sz="1800" b="0" i="0" u="none" strike="noStrike">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l" fontAlgn="b">
                        <a:buNone/>
                      </a:pPr>
                      <a:r>
                        <a:rPr lang="en-US" sz="1800" b="0" u="none" strike="noStrike" dirty="0">
                          <a:solidFill>
                            <a:srgbClr val="000000"/>
                          </a:solidFill>
                          <a:effectLst/>
                          <a:highlight>
                            <a:srgbClr val="FFFF00"/>
                          </a:highlight>
                        </a:rPr>
                        <a:t>X, ZZ, 1 layer, full</a:t>
                      </a:r>
                      <a:endParaRPr lang="en-US" sz="1800" b="0" i="0" u="none" strike="noStrike" dirty="0">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highlight>
                            <a:srgbClr val="FFFF00"/>
                          </a:highlight>
                        </a:rPr>
                        <a:t>4</a:t>
                      </a:r>
                      <a:endParaRPr lang="en-US" sz="1800" b="0" i="0" u="none" strike="noStrike">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highlight>
                            <a:srgbClr val="FFFF00"/>
                          </a:highlight>
                        </a:rPr>
                        <a:t>full</a:t>
                      </a:r>
                      <a:endParaRPr lang="en-US" sz="1800" b="0" i="0" u="none" strike="noStrike">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highlight>
                            <a:srgbClr val="FFFF00"/>
                          </a:highlight>
                        </a:rPr>
                        <a:t>95.67%</a:t>
                      </a:r>
                      <a:endParaRPr lang="en-US" sz="1800" b="0" i="0" u="none" strike="noStrike">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r" fontAlgn="b">
                        <a:buNone/>
                      </a:pPr>
                      <a:r>
                        <a:rPr lang="en-US" sz="1800" b="0" u="none" strike="noStrike" dirty="0">
                          <a:solidFill>
                            <a:srgbClr val="000000"/>
                          </a:solidFill>
                          <a:effectLst/>
                          <a:highlight>
                            <a:srgbClr val="FFFF00"/>
                          </a:highlight>
                        </a:rPr>
                        <a:t>96.18%</a:t>
                      </a:r>
                      <a:endParaRPr lang="en-US" sz="1800" b="0" i="0" u="none" strike="noStrike" dirty="0">
                        <a:solidFill>
                          <a:srgbClr val="000000"/>
                        </a:solidFill>
                        <a:effectLst/>
                        <a:highlight>
                          <a:srgbClr val="FFFF00"/>
                        </a:highlight>
                        <a:latin typeface="Aptos Narrow" panose="020B0004020202020204" pitchFamily="34" charset="0"/>
                      </a:endParaRPr>
                    </a:p>
                  </a:txBody>
                  <a:tcPr marL="9525" marR="9525" marT="9525" marB="0" anchor="b"/>
                </a:tc>
                <a:extLst>
                  <a:ext uri="{0D108BD9-81ED-4DB2-BD59-A6C34878D82A}">
                    <a16:rowId xmlns:a16="http://schemas.microsoft.com/office/drawing/2014/main" val="2029640970"/>
                  </a:ext>
                </a:extLst>
              </a:tr>
              <a:tr h="190500">
                <a:tc>
                  <a:txBody>
                    <a:bodyPr/>
                    <a:lstStyle/>
                    <a:p>
                      <a:pPr algn="l" fontAlgn="b">
                        <a:buNone/>
                      </a:pPr>
                      <a:r>
                        <a:rPr lang="en-US" sz="1800" b="0" u="none" strike="noStrike">
                          <a:solidFill>
                            <a:srgbClr val="000000"/>
                          </a:solidFill>
                          <a:effectLst/>
                        </a:rPr>
                        <a:t>AER Simulator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800" b="0" u="none" strike="noStrike" dirty="0">
                          <a:solidFill>
                            <a:srgbClr val="000000"/>
                          </a:solidFill>
                          <a:effectLst/>
                        </a:rPr>
                        <a:t>X, ZZ, 1 layer, full</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4</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linear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92.01%</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92.02%</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125486512"/>
                  </a:ext>
                </a:extLst>
              </a:tr>
              <a:tr h="190500">
                <a:tc>
                  <a:txBody>
                    <a:bodyPr/>
                    <a:lstStyle/>
                    <a:p>
                      <a:pPr algn="l" fontAlgn="b">
                        <a:buNone/>
                      </a:pPr>
                      <a:r>
                        <a:rPr lang="en-US" sz="1800" b="0" u="none" strike="noStrike">
                          <a:solidFill>
                            <a:srgbClr val="000000"/>
                          </a:solidFill>
                          <a:effectLst/>
                        </a:rPr>
                        <a:t>AER Simulator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800" b="0" u="none" strike="noStrike" dirty="0">
                          <a:solidFill>
                            <a:srgbClr val="000000"/>
                          </a:solidFill>
                          <a:effectLst/>
                        </a:rPr>
                        <a:t>X, ZZ, 1 layer, full</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4</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rPr>
                        <a:t>circular</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90.34%</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rPr>
                        <a:t>90.39%</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040925569"/>
                  </a:ext>
                </a:extLst>
              </a:tr>
              <a:tr h="190500">
                <a:tc>
                  <a:txBody>
                    <a:bodyPr/>
                    <a:lstStyle/>
                    <a:p>
                      <a:pPr algn="l" fontAlgn="b">
                        <a:buNone/>
                      </a:pPr>
                      <a:r>
                        <a:rPr lang="en-US" sz="1800" b="0" u="none" strike="noStrike">
                          <a:solidFill>
                            <a:srgbClr val="000000"/>
                          </a:solidFill>
                          <a:effectLst/>
                          <a:highlight>
                            <a:srgbClr val="FFFF00"/>
                          </a:highlight>
                        </a:rPr>
                        <a:t>AER Simulator</a:t>
                      </a:r>
                      <a:endParaRPr lang="en-US" sz="1800" b="0" i="0" u="none" strike="noStrike">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l" fontAlgn="b">
                        <a:buNone/>
                      </a:pPr>
                      <a:r>
                        <a:rPr lang="en-US" sz="1800" b="0" u="none" strike="noStrike" dirty="0">
                          <a:solidFill>
                            <a:srgbClr val="000000"/>
                          </a:solidFill>
                          <a:effectLst/>
                          <a:highlight>
                            <a:srgbClr val="FFFF00"/>
                          </a:highlight>
                        </a:rPr>
                        <a:t>ZZ, 1 layer, full</a:t>
                      </a:r>
                      <a:endParaRPr lang="en-US" sz="1800" b="0" i="0" u="none" strike="noStrike" dirty="0">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highlight>
                            <a:srgbClr val="FFFF00"/>
                          </a:highlight>
                        </a:rPr>
                        <a:t>4</a:t>
                      </a:r>
                      <a:endParaRPr lang="en-US" sz="1800" b="0" i="0" u="none" strike="noStrike">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ctr" fontAlgn="b">
                        <a:buNone/>
                      </a:pPr>
                      <a:r>
                        <a:rPr lang="en-US" sz="1800" b="0" u="none" strike="noStrike">
                          <a:solidFill>
                            <a:srgbClr val="000000"/>
                          </a:solidFill>
                          <a:effectLst/>
                          <a:highlight>
                            <a:srgbClr val="FFFF00"/>
                          </a:highlight>
                        </a:rPr>
                        <a:t>full</a:t>
                      </a:r>
                      <a:endParaRPr lang="en-US" sz="1800" b="0" i="0" u="none" strike="noStrike">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r" fontAlgn="b">
                        <a:buNone/>
                      </a:pPr>
                      <a:r>
                        <a:rPr lang="en-US" sz="1800" b="0" u="none" strike="noStrike">
                          <a:solidFill>
                            <a:srgbClr val="000000"/>
                          </a:solidFill>
                          <a:effectLst/>
                          <a:highlight>
                            <a:srgbClr val="FFFF00"/>
                          </a:highlight>
                        </a:rPr>
                        <a:t>97.68%</a:t>
                      </a:r>
                      <a:endParaRPr lang="en-US" sz="1800" b="0" i="0" u="none" strike="noStrike">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r" fontAlgn="b">
                        <a:buNone/>
                      </a:pPr>
                      <a:r>
                        <a:rPr lang="en-US" sz="1800" b="0" u="none" strike="noStrike" dirty="0">
                          <a:solidFill>
                            <a:srgbClr val="000000"/>
                          </a:solidFill>
                          <a:effectLst/>
                          <a:highlight>
                            <a:srgbClr val="FFFF00"/>
                          </a:highlight>
                        </a:rPr>
                        <a:t>97.53%</a:t>
                      </a:r>
                      <a:endParaRPr lang="en-US" sz="1800" b="0" i="0" u="none" strike="noStrike" dirty="0">
                        <a:solidFill>
                          <a:srgbClr val="000000"/>
                        </a:solidFill>
                        <a:effectLst/>
                        <a:highlight>
                          <a:srgbClr val="FFFF00"/>
                        </a:highlight>
                        <a:latin typeface="Aptos Narrow" panose="020B0004020202020204" pitchFamily="34" charset="0"/>
                      </a:endParaRPr>
                    </a:p>
                  </a:txBody>
                  <a:tcPr marL="9525" marR="9525" marT="9525" marB="0" anchor="b"/>
                </a:tc>
                <a:extLst>
                  <a:ext uri="{0D108BD9-81ED-4DB2-BD59-A6C34878D82A}">
                    <a16:rowId xmlns:a16="http://schemas.microsoft.com/office/drawing/2014/main" val="1939230770"/>
                  </a:ext>
                </a:extLst>
              </a:tr>
            </a:tbl>
          </a:graphicData>
        </a:graphic>
      </p:graphicFrame>
    </p:spTree>
    <p:extLst>
      <p:ext uri="{BB962C8B-B14F-4D97-AF65-F5344CB8AC3E}">
        <p14:creationId xmlns:p14="http://schemas.microsoft.com/office/powerpoint/2010/main" val="358127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23801-0F59-FE67-B7AB-84DA685EA151}"/>
              </a:ext>
            </a:extLst>
          </p:cNvPr>
          <p:cNvSpPr>
            <a:spLocks noGrp="1"/>
          </p:cNvSpPr>
          <p:nvPr>
            <p:ph type="title"/>
          </p:nvPr>
        </p:nvSpPr>
        <p:spPr/>
        <p:txBody>
          <a:bodyPr/>
          <a:lstStyle/>
          <a:p>
            <a:r>
              <a:rPr lang="en-US"/>
              <a:t>Constructing Feature Maps</a:t>
            </a:r>
          </a:p>
        </p:txBody>
      </p:sp>
      <p:sp>
        <p:nvSpPr>
          <p:cNvPr id="3" name="Content Placeholder 2">
            <a:extLst>
              <a:ext uri="{FF2B5EF4-FFF2-40B4-BE49-F238E27FC236}">
                <a16:creationId xmlns:a16="http://schemas.microsoft.com/office/drawing/2014/main" id="{EDFBB3D1-8FCE-B971-F3CF-D28CF129E66F}"/>
              </a:ext>
            </a:extLst>
          </p:cNvPr>
          <p:cNvSpPr>
            <a:spLocks noGrp="1"/>
          </p:cNvSpPr>
          <p:nvPr>
            <p:ph idx="1"/>
          </p:nvPr>
        </p:nvSpPr>
        <p:spPr/>
        <p:txBody>
          <a:bodyPr/>
          <a:lstStyle/>
          <a:p>
            <a:r>
              <a:rPr lang="en-US" sz="2800"/>
              <a:t>The inclusion of both X and ZZ terms in the feature map consistently enhanced the model’s generalization and robustness across multiple datasets and simulation environments. </a:t>
            </a:r>
          </a:p>
          <a:p>
            <a:r>
              <a:rPr lang="en-US" sz="2800"/>
              <a:t>Feature maps that encode both single-qubit rotations (X) and two-qubit entangling interactions (ZZ) effectively emulate a transverse-field Ising-like structure, enabling the circuit to explore a richer manifold of the Hilbert space during state preparation.</a:t>
            </a:r>
          </a:p>
        </p:txBody>
      </p:sp>
    </p:spTree>
    <p:extLst>
      <p:ext uri="{BB962C8B-B14F-4D97-AF65-F5344CB8AC3E}">
        <p14:creationId xmlns:p14="http://schemas.microsoft.com/office/powerpoint/2010/main" val="1550646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B7B49A9-7E5E-CC6D-0521-69749FC15EE9}"/>
              </a:ext>
            </a:extLst>
          </p:cNvPr>
          <p:cNvSpPr/>
          <p:nvPr/>
        </p:nvSpPr>
        <p:spPr>
          <a:xfrm>
            <a:off x="0" y="2409817"/>
            <a:ext cx="12192000" cy="3701423"/>
          </a:xfrm>
          <a:prstGeom prst="roundRect">
            <a:avLst/>
          </a:prstGeom>
          <a:solidFill>
            <a:schemeClr val="bg2">
              <a:lumMod val="20000"/>
              <a:lumOff val="80000"/>
              <a:alpha val="64027"/>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0E2322-ECB5-2DF9-5636-3C265D3D1200}"/>
              </a:ext>
            </a:extLst>
          </p:cNvPr>
          <p:cNvSpPr>
            <a:spLocks noGrp="1"/>
          </p:cNvSpPr>
          <p:nvPr>
            <p:ph type="title"/>
          </p:nvPr>
        </p:nvSpPr>
        <p:spPr/>
        <p:txBody>
          <a:bodyPr/>
          <a:lstStyle/>
          <a:p>
            <a:r>
              <a:rPr lang="en-US" dirty="0"/>
              <a:t>Ansatz Baseline</a:t>
            </a:r>
          </a:p>
        </p:txBody>
      </p:sp>
      <p:pic>
        <p:nvPicPr>
          <p:cNvPr id="5" name="Picture 4">
            <a:extLst>
              <a:ext uri="{FF2B5EF4-FFF2-40B4-BE49-F238E27FC236}">
                <a16:creationId xmlns:a16="http://schemas.microsoft.com/office/drawing/2014/main" id="{7EABA27C-65AD-0B4A-E03C-E1E292A65514}"/>
              </a:ext>
            </a:extLst>
          </p:cNvPr>
          <p:cNvPicPr>
            <a:picLocks noChangeAspect="1"/>
          </p:cNvPicPr>
          <p:nvPr/>
        </p:nvPicPr>
        <p:blipFill>
          <a:blip r:embed="rId3"/>
          <a:stretch>
            <a:fillRect/>
          </a:stretch>
        </p:blipFill>
        <p:spPr>
          <a:xfrm>
            <a:off x="425933" y="2709119"/>
            <a:ext cx="3364195" cy="1439762"/>
          </a:xfrm>
          <a:prstGeom prst="rect">
            <a:avLst/>
          </a:prstGeom>
        </p:spPr>
      </p:pic>
      <p:pic>
        <p:nvPicPr>
          <p:cNvPr id="7" name="Picture 6">
            <a:extLst>
              <a:ext uri="{FF2B5EF4-FFF2-40B4-BE49-F238E27FC236}">
                <a16:creationId xmlns:a16="http://schemas.microsoft.com/office/drawing/2014/main" id="{0511010D-9406-2EED-0EAC-4CD4137A7C70}"/>
              </a:ext>
            </a:extLst>
          </p:cNvPr>
          <p:cNvPicPr>
            <a:picLocks noChangeAspect="1"/>
          </p:cNvPicPr>
          <p:nvPr/>
        </p:nvPicPr>
        <p:blipFill>
          <a:blip r:embed="rId4"/>
          <a:stretch>
            <a:fillRect/>
          </a:stretch>
        </p:blipFill>
        <p:spPr>
          <a:xfrm>
            <a:off x="425933" y="4448183"/>
            <a:ext cx="4110815" cy="1527013"/>
          </a:xfrm>
          <a:prstGeom prst="rect">
            <a:avLst/>
          </a:prstGeom>
        </p:spPr>
      </p:pic>
      <p:sp>
        <p:nvSpPr>
          <p:cNvPr id="8" name="TextBox 7">
            <a:extLst>
              <a:ext uri="{FF2B5EF4-FFF2-40B4-BE49-F238E27FC236}">
                <a16:creationId xmlns:a16="http://schemas.microsoft.com/office/drawing/2014/main" id="{846C6B76-C84B-1A9C-9623-1E10F19553E5}"/>
              </a:ext>
            </a:extLst>
          </p:cNvPr>
          <p:cNvSpPr txBox="1"/>
          <p:nvPr/>
        </p:nvSpPr>
        <p:spPr>
          <a:xfrm>
            <a:off x="337345" y="2409817"/>
            <a:ext cx="2313454" cy="369332"/>
          </a:xfrm>
          <a:prstGeom prst="rect">
            <a:avLst/>
          </a:prstGeom>
          <a:noFill/>
        </p:spPr>
        <p:txBody>
          <a:bodyPr wrap="none" rtlCol="0">
            <a:spAutoFit/>
          </a:bodyPr>
          <a:lstStyle/>
          <a:p>
            <a:r>
              <a:rPr lang="en-US"/>
              <a:t>Linear Entanglement</a:t>
            </a:r>
          </a:p>
        </p:txBody>
      </p:sp>
      <p:sp>
        <p:nvSpPr>
          <p:cNvPr id="9" name="TextBox 8">
            <a:extLst>
              <a:ext uri="{FF2B5EF4-FFF2-40B4-BE49-F238E27FC236}">
                <a16:creationId xmlns:a16="http://schemas.microsoft.com/office/drawing/2014/main" id="{937C7E30-F2FE-AC5F-A80A-0F5D4F65C256}"/>
              </a:ext>
            </a:extLst>
          </p:cNvPr>
          <p:cNvSpPr txBox="1"/>
          <p:nvPr/>
        </p:nvSpPr>
        <p:spPr>
          <a:xfrm>
            <a:off x="337345" y="4148881"/>
            <a:ext cx="2467342" cy="369332"/>
          </a:xfrm>
          <a:prstGeom prst="rect">
            <a:avLst/>
          </a:prstGeom>
          <a:noFill/>
        </p:spPr>
        <p:txBody>
          <a:bodyPr wrap="none" rtlCol="0">
            <a:spAutoFit/>
          </a:bodyPr>
          <a:lstStyle/>
          <a:p>
            <a:r>
              <a:rPr lang="en-US"/>
              <a:t>Circular Entanglement</a:t>
            </a:r>
          </a:p>
        </p:txBody>
      </p:sp>
      <p:pic>
        <p:nvPicPr>
          <p:cNvPr id="11" name="Picture 10">
            <a:extLst>
              <a:ext uri="{FF2B5EF4-FFF2-40B4-BE49-F238E27FC236}">
                <a16:creationId xmlns:a16="http://schemas.microsoft.com/office/drawing/2014/main" id="{81D1ABCA-A003-53C4-C13F-D79BE0101E38}"/>
              </a:ext>
            </a:extLst>
          </p:cNvPr>
          <p:cNvPicPr>
            <a:picLocks noChangeAspect="1"/>
          </p:cNvPicPr>
          <p:nvPr/>
        </p:nvPicPr>
        <p:blipFill>
          <a:blip r:embed="rId5"/>
          <a:stretch>
            <a:fillRect/>
          </a:stretch>
        </p:blipFill>
        <p:spPr>
          <a:xfrm>
            <a:off x="6018917" y="2709119"/>
            <a:ext cx="4440459" cy="1363341"/>
          </a:xfrm>
          <a:prstGeom prst="rect">
            <a:avLst/>
          </a:prstGeom>
        </p:spPr>
      </p:pic>
      <p:sp>
        <p:nvSpPr>
          <p:cNvPr id="12" name="TextBox 11">
            <a:extLst>
              <a:ext uri="{FF2B5EF4-FFF2-40B4-BE49-F238E27FC236}">
                <a16:creationId xmlns:a16="http://schemas.microsoft.com/office/drawing/2014/main" id="{0673CBB3-A352-D986-F615-1C439A688B94}"/>
              </a:ext>
            </a:extLst>
          </p:cNvPr>
          <p:cNvSpPr txBox="1"/>
          <p:nvPr/>
        </p:nvSpPr>
        <p:spPr>
          <a:xfrm>
            <a:off x="5984805" y="2409817"/>
            <a:ext cx="2044149" cy="369332"/>
          </a:xfrm>
          <a:prstGeom prst="rect">
            <a:avLst/>
          </a:prstGeom>
          <a:noFill/>
        </p:spPr>
        <p:txBody>
          <a:bodyPr wrap="none" rtlCol="0">
            <a:spAutoFit/>
          </a:bodyPr>
          <a:lstStyle/>
          <a:p>
            <a:r>
              <a:rPr lang="en-US"/>
              <a:t>Full Entanglement</a:t>
            </a:r>
          </a:p>
        </p:txBody>
      </p:sp>
      <p:pic>
        <p:nvPicPr>
          <p:cNvPr id="13" name="Picture 12">
            <a:extLst>
              <a:ext uri="{FF2B5EF4-FFF2-40B4-BE49-F238E27FC236}">
                <a16:creationId xmlns:a16="http://schemas.microsoft.com/office/drawing/2014/main" id="{E51441C2-67BB-A219-A4AA-D62912DED863}"/>
              </a:ext>
            </a:extLst>
          </p:cNvPr>
          <p:cNvPicPr>
            <a:picLocks noChangeAspect="1"/>
          </p:cNvPicPr>
          <p:nvPr/>
        </p:nvPicPr>
        <p:blipFill>
          <a:blip r:embed="rId6"/>
          <a:stretch>
            <a:fillRect/>
          </a:stretch>
        </p:blipFill>
        <p:spPr>
          <a:xfrm>
            <a:off x="6018916" y="4511072"/>
            <a:ext cx="5556195" cy="1401234"/>
          </a:xfrm>
          <a:prstGeom prst="rect">
            <a:avLst/>
          </a:prstGeom>
        </p:spPr>
      </p:pic>
      <p:sp>
        <p:nvSpPr>
          <p:cNvPr id="14" name="TextBox 13">
            <a:extLst>
              <a:ext uri="{FF2B5EF4-FFF2-40B4-BE49-F238E27FC236}">
                <a16:creationId xmlns:a16="http://schemas.microsoft.com/office/drawing/2014/main" id="{B84DE492-9238-76B6-6C0B-583A660FC6F1}"/>
              </a:ext>
            </a:extLst>
          </p:cNvPr>
          <p:cNvSpPr txBox="1"/>
          <p:nvPr/>
        </p:nvSpPr>
        <p:spPr>
          <a:xfrm>
            <a:off x="6018916" y="4198813"/>
            <a:ext cx="1975926" cy="369332"/>
          </a:xfrm>
          <a:prstGeom prst="rect">
            <a:avLst/>
          </a:prstGeom>
          <a:noFill/>
        </p:spPr>
        <p:txBody>
          <a:bodyPr wrap="none" rtlCol="0">
            <a:spAutoFit/>
          </a:bodyPr>
          <a:lstStyle/>
          <a:p>
            <a:r>
              <a:rPr lang="en-US"/>
              <a:t>Toffoli with CNOT</a:t>
            </a:r>
          </a:p>
        </p:txBody>
      </p:sp>
      <p:pic>
        <p:nvPicPr>
          <p:cNvPr id="3" name="Picture 2">
            <a:extLst>
              <a:ext uri="{FF2B5EF4-FFF2-40B4-BE49-F238E27FC236}">
                <a16:creationId xmlns:a16="http://schemas.microsoft.com/office/drawing/2014/main" id="{DD9C1C90-AFCA-7239-FA90-89E024662474}"/>
              </a:ext>
            </a:extLst>
          </p:cNvPr>
          <p:cNvPicPr>
            <a:picLocks noChangeAspect="1"/>
          </p:cNvPicPr>
          <p:nvPr/>
        </p:nvPicPr>
        <p:blipFill>
          <a:blip r:embed="rId7"/>
          <a:stretch>
            <a:fillRect/>
          </a:stretch>
        </p:blipFill>
        <p:spPr>
          <a:xfrm>
            <a:off x="3094974" y="1369572"/>
            <a:ext cx="4782852" cy="871430"/>
          </a:xfrm>
          <a:prstGeom prst="rect">
            <a:avLst/>
          </a:prstGeom>
        </p:spPr>
      </p:pic>
      <p:sp>
        <p:nvSpPr>
          <p:cNvPr id="6" name="TextBox 5">
            <a:extLst>
              <a:ext uri="{FF2B5EF4-FFF2-40B4-BE49-F238E27FC236}">
                <a16:creationId xmlns:a16="http://schemas.microsoft.com/office/drawing/2014/main" id="{764DFA37-1379-7CB7-C4C8-7B53323C4309}"/>
              </a:ext>
            </a:extLst>
          </p:cNvPr>
          <p:cNvSpPr txBox="1"/>
          <p:nvPr/>
        </p:nvSpPr>
        <p:spPr>
          <a:xfrm>
            <a:off x="1364304" y="1000240"/>
            <a:ext cx="6094378" cy="369332"/>
          </a:xfrm>
          <a:prstGeom prst="rect">
            <a:avLst/>
          </a:prstGeom>
          <a:noFill/>
        </p:spPr>
        <p:txBody>
          <a:bodyPr wrap="square">
            <a:spAutoFit/>
          </a:bodyPr>
          <a:lstStyle/>
          <a:p>
            <a:r>
              <a:rPr lang="en-US"/>
              <a:t>Special Unitary (SU) Group Ansatz</a:t>
            </a:r>
          </a:p>
        </p:txBody>
      </p:sp>
      <p:sp>
        <p:nvSpPr>
          <p:cNvPr id="16" name="TextBox 15">
            <a:extLst>
              <a:ext uri="{FF2B5EF4-FFF2-40B4-BE49-F238E27FC236}">
                <a16:creationId xmlns:a16="http://schemas.microsoft.com/office/drawing/2014/main" id="{33C5BB56-BD3B-5C3F-961F-6872A9785CD2}"/>
              </a:ext>
            </a:extLst>
          </p:cNvPr>
          <p:cNvSpPr txBox="1"/>
          <p:nvPr/>
        </p:nvSpPr>
        <p:spPr>
          <a:xfrm>
            <a:off x="4000033" y="3749363"/>
            <a:ext cx="2332207" cy="461665"/>
          </a:xfrm>
          <a:prstGeom prst="rect">
            <a:avLst/>
          </a:prstGeom>
          <a:noFill/>
        </p:spPr>
        <p:txBody>
          <a:bodyPr wrap="square">
            <a:spAutoFit/>
          </a:bodyPr>
          <a:lstStyle/>
          <a:p>
            <a:r>
              <a:rPr lang="en-US" sz="2400"/>
              <a:t>Toffoli-Based </a:t>
            </a:r>
          </a:p>
        </p:txBody>
      </p:sp>
    </p:spTree>
    <p:extLst>
      <p:ext uri="{BB962C8B-B14F-4D97-AF65-F5344CB8AC3E}">
        <p14:creationId xmlns:p14="http://schemas.microsoft.com/office/powerpoint/2010/main" val="811294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AF1EB-21C7-BE02-5740-9C0701CF2C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5F3677-92E3-5E47-031D-6C3631ECDDCD}"/>
              </a:ext>
            </a:extLst>
          </p:cNvPr>
          <p:cNvSpPr>
            <a:spLocks noGrp="1"/>
          </p:cNvSpPr>
          <p:nvPr>
            <p:ph type="title"/>
          </p:nvPr>
        </p:nvSpPr>
        <p:spPr/>
        <p:txBody>
          <a:bodyPr/>
          <a:lstStyle/>
          <a:p>
            <a:r>
              <a:rPr lang="en-US"/>
              <a:t>Building our Ansatz</a:t>
            </a:r>
          </a:p>
        </p:txBody>
      </p:sp>
      <p:sp>
        <p:nvSpPr>
          <p:cNvPr id="7" name="Content Placeholder 6">
            <a:extLst>
              <a:ext uri="{FF2B5EF4-FFF2-40B4-BE49-F238E27FC236}">
                <a16:creationId xmlns:a16="http://schemas.microsoft.com/office/drawing/2014/main" id="{C8200E49-C2B0-A767-2232-C4C6FCB3AF7C}"/>
              </a:ext>
            </a:extLst>
          </p:cNvPr>
          <p:cNvSpPr txBox="1">
            <a:spLocks noGrp="1"/>
          </p:cNvSpPr>
          <p:nvPr>
            <p:ph idx="1"/>
          </p:nvPr>
        </p:nvSpPr>
        <p:spPr>
          <a:xfrm>
            <a:off x="139816" y="1072320"/>
            <a:ext cx="11680272" cy="2419124"/>
          </a:xfrm>
          <a:prstGeom prst="rect">
            <a:avLst/>
          </a:prstGeom>
          <a:noFill/>
        </p:spPr>
        <p:txBody>
          <a:bodyPr wrap="square">
            <a:spAutoFit/>
          </a:bodyPr>
          <a:lstStyle/>
          <a:p>
            <a:r>
              <a:rPr lang="en-US" sz="2800" dirty="0"/>
              <a:t>Toffoli gates were initially tested to encode high-order feature interactions. </a:t>
            </a:r>
          </a:p>
          <a:p>
            <a:r>
              <a:rPr lang="en-US" sz="2800" dirty="0"/>
              <a:t>The prototype circuit featured entanglement coverage, enabling expressive modeling of conditional dependencies in the PV datasets. </a:t>
            </a:r>
          </a:p>
          <a:p>
            <a:r>
              <a:rPr lang="en-US" sz="2800" dirty="0"/>
              <a:t>However, this configuration introduced excessive gate depth and noise sensitivity.</a:t>
            </a:r>
          </a:p>
        </p:txBody>
      </p:sp>
      <p:pic>
        <p:nvPicPr>
          <p:cNvPr id="4" name="Picture 3">
            <a:extLst>
              <a:ext uri="{FF2B5EF4-FFF2-40B4-BE49-F238E27FC236}">
                <a16:creationId xmlns:a16="http://schemas.microsoft.com/office/drawing/2014/main" id="{964C65C0-FF85-EBB1-DEB5-1EF2302C15B0}"/>
              </a:ext>
            </a:extLst>
          </p:cNvPr>
          <p:cNvPicPr>
            <a:picLocks noChangeAspect="1"/>
          </p:cNvPicPr>
          <p:nvPr/>
        </p:nvPicPr>
        <p:blipFill>
          <a:blip r:embed="rId3"/>
          <a:stretch>
            <a:fillRect/>
          </a:stretch>
        </p:blipFill>
        <p:spPr>
          <a:xfrm>
            <a:off x="1503196" y="3491444"/>
            <a:ext cx="8953512" cy="2498112"/>
          </a:xfrm>
          <a:prstGeom prst="rect">
            <a:avLst/>
          </a:prstGeom>
        </p:spPr>
      </p:pic>
    </p:spTree>
    <p:extLst>
      <p:ext uri="{BB962C8B-B14F-4D97-AF65-F5344CB8AC3E}">
        <p14:creationId xmlns:p14="http://schemas.microsoft.com/office/powerpoint/2010/main" val="15713349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3B97-19F2-092A-9464-CDE8F8D22258}"/>
              </a:ext>
            </a:extLst>
          </p:cNvPr>
          <p:cNvSpPr>
            <a:spLocks noGrp="1"/>
          </p:cNvSpPr>
          <p:nvPr>
            <p:ph type="title"/>
          </p:nvPr>
        </p:nvSpPr>
        <p:spPr/>
        <p:txBody>
          <a:bodyPr/>
          <a:lstStyle/>
          <a:p>
            <a:r>
              <a:rPr lang="en-US"/>
              <a:t>Optimizing our Ansatz</a:t>
            </a:r>
          </a:p>
        </p:txBody>
      </p:sp>
      <p:sp>
        <p:nvSpPr>
          <p:cNvPr id="7" name="Content Placeholder 6">
            <a:extLst>
              <a:ext uri="{FF2B5EF4-FFF2-40B4-BE49-F238E27FC236}">
                <a16:creationId xmlns:a16="http://schemas.microsoft.com/office/drawing/2014/main" id="{219F0C38-2B97-FF8E-40A1-0483A6B27446}"/>
              </a:ext>
            </a:extLst>
          </p:cNvPr>
          <p:cNvSpPr txBox="1">
            <a:spLocks noGrp="1"/>
          </p:cNvSpPr>
          <p:nvPr>
            <p:ph idx="1"/>
          </p:nvPr>
        </p:nvSpPr>
        <p:spPr>
          <a:xfrm>
            <a:off x="139816" y="1072320"/>
            <a:ext cx="11680272" cy="1902059"/>
          </a:xfrm>
          <a:prstGeom prst="rect">
            <a:avLst/>
          </a:prstGeom>
          <a:noFill/>
        </p:spPr>
        <p:txBody>
          <a:bodyPr wrap="square">
            <a:spAutoFit/>
          </a:bodyPr>
          <a:lstStyle/>
          <a:p>
            <a:r>
              <a:rPr lang="en-US" sz="2800" dirty="0"/>
              <a:t>The final circuit preserves essential entanglement while significantly reducing gate count and execution time. </a:t>
            </a:r>
          </a:p>
          <a:p>
            <a:r>
              <a:rPr lang="en-US" sz="2800" dirty="0"/>
              <a:t>This refined architecture was used in PV fault detection, demonstrating improved classification accuracy and robustness on NISQ hardware.</a:t>
            </a:r>
          </a:p>
        </p:txBody>
      </p:sp>
      <p:pic>
        <p:nvPicPr>
          <p:cNvPr id="5" name="Picture 4">
            <a:extLst>
              <a:ext uri="{FF2B5EF4-FFF2-40B4-BE49-F238E27FC236}">
                <a16:creationId xmlns:a16="http://schemas.microsoft.com/office/drawing/2014/main" id="{8021FBA6-051E-B1BB-A0AD-729F3365493C}"/>
              </a:ext>
            </a:extLst>
          </p:cNvPr>
          <p:cNvPicPr>
            <a:picLocks noChangeAspect="1"/>
          </p:cNvPicPr>
          <p:nvPr/>
        </p:nvPicPr>
        <p:blipFill>
          <a:blip r:embed="rId3"/>
          <a:stretch>
            <a:fillRect/>
          </a:stretch>
        </p:blipFill>
        <p:spPr>
          <a:xfrm>
            <a:off x="225085" y="3175640"/>
            <a:ext cx="11741829" cy="2408779"/>
          </a:xfrm>
          <a:prstGeom prst="rect">
            <a:avLst/>
          </a:prstGeom>
        </p:spPr>
      </p:pic>
      <p:pic>
        <p:nvPicPr>
          <p:cNvPr id="24" name="Picture 23">
            <a:extLst>
              <a:ext uri="{FF2B5EF4-FFF2-40B4-BE49-F238E27FC236}">
                <a16:creationId xmlns:a16="http://schemas.microsoft.com/office/drawing/2014/main" id="{9D5A355F-39B8-175C-06E7-51AFD9D119DD}"/>
              </a:ext>
            </a:extLst>
          </p:cNvPr>
          <p:cNvPicPr>
            <a:picLocks noChangeAspect="1"/>
          </p:cNvPicPr>
          <p:nvPr/>
        </p:nvPicPr>
        <p:blipFill>
          <a:blip r:embed="rId4"/>
          <a:stretch>
            <a:fillRect/>
          </a:stretch>
        </p:blipFill>
        <p:spPr>
          <a:xfrm>
            <a:off x="3749637" y="5785680"/>
            <a:ext cx="4692726" cy="771531"/>
          </a:xfrm>
          <a:prstGeom prst="rect">
            <a:avLst/>
          </a:prstGeom>
        </p:spPr>
      </p:pic>
    </p:spTree>
    <p:extLst>
      <p:ext uri="{BB962C8B-B14F-4D97-AF65-F5344CB8AC3E}">
        <p14:creationId xmlns:p14="http://schemas.microsoft.com/office/powerpoint/2010/main" val="33531152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065EB-6360-7D44-CB6C-EA3FFEAB87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FE1E5B-BA80-AD7F-1F44-12D1F68FD084}"/>
              </a:ext>
            </a:extLst>
          </p:cNvPr>
          <p:cNvSpPr>
            <a:spLocks noGrp="1"/>
          </p:cNvSpPr>
          <p:nvPr>
            <p:ph type="title"/>
          </p:nvPr>
        </p:nvSpPr>
        <p:spPr/>
        <p:txBody>
          <a:bodyPr/>
          <a:lstStyle/>
          <a:p>
            <a:r>
              <a:rPr lang="en-US"/>
              <a:t>Building our Observables</a:t>
            </a:r>
          </a:p>
        </p:txBody>
      </p:sp>
      <p:pic>
        <p:nvPicPr>
          <p:cNvPr id="9" name="Picture 8">
            <a:extLst>
              <a:ext uri="{FF2B5EF4-FFF2-40B4-BE49-F238E27FC236}">
                <a16:creationId xmlns:a16="http://schemas.microsoft.com/office/drawing/2014/main" id="{955E89E0-FC89-8D79-E8B7-E41D9FCE6B07}"/>
              </a:ext>
            </a:extLst>
          </p:cNvPr>
          <p:cNvPicPr>
            <a:picLocks noChangeAspect="1"/>
          </p:cNvPicPr>
          <p:nvPr/>
        </p:nvPicPr>
        <p:blipFill>
          <a:blip r:embed="rId3"/>
          <a:stretch>
            <a:fillRect/>
          </a:stretch>
        </p:blipFill>
        <p:spPr>
          <a:xfrm>
            <a:off x="749301" y="1343583"/>
            <a:ext cx="2504069" cy="1784668"/>
          </a:xfrm>
          <a:prstGeom prst="rect">
            <a:avLst/>
          </a:prstGeom>
        </p:spPr>
      </p:pic>
      <p:pic>
        <p:nvPicPr>
          <p:cNvPr id="10" name="Picture 9">
            <a:extLst>
              <a:ext uri="{FF2B5EF4-FFF2-40B4-BE49-F238E27FC236}">
                <a16:creationId xmlns:a16="http://schemas.microsoft.com/office/drawing/2014/main" id="{6FD0BA26-21F0-7660-46B7-58E8197E0358}"/>
              </a:ext>
            </a:extLst>
          </p:cNvPr>
          <p:cNvPicPr>
            <a:picLocks noChangeAspect="1"/>
          </p:cNvPicPr>
          <p:nvPr/>
        </p:nvPicPr>
        <p:blipFill>
          <a:blip r:embed="rId4"/>
          <a:stretch>
            <a:fillRect/>
          </a:stretch>
        </p:blipFill>
        <p:spPr>
          <a:xfrm>
            <a:off x="749301" y="3403806"/>
            <a:ext cx="2238723" cy="1804755"/>
          </a:xfrm>
          <a:prstGeom prst="rect">
            <a:avLst/>
          </a:prstGeom>
        </p:spPr>
      </p:pic>
      <p:pic>
        <p:nvPicPr>
          <p:cNvPr id="11" name="Picture 10">
            <a:extLst>
              <a:ext uri="{FF2B5EF4-FFF2-40B4-BE49-F238E27FC236}">
                <a16:creationId xmlns:a16="http://schemas.microsoft.com/office/drawing/2014/main" id="{689F15A4-8867-269A-6A01-ABBD5B8B5A59}"/>
              </a:ext>
            </a:extLst>
          </p:cNvPr>
          <p:cNvPicPr>
            <a:picLocks noChangeAspect="1"/>
          </p:cNvPicPr>
          <p:nvPr/>
        </p:nvPicPr>
        <p:blipFill>
          <a:blip r:embed="rId5"/>
          <a:stretch>
            <a:fillRect/>
          </a:stretch>
        </p:blipFill>
        <p:spPr>
          <a:xfrm>
            <a:off x="4068525" y="1343582"/>
            <a:ext cx="7737992" cy="2085417"/>
          </a:xfrm>
          <a:prstGeom prst="rect">
            <a:avLst/>
          </a:prstGeom>
        </p:spPr>
      </p:pic>
      <p:pic>
        <p:nvPicPr>
          <p:cNvPr id="12" name="Picture 11">
            <a:extLst>
              <a:ext uri="{FF2B5EF4-FFF2-40B4-BE49-F238E27FC236}">
                <a16:creationId xmlns:a16="http://schemas.microsoft.com/office/drawing/2014/main" id="{183B3D5A-3155-BC77-2144-FB27896F4041}"/>
              </a:ext>
            </a:extLst>
          </p:cNvPr>
          <p:cNvPicPr>
            <a:picLocks noChangeAspect="1"/>
          </p:cNvPicPr>
          <p:nvPr/>
        </p:nvPicPr>
        <p:blipFill>
          <a:blip r:embed="rId6"/>
          <a:stretch>
            <a:fillRect/>
          </a:stretch>
        </p:blipFill>
        <p:spPr>
          <a:xfrm>
            <a:off x="4075953" y="3686459"/>
            <a:ext cx="7949405" cy="1909634"/>
          </a:xfrm>
          <a:prstGeom prst="rect">
            <a:avLst/>
          </a:prstGeom>
        </p:spPr>
      </p:pic>
      <p:sp>
        <p:nvSpPr>
          <p:cNvPr id="13" name="TextBox 12">
            <a:extLst>
              <a:ext uri="{FF2B5EF4-FFF2-40B4-BE49-F238E27FC236}">
                <a16:creationId xmlns:a16="http://schemas.microsoft.com/office/drawing/2014/main" id="{C1DB10E9-D34D-AE4A-5F9C-EC68F9698C39}"/>
              </a:ext>
            </a:extLst>
          </p:cNvPr>
          <p:cNvSpPr txBox="1"/>
          <p:nvPr/>
        </p:nvSpPr>
        <p:spPr>
          <a:xfrm>
            <a:off x="446350" y="1249835"/>
            <a:ext cx="1191237" cy="369332"/>
          </a:xfrm>
          <a:prstGeom prst="rect">
            <a:avLst/>
          </a:prstGeom>
          <a:noFill/>
        </p:spPr>
        <p:txBody>
          <a:bodyPr wrap="square" rtlCol="0">
            <a:spAutoFit/>
          </a:bodyPr>
          <a:lstStyle/>
          <a:p>
            <a:r>
              <a:rPr lang="en-US"/>
              <a:t>1</a:t>
            </a:r>
          </a:p>
        </p:txBody>
      </p:sp>
      <p:sp>
        <p:nvSpPr>
          <p:cNvPr id="14" name="TextBox 13">
            <a:extLst>
              <a:ext uri="{FF2B5EF4-FFF2-40B4-BE49-F238E27FC236}">
                <a16:creationId xmlns:a16="http://schemas.microsoft.com/office/drawing/2014/main" id="{60BAAD4E-9E27-3AC2-2BA5-B3853ACA74CD}"/>
              </a:ext>
            </a:extLst>
          </p:cNvPr>
          <p:cNvSpPr txBox="1"/>
          <p:nvPr/>
        </p:nvSpPr>
        <p:spPr>
          <a:xfrm>
            <a:off x="446350" y="3360418"/>
            <a:ext cx="1191237" cy="369332"/>
          </a:xfrm>
          <a:prstGeom prst="rect">
            <a:avLst/>
          </a:prstGeom>
          <a:noFill/>
        </p:spPr>
        <p:txBody>
          <a:bodyPr wrap="square" rtlCol="0">
            <a:spAutoFit/>
          </a:bodyPr>
          <a:lstStyle/>
          <a:p>
            <a:r>
              <a:rPr lang="en-US"/>
              <a:t>2</a:t>
            </a:r>
          </a:p>
        </p:txBody>
      </p:sp>
      <p:sp>
        <p:nvSpPr>
          <p:cNvPr id="15" name="TextBox 14">
            <a:extLst>
              <a:ext uri="{FF2B5EF4-FFF2-40B4-BE49-F238E27FC236}">
                <a16:creationId xmlns:a16="http://schemas.microsoft.com/office/drawing/2014/main" id="{57AAEA58-3C87-6F44-0FC4-6013F2D62C87}"/>
              </a:ext>
            </a:extLst>
          </p:cNvPr>
          <p:cNvSpPr txBox="1"/>
          <p:nvPr/>
        </p:nvSpPr>
        <p:spPr>
          <a:xfrm>
            <a:off x="3773202" y="1261907"/>
            <a:ext cx="1191237" cy="369332"/>
          </a:xfrm>
          <a:prstGeom prst="rect">
            <a:avLst/>
          </a:prstGeom>
          <a:noFill/>
        </p:spPr>
        <p:txBody>
          <a:bodyPr wrap="square" rtlCol="0">
            <a:spAutoFit/>
          </a:bodyPr>
          <a:lstStyle/>
          <a:p>
            <a:r>
              <a:rPr lang="en-US"/>
              <a:t>3</a:t>
            </a:r>
          </a:p>
        </p:txBody>
      </p:sp>
      <p:sp>
        <p:nvSpPr>
          <p:cNvPr id="16" name="TextBox 15">
            <a:extLst>
              <a:ext uri="{FF2B5EF4-FFF2-40B4-BE49-F238E27FC236}">
                <a16:creationId xmlns:a16="http://schemas.microsoft.com/office/drawing/2014/main" id="{9CA4EE1B-3B62-53F2-5E8C-C6F899EE0DFC}"/>
              </a:ext>
            </a:extLst>
          </p:cNvPr>
          <p:cNvSpPr txBox="1"/>
          <p:nvPr/>
        </p:nvSpPr>
        <p:spPr>
          <a:xfrm>
            <a:off x="3773202" y="3686459"/>
            <a:ext cx="1191237" cy="369332"/>
          </a:xfrm>
          <a:prstGeom prst="rect">
            <a:avLst/>
          </a:prstGeom>
          <a:noFill/>
        </p:spPr>
        <p:txBody>
          <a:bodyPr wrap="square" rtlCol="0">
            <a:spAutoFit/>
          </a:bodyPr>
          <a:lstStyle/>
          <a:p>
            <a:r>
              <a:rPr lang="en-US"/>
              <a:t>4</a:t>
            </a:r>
          </a:p>
        </p:txBody>
      </p:sp>
      <p:sp>
        <p:nvSpPr>
          <p:cNvPr id="3" name="Oval 2">
            <a:extLst>
              <a:ext uri="{FF2B5EF4-FFF2-40B4-BE49-F238E27FC236}">
                <a16:creationId xmlns:a16="http://schemas.microsoft.com/office/drawing/2014/main" id="{B9B7CE37-7965-4EEA-869E-9DC8516F9EB1}"/>
              </a:ext>
            </a:extLst>
          </p:cNvPr>
          <p:cNvSpPr/>
          <p:nvPr/>
        </p:nvSpPr>
        <p:spPr>
          <a:xfrm>
            <a:off x="3253370" y="3510674"/>
            <a:ext cx="8669925" cy="2541210"/>
          </a:xfrm>
          <a:prstGeom prst="ellipse">
            <a:avLst/>
          </a:prstGeom>
          <a:solidFill>
            <a:srgbClr val="FFFF00">
              <a:alpha val="3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37279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433F2-858A-61B7-ACE9-8C24F93705C8}"/>
              </a:ext>
            </a:extLst>
          </p:cNvPr>
          <p:cNvSpPr>
            <a:spLocks noGrp="1"/>
          </p:cNvSpPr>
          <p:nvPr>
            <p:ph type="title"/>
          </p:nvPr>
        </p:nvSpPr>
        <p:spPr/>
        <p:txBody>
          <a:bodyPr/>
          <a:lstStyle/>
          <a:p>
            <a:r>
              <a:rPr lang="en-US"/>
              <a:t>Testing Modules</a:t>
            </a:r>
          </a:p>
        </p:txBody>
      </p:sp>
      <p:graphicFrame>
        <p:nvGraphicFramePr>
          <p:cNvPr id="4" name="Content Placeholder 3">
            <a:extLst>
              <a:ext uri="{FF2B5EF4-FFF2-40B4-BE49-F238E27FC236}">
                <a16:creationId xmlns:a16="http://schemas.microsoft.com/office/drawing/2014/main" id="{B12A6FE0-A709-42AB-0BFF-6D3B2A6E6BED}"/>
              </a:ext>
            </a:extLst>
          </p:cNvPr>
          <p:cNvGraphicFramePr>
            <a:graphicFrameLocks noGrp="1"/>
          </p:cNvGraphicFramePr>
          <p:nvPr>
            <p:ph idx="1"/>
            <p:extLst>
              <p:ext uri="{D42A27DB-BD31-4B8C-83A1-F6EECF244321}">
                <p14:modId xmlns:p14="http://schemas.microsoft.com/office/powerpoint/2010/main" val="1082862321"/>
              </p:ext>
            </p:extLst>
          </p:nvPr>
        </p:nvGraphicFramePr>
        <p:xfrm>
          <a:off x="75501" y="901456"/>
          <a:ext cx="11887200" cy="5389392"/>
        </p:xfrm>
        <a:graphic>
          <a:graphicData uri="http://schemas.openxmlformats.org/drawingml/2006/table">
            <a:tbl>
              <a:tblPr firstRow="1">
                <a:tableStyleId>{21E4AEA4-8DFA-4A89-87EB-49C32662AFE0}</a:tableStyleId>
              </a:tblPr>
              <a:tblGrid>
                <a:gridCol w="1090569">
                  <a:extLst>
                    <a:ext uri="{9D8B030D-6E8A-4147-A177-3AD203B41FA5}">
                      <a16:colId xmlns:a16="http://schemas.microsoft.com/office/drawing/2014/main" val="2813225979"/>
                    </a:ext>
                  </a:extLst>
                </a:gridCol>
                <a:gridCol w="3078759">
                  <a:extLst>
                    <a:ext uri="{9D8B030D-6E8A-4147-A177-3AD203B41FA5}">
                      <a16:colId xmlns:a16="http://schemas.microsoft.com/office/drawing/2014/main" val="2019662692"/>
                    </a:ext>
                  </a:extLst>
                </a:gridCol>
                <a:gridCol w="7717872">
                  <a:extLst>
                    <a:ext uri="{9D8B030D-6E8A-4147-A177-3AD203B41FA5}">
                      <a16:colId xmlns:a16="http://schemas.microsoft.com/office/drawing/2014/main" val="1997581810"/>
                    </a:ext>
                  </a:extLst>
                </a:gridCol>
              </a:tblGrid>
              <a:tr h="806814">
                <a:tc>
                  <a:txBody>
                    <a:bodyPr/>
                    <a:lstStyle/>
                    <a:p>
                      <a:pPr algn="ctr" fontAlgn="b">
                        <a:buNone/>
                      </a:pPr>
                      <a:r>
                        <a:rPr lang="en-US" sz="2000" u="none" strike="noStrike">
                          <a:effectLst/>
                        </a:rPr>
                        <a:t>Module</a:t>
                      </a:r>
                      <a:endParaRPr lang="en-US" sz="2000" b="0" i="0" u="none" strike="noStrike">
                        <a:solidFill>
                          <a:srgbClr val="000000"/>
                        </a:solidFill>
                        <a:effectLst/>
                        <a:latin typeface="Aptos Narrow" panose="020B0004020202020204" pitchFamily="34" charset="0"/>
                      </a:endParaRPr>
                    </a:p>
                  </a:txBody>
                  <a:tcPr marL="2618" marR="2618" marT="2618" marB="0" anchor="ctr"/>
                </a:tc>
                <a:tc>
                  <a:txBody>
                    <a:bodyPr/>
                    <a:lstStyle/>
                    <a:p>
                      <a:pPr algn="ctr" fontAlgn="b">
                        <a:buNone/>
                      </a:pPr>
                      <a:r>
                        <a:rPr lang="en-US" sz="2000" u="none" strike="noStrike">
                          <a:effectLst/>
                        </a:rPr>
                        <a:t>Parameter</a:t>
                      </a:r>
                      <a:endParaRPr lang="en-US" sz="2000" b="0" i="0" u="none" strike="noStrike">
                        <a:solidFill>
                          <a:srgbClr val="000000"/>
                        </a:solidFill>
                        <a:effectLst/>
                        <a:latin typeface="Aptos Narrow" panose="020B0004020202020204" pitchFamily="34" charset="0"/>
                      </a:endParaRPr>
                    </a:p>
                  </a:txBody>
                  <a:tcPr marL="2618" marR="2618" marT="2618" marB="0" anchor="ctr"/>
                </a:tc>
                <a:tc>
                  <a:txBody>
                    <a:bodyPr/>
                    <a:lstStyle/>
                    <a:p>
                      <a:pPr algn="ctr" fontAlgn="b">
                        <a:buNone/>
                      </a:pPr>
                      <a:r>
                        <a:rPr lang="en-US" sz="2000" u="none" strike="noStrike">
                          <a:effectLst/>
                        </a:rPr>
                        <a:t>Description</a:t>
                      </a:r>
                      <a:endParaRPr lang="en-US" sz="2000" b="0" i="0" u="none" strike="noStrike">
                        <a:solidFill>
                          <a:srgbClr val="000000"/>
                        </a:solidFill>
                        <a:effectLst/>
                        <a:latin typeface="Aptos Narrow" panose="020B0004020202020204" pitchFamily="34" charset="0"/>
                      </a:endParaRPr>
                    </a:p>
                  </a:txBody>
                  <a:tcPr marL="2618" marR="2618" marT="2618" marB="0" anchor="ctr"/>
                </a:tc>
                <a:extLst>
                  <a:ext uri="{0D108BD9-81ED-4DB2-BD59-A6C34878D82A}">
                    <a16:rowId xmlns:a16="http://schemas.microsoft.com/office/drawing/2014/main" val="1315420043"/>
                  </a:ext>
                </a:extLst>
              </a:tr>
              <a:tr h="463447">
                <a:tc>
                  <a:txBody>
                    <a:bodyPr/>
                    <a:lstStyle/>
                    <a:p>
                      <a:pPr algn="l" fontAlgn="b">
                        <a:buNone/>
                      </a:pPr>
                      <a:r>
                        <a:rPr lang="en-US" sz="1600" u="none" strike="noStrike">
                          <a:effectLst/>
                        </a:rPr>
                        <a:t>1</a:t>
                      </a:r>
                      <a:endParaRPr lang="en-US" sz="1600" b="0" i="0" u="none" strike="noStrike">
                        <a:solidFill>
                          <a:srgbClr val="000000"/>
                        </a:solidFill>
                        <a:effectLst/>
                        <a:latin typeface="Aptos Narrow" panose="020B0004020202020204" pitchFamily="34" charset="0"/>
                      </a:endParaRPr>
                    </a:p>
                  </a:txBody>
                  <a:tcPr marL="2618" marR="2618" marT="2618" marB="0" anchor="ctr"/>
                </a:tc>
                <a:tc>
                  <a:txBody>
                    <a:bodyPr/>
                    <a:lstStyle/>
                    <a:p>
                      <a:pPr algn="l" fontAlgn="b">
                        <a:buNone/>
                      </a:pPr>
                      <a:r>
                        <a:rPr lang="en-US" sz="1600" u="none" strike="noStrike">
                          <a:effectLst/>
                        </a:rPr>
                        <a:t>Feature Map 1: ZZ</a:t>
                      </a:r>
                      <a:endParaRPr lang="en-US" sz="1600" b="0" i="0" u="none" strike="noStrike">
                        <a:solidFill>
                          <a:srgbClr val="000000"/>
                        </a:solidFill>
                        <a:effectLst/>
                        <a:latin typeface="Aptos Narrow" panose="020B0004020202020204" pitchFamily="34" charset="0"/>
                      </a:endParaRPr>
                    </a:p>
                  </a:txBody>
                  <a:tcPr marL="2618" marR="2618" marT="2618" marB="0" anchor="ctr"/>
                </a:tc>
                <a:tc>
                  <a:txBody>
                    <a:bodyPr/>
                    <a:lstStyle/>
                    <a:p>
                      <a:pPr algn="l" fontAlgn="b">
                        <a:buNone/>
                      </a:pPr>
                      <a:r>
                        <a:rPr lang="en-US" sz="1600" u="none" strike="noStrike">
                          <a:effectLst/>
                        </a:rPr>
                        <a:t>Single-qubit rotations and entangling ZZ interactions between qubits.</a:t>
                      </a:r>
                      <a:endParaRPr lang="en-US" sz="1600" b="0" i="0" u="none" strike="noStrike">
                        <a:solidFill>
                          <a:srgbClr val="000000"/>
                        </a:solidFill>
                        <a:effectLst/>
                        <a:latin typeface="Aptos Narrow" panose="020B0004020202020204" pitchFamily="34" charset="0"/>
                      </a:endParaRPr>
                    </a:p>
                  </a:txBody>
                  <a:tcPr marL="2618" marR="2618" marT="2618" marB="0" anchor="ctr"/>
                </a:tc>
                <a:extLst>
                  <a:ext uri="{0D108BD9-81ED-4DB2-BD59-A6C34878D82A}">
                    <a16:rowId xmlns:a16="http://schemas.microsoft.com/office/drawing/2014/main" val="4003308116"/>
                  </a:ext>
                </a:extLst>
              </a:tr>
              <a:tr h="693861">
                <a:tc>
                  <a:txBody>
                    <a:bodyPr/>
                    <a:lstStyle/>
                    <a:p>
                      <a:pPr algn="l" fontAlgn="b">
                        <a:buNone/>
                      </a:pPr>
                      <a:r>
                        <a:rPr lang="en-US" sz="1600" u="none" strike="noStrike">
                          <a:effectLst/>
                        </a:rPr>
                        <a:t>2</a:t>
                      </a:r>
                      <a:endParaRPr lang="en-US" sz="1600" b="0" i="0" u="none" strike="noStrike">
                        <a:solidFill>
                          <a:srgbClr val="000000"/>
                        </a:solidFill>
                        <a:effectLst/>
                        <a:latin typeface="Aptos Narrow" panose="020B0004020202020204" pitchFamily="34" charset="0"/>
                      </a:endParaRPr>
                    </a:p>
                  </a:txBody>
                  <a:tcPr marL="2618" marR="2618" marT="2618" marB="0" anchor="ctr"/>
                </a:tc>
                <a:tc>
                  <a:txBody>
                    <a:bodyPr/>
                    <a:lstStyle/>
                    <a:p>
                      <a:pPr algn="l" fontAlgn="b">
                        <a:buNone/>
                      </a:pPr>
                      <a:r>
                        <a:rPr lang="fr-FR" sz="1600" u="none" strike="noStrike" err="1">
                          <a:effectLst/>
                        </a:rPr>
                        <a:t>Feature</a:t>
                      </a:r>
                      <a:r>
                        <a:rPr lang="fr-FR" sz="1600" u="none" strike="noStrike">
                          <a:effectLst/>
                        </a:rPr>
                        <a:t> </a:t>
                      </a:r>
                      <a:r>
                        <a:rPr lang="fr-FR" sz="1600" u="none" strike="noStrike" err="1">
                          <a:effectLst/>
                        </a:rPr>
                        <a:t>Map</a:t>
                      </a:r>
                      <a:r>
                        <a:rPr lang="fr-FR" sz="1600" u="none" strike="noStrike">
                          <a:effectLst/>
                        </a:rPr>
                        <a:t> 2: Z-Y-ZZ </a:t>
                      </a:r>
                      <a:endParaRPr lang="fr-FR" sz="1600" b="0" i="0" u="none" strike="noStrike">
                        <a:solidFill>
                          <a:srgbClr val="000000"/>
                        </a:solidFill>
                        <a:effectLst/>
                        <a:latin typeface="Aptos Narrow" panose="020B0004020202020204" pitchFamily="34" charset="0"/>
                      </a:endParaRPr>
                    </a:p>
                  </a:txBody>
                  <a:tcPr marL="2618" marR="2618" marT="2618" marB="0" anchor="ctr"/>
                </a:tc>
                <a:tc>
                  <a:txBody>
                    <a:bodyPr/>
                    <a:lstStyle/>
                    <a:p>
                      <a:pPr algn="l" fontAlgn="b">
                        <a:buNone/>
                      </a:pPr>
                      <a:r>
                        <a:rPr lang="en-US" sz="1600" u="none" strike="noStrike">
                          <a:effectLst/>
                        </a:rPr>
                        <a:t>Combines Z-axis and Y-axis rotations with ZZ entangling interactions, encoding individual features and their pairwise correlations.</a:t>
                      </a:r>
                      <a:endParaRPr lang="en-US" sz="1600" b="0" i="0" u="none" strike="noStrike">
                        <a:solidFill>
                          <a:srgbClr val="000000"/>
                        </a:solidFill>
                        <a:effectLst/>
                        <a:latin typeface="Aptos Narrow" panose="020B0004020202020204" pitchFamily="34" charset="0"/>
                      </a:endParaRPr>
                    </a:p>
                  </a:txBody>
                  <a:tcPr marL="2618" marR="2618" marT="2618" marB="0" anchor="ctr"/>
                </a:tc>
                <a:extLst>
                  <a:ext uri="{0D108BD9-81ED-4DB2-BD59-A6C34878D82A}">
                    <a16:rowId xmlns:a16="http://schemas.microsoft.com/office/drawing/2014/main" val="3768856411"/>
                  </a:ext>
                </a:extLst>
              </a:tr>
              <a:tr h="739944">
                <a:tc>
                  <a:txBody>
                    <a:bodyPr/>
                    <a:lstStyle/>
                    <a:p>
                      <a:pPr algn="l" fontAlgn="b">
                        <a:buNone/>
                      </a:pPr>
                      <a:r>
                        <a:rPr lang="en-US" sz="1600" u="none" strike="noStrike">
                          <a:effectLst/>
                          <a:highlight>
                            <a:srgbClr val="FFFF00"/>
                          </a:highlight>
                        </a:rPr>
                        <a:t>3</a:t>
                      </a:r>
                      <a:endParaRPr lang="en-US" sz="1600" b="0" i="0" u="none" strike="noStrike">
                        <a:solidFill>
                          <a:srgbClr val="000000"/>
                        </a:solidFill>
                        <a:effectLst/>
                        <a:highlight>
                          <a:srgbClr val="FFFF00"/>
                        </a:highlight>
                        <a:latin typeface="Aptos Narrow" panose="020B0004020202020204" pitchFamily="34" charset="0"/>
                      </a:endParaRPr>
                    </a:p>
                  </a:txBody>
                  <a:tcPr marL="2618" marR="2618" marT="2618" marB="0" anchor="ctr"/>
                </a:tc>
                <a:tc>
                  <a:txBody>
                    <a:bodyPr/>
                    <a:lstStyle/>
                    <a:p>
                      <a:pPr algn="l" fontAlgn="b">
                        <a:buNone/>
                      </a:pPr>
                      <a:r>
                        <a:rPr lang="en-US" sz="1600" u="none" strike="noStrike">
                          <a:effectLst/>
                          <a:highlight>
                            <a:srgbClr val="FFFF00"/>
                          </a:highlight>
                        </a:rPr>
                        <a:t>Feature Map 3: X-ZZ </a:t>
                      </a:r>
                      <a:endParaRPr lang="en-US" sz="1600" b="0" i="0" u="none" strike="noStrike">
                        <a:solidFill>
                          <a:srgbClr val="000000"/>
                        </a:solidFill>
                        <a:effectLst/>
                        <a:highlight>
                          <a:srgbClr val="FFFF00"/>
                        </a:highlight>
                        <a:latin typeface="Aptos Narrow" panose="020B0004020202020204" pitchFamily="34" charset="0"/>
                      </a:endParaRPr>
                    </a:p>
                  </a:txBody>
                  <a:tcPr marL="2618" marR="2618" marT="2618" marB="0" anchor="ctr"/>
                </a:tc>
                <a:tc>
                  <a:txBody>
                    <a:bodyPr/>
                    <a:lstStyle/>
                    <a:p>
                      <a:pPr algn="l" fontAlgn="b">
                        <a:buNone/>
                      </a:pPr>
                      <a:r>
                        <a:rPr lang="en-US" sz="1600" u="none" strike="noStrike">
                          <a:effectLst/>
                          <a:highlight>
                            <a:srgbClr val="FFFF00"/>
                          </a:highlight>
                        </a:rPr>
                        <a:t>Rotation around the X-axis followed by ZZ entangling interactions, encoding both individual features and their pairwise correlations.</a:t>
                      </a:r>
                      <a:endParaRPr lang="en-US" sz="1600" b="0" i="0" u="none" strike="noStrike">
                        <a:solidFill>
                          <a:srgbClr val="000000"/>
                        </a:solidFill>
                        <a:effectLst/>
                        <a:highlight>
                          <a:srgbClr val="FFFF00"/>
                        </a:highlight>
                        <a:latin typeface="Aptos Narrow" panose="020B0004020202020204" pitchFamily="34" charset="0"/>
                      </a:endParaRPr>
                    </a:p>
                  </a:txBody>
                  <a:tcPr marL="2618" marR="2618" marT="2618" marB="0" anchor="ctr"/>
                </a:tc>
                <a:extLst>
                  <a:ext uri="{0D108BD9-81ED-4DB2-BD59-A6C34878D82A}">
                    <a16:rowId xmlns:a16="http://schemas.microsoft.com/office/drawing/2014/main" val="2230304613"/>
                  </a:ext>
                </a:extLst>
              </a:tr>
              <a:tr h="509530">
                <a:tc>
                  <a:txBody>
                    <a:bodyPr/>
                    <a:lstStyle/>
                    <a:p>
                      <a:pPr algn="l" fontAlgn="b">
                        <a:buNone/>
                      </a:pPr>
                      <a:r>
                        <a:rPr lang="en-US" sz="1600" u="none" strike="noStrike">
                          <a:effectLst/>
                        </a:rPr>
                        <a:t>4</a:t>
                      </a:r>
                      <a:endParaRPr lang="en-US" sz="1600" b="0" i="0" u="none" strike="noStrike">
                        <a:solidFill>
                          <a:srgbClr val="000000"/>
                        </a:solidFill>
                        <a:effectLst/>
                        <a:latin typeface="Aptos Narrow" panose="020B0004020202020204" pitchFamily="34" charset="0"/>
                      </a:endParaRPr>
                    </a:p>
                  </a:txBody>
                  <a:tcPr marL="2618" marR="2618" marT="2618" marB="0" anchor="ctr"/>
                </a:tc>
                <a:tc>
                  <a:txBody>
                    <a:bodyPr/>
                    <a:lstStyle/>
                    <a:p>
                      <a:pPr algn="l" fontAlgn="b">
                        <a:buNone/>
                      </a:pPr>
                      <a:r>
                        <a:rPr lang="en-US" sz="1600" u="none" strike="noStrike">
                          <a:effectLst/>
                        </a:rPr>
                        <a:t>Feature Map 4: Toffoli-enhanced</a:t>
                      </a:r>
                      <a:endParaRPr lang="en-US" sz="1600" b="0" i="0" u="none" strike="noStrike">
                        <a:solidFill>
                          <a:srgbClr val="000000"/>
                        </a:solidFill>
                        <a:effectLst/>
                        <a:latin typeface="Aptos Narrow" panose="020B0004020202020204" pitchFamily="34" charset="0"/>
                      </a:endParaRPr>
                    </a:p>
                  </a:txBody>
                  <a:tcPr marL="2618" marR="2618" marT="2618" marB="0" anchor="ctr"/>
                </a:tc>
                <a:tc>
                  <a:txBody>
                    <a:bodyPr/>
                    <a:lstStyle/>
                    <a:p>
                      <a:pPr algn="l" fontAlgn="b">
                        <a:buNone/>
                      </a:pPr>
                      <a:r>
                        <a:rPr lang="en-US" sz="1600" u="none" strike="noStrike">
                          <a:effectLst/>
                        </a:rPr>
                        <a:t>Leverages controlled-controlled operations to encode high-order feature interactions.</a:t>
                      </a:r>
                      <a:endParaRPr lang="en-US" sz="1600" b="0" i="0" u="none" strike="noStrike">
                        <a:solidFill>
                          <a:srgbClr val="000000"/>
                        </a:solidFill>
                        <a:effectLst/>
                        <a:latin typeface="Aptos Narrow" panose="020B0004020202020204" pitchFamily="34" charset="0"/>
                      </a:endParaRPr>
                    </a:p>
                  </a:txBody>
                  <a:tcPr marL="2618" marR="2618" marT="2618" marB="0" anchor="ctr"/>
                </a:tc>
                <a:extLst>
                  <a:ext uri="{0D108BD9-81ED-4DB2-BD59-A6C34878D82A}">
                    <a16:rowId xmlns:a16="http://schemas.microsoft.com/office/drawing/2014/main" val="3643924851"/>
                  </a:ext>
                </a:extLst>
              </a:tr>
              <a:tr h="601695">
                <a:tc>
                  <a:txBody>
                    <a:bodyPr/>
                    <a:lstStyle/>
                    <a:p>
                      <a:pPr algn="l" fontAlgn="b">
                        <a:buNone/>
                      </a:pPr>
                      <a:r>
                        <a:rPr lang="en-US" sz="1600" u="none" strike="noStrike">
                          <a:effectLst/>
                        </a:rPr>
                        <a:t>5</a:t>
                      </a:r>
                      <a:endParaRPr lang="en-US" sz="1600" b="0" i="0" u="none" strike="noStrike">
                        <a:solidFill>
                          <a:srgbClr val="000000"/>
                        </a:solidFill>
                        <a:effectLst/>
                        <a:latin typeface="Aptos Narrow" panose="020B0004020202020204" pitchFamily="34" charset="0"/>
                      </a:endParaRPr>
                    </a:p>
                  </a:txBody>
                  <a:tcPr marL="2618" marR="2618" marT="2618" marB="0" anchor="ctr"/>
                </a:tc>
                <a:tc>
                  <a:txBody>
                    <a:bodyPr/>
                    <a:lstStyle/>
                    <a:p>
                      <a:pPr algn="l" fontAlgn="b">
                        <a:buNone/>
                      </a:pPr>
                      <a:r>
                        <a:rPr lang="en-US" sz="1600" u="none" strike="noStrike">
                          <a:effectLst/>
                        </a:rPr>
                        <a:t>Ansatz 1: Enhanced SU2</a:t>
                      </a:r>
                      <a:endParaRPr lang="en-US" sz="1600" b="0" i="0" u="none" strike="noStrike">
                        <a:solidFill>
                          <a:srgbClr val="000000"/>
                        </a:solidFill>
                        <a:effectLst/>
                        <a:latin typeface="Aptos Narrow" panose="020B0004020202020204" pitchFamily="34" charset="0"/>
                      </a:endParaRPr>
                    </a:p>
                  </a:txBody>
                  <a:tcPr marL="2618" marR="2618" marT="2618" marB="0" anchor="ctr"/>
                </a:tc>
                <a:tc>
                  <a:txBody>
                    <a:bodyPr/>
                    <a:lstStyle/>
                    <a:p>
                      <a:pPr algn="l" fontAlgn="b">
                        <a:buNone/>
                      </a:pPr>
                      <a:r>
                        <a:rPr lang="en-US" sz="1600" u="none" strike="noStrike">
                          <a:effectLst/>
                        </a:rPr>
                        <a:t>Extends the SU(2) ansatz by incorporating additional layers of single-qubit rotations and entangling gates.</a:t>
                      </a:r>
                      <a:endParaRPr lang="en-US" sz="1600" b="0" i="0" u="none" strike="noStrike">
                        <a:solidFill>
                          <a:srgbClr val="000000"/>
                        </a:solidFill>
                        <a:effectLst/>
                        <a:latin typeface="Aptos Narrow" panose="020B0004020202020204" pitchFamily="34" charset="0"/>
                      </a:endParaRPr>
                    </a:p>
                  </a:txBody>
                  <a:tcPr marL="2618" marR="2618" marT="2618" marB="0" anchor="ctr"/>
                </a:tc>
                <a:extLst>
                  <a:ext uri="{0D108BD9-81ED-4DB2-BD59-A6C34878D82A}">
                    <a16:rowId xmlns:a16="http://schemas.microsoft.com/office/drawing/2014/main" val="4249920370"/>
                  </a:ext>
                </a:extLst>
              </a:tr>
              <a:tr h="279115">
                <a:tc>
                  <a:txBody>
                    <a:bodyPr/>
                    <a:lstStyle/>
                    <a:p>
                      <a:pPr algn="l" fontAlgn="b">
                        <a:buNone/>
                      </a:pPr>
                      <a:r>
                        <a:rPr lang="en-US" sz="1600" u="none" strike="noStrike">
                          <a:effectLst/>
                        </a:rPr>
                        <a:t>6</a:t>
                      </a:r>
                      <a:endParaRPr lang="en-US" sz="1600" b="0" i="0" u="none" strike="noStrike">
                        <a:solidFill>
                          <a:srgbClr val="000000"/>
                        </a:solidFill>
                        <a:effectLst/>
                        <a:latin typeface="Aptos Narrow" panose="020B0004020202020204" pitchFamily="34" charset="0"/>
                      </a:endParaRPr>
                    </a:p>
                  </a:txBody>
                  <a:tcPr marL="2618" marR="2618" marT="2618" marB="0" anchor="ctr"/>
                </a:tc>
                <a:tc>
                  <a:txBody>
                    <a:bodyPr/>
                    <a:lstStyle/>
                    <a:p>
                      <a:pPr algn="l" fontAlgn="b">
                        <a:buNone/>
                      </a:pPr>
                      <a:r>
                        <a:rPr lang="en-US" sz="1600" u="none" strike="noStrike">
                          <a:effectLst/>
                        </a:rPr>
                        <a:t>Ansatz 2: Toffoli Linear Entangle</a:t>
                      </a:r>
                      <a:endParaRPr lang="en-US" sz="1600" b="0" i="0" u="none" strike="noStrike">
                        <a:solidFill>
                          <a:srgbClr val="000000"/>
                        </a:solidFill>
                        <a:effectLst/>
                        <a:latin typeface="Aptos Narrow" panose="020B0004020202020204" pitchFamily="34" charset="0"/>
                      </a:endParaRPr>
                    </a:p>
                  </a:txBody>
                  <a:tcPr marL="2618" marR="2618" marT="2618" marB="0" anchor="ctr"/>
                </a:tc>
                <a:tc>
                  <a:txBody>
                    <a:bodyPr/>
                    <a:lstStyle/>
                    <a:p>
                      <a:pPr algn="l" fontAlgn="b">
                        <a:buNone/>
                      </a:pPr>
                      <a:r>
                        <a:rPr lang="en-US" sz="1600" u="none" strike="noStrike">
                          <a:effectLst/>
                        </a:rPr>
                        <a:t>Linear Toffoli entanglement.</a:t>
                      </a:r>
                      <a:endParaRPr lang="en-US" sz="1600" b="0" i="0" u="none" strike="noStrike">
                        <a:solidFill>
                          <a:srgbClr val="000000"/>
                        </a:solidFill>
                        <a:effectLst/>
                        <a:latin typeface="Aptos Narrow" panose="020B0004020202020204" pitchFamily="34" charset="0"/>
                      </a:endParaRPr>
                    </a:p>
                  </a:txBody>
                  <a:tcPr marL="2618" marR="2618" marT="2618" marB="0" anchor="ctr"/>
                </a:tc>
                <a:extLst>
                  <a:ext uri="{0D108BD9-81ED-4DB2-BD59-A6C34878D82A}">
                    <a16:rowId xmlns:a16="http://schemas.microsoft.com/office/drawing/2014/main" val="2050397311"/>
                  </a:ext>
                </a:extLst>
              </a:tr>
              <a:tr h="279115">
                <a:tc>
                  <a:txBody>
                    <a:bodyPr/>
                    <a:lstStyle/>
                    <a:p>
                      <a:pPr algn="l" fontAlgn="b">
                        <a:buNone/>
                      </a:pPr>
                      <a:r>
                        <a:rPr lang="en-US" sz="1600" u="none" strike="noStrike">
                          <a:effectLst/>
                        </a:rPr>
                        <a:t>7</a:t>
                      </a:r>
                      <a:endParaRPr lang="en-US" sz="1600" b="0" i="0" u="none" strike="noStrike">
                        <a:solidFill>
                          <a:srgbClr val="000000"/>
                        </a:solidFill>
                        <a:effectLst/>
                        <a:latin typeface="Aptos Narrow" panose="020B0004020202020204" pitchFamily="34" charset="0"/>
                      </a:endParaRPr>
                    </a:p>
                  </a:txBody>
                  <a:tcPr marL="2618" marR="2618" marT="2618" marB="0" anchor="ctr"/>
                </a:tc>
                <a:tc>
                  <a:txBody>
                    <a:bodyPr/>
                    <a:lstStyle/>
                    <a:p>
                      <a:pPr algn="l" fontAlgn="b">
                        <a:buNone/>
                      </a:pPr>
                      <a:r>
                        <a:rPr lang="en-US" sz="1600" u="none" strike="noStrike">
                          <a:effectLst/>
                        </a:rPr>
                        <a:t>Ansatz 3: Toffoli Circular Entangle</a:t>
                      </a:r>
                      <a:endParaRPr lang="en-US" sz="1600" b="0" i="0" u="none" strike="noStrike">
                        <a:solidFill>
                          <a:srgbClr val="000000"/>
                        </a:solidFill>
                        <a:effectLst/>
                        <a:latin typeface="Aptos Narrow" panose="020B0004020202020204" pitchFamily="34" charset="0"/>
                      </a:endParaRPr>
                    </a:p>
                  </a:txBody>
                  <a:tcPr marL="2618" marR="2618" marT="2618" marB="0" anchor="ctr"/>
                </a:tc>
                <a:tc>
                  <a:txBody>
                    <a:bodyPr/>
                    <a:lstStyle/>
                    <a:p>
                      <a:pPr algn="l" fontAlgn="b">
                        <a:buNone/>
                      </a:pPr>
                      <a:r>
                        <a:rPr lang="en-US" sz="1600" u="none" strike="noStrike">
                          <a:effectLst/>
                        </a:rPr>
                        <a:t>Circular Toffoli entanglement.</a:t>
                      </a:r>
                      <a:endParaRPr lang="en-US" sz="1600" b="0" i="0" u="none" strike="noStrike">
                        <a:solidFill>
                          <a:srgbClr val="000000"/>
                        </a:solidFill>
                        <a:effectLst/>
                        <a:latin typeface="Aptos Narrow" panose="020B0004020202020204" pitchFamily="34" charset="0"/>
                      </a:endParaRPr>
                    </a:p>
                  </a:txBody>
                  <a:tcPr marL="2618" marR="2618" marT="2618" marB="0" anchor="ctr"/>
                </a:tc>
                <a:extLst>
                  <a:ext uri="{0D108BD9-81ED-4DB2-BD59-A6C34878D82A}">
                    <a16:rowId xmlns:a16="http://schemas.microsoft.com/office/drawing/2014/main" val="815167871"/>
                  </a:ext>
                </a:extLst>
              </a:tr>
              <a:tr h="233033">
                <a:tc>
                  <a:txBody>
                    <a:bodyPr/>
                    <a:lstStyle/>
                    <a:p>
                      <a:pPr algn="l" fontAlgn="b">
                        <a:buNone/>
                      </a:pPr>
                      <a:r>
                        <a:rPr lang="en-US" sz="1600" u="none" strike="noStrike">
                          <a:effectLst/>
                        </a:rPr>
                        <a:t>8</a:t>
                      </a:r>
                      <a:endParaRPr lang="en-US" sz="1600" b="0" i="0" u="none" strike="noStrike">
                        <a:solidFill>
                          <a:srgbClr val="000000"/>
                        </a:solidFill>
                        <a:effectLst/>
                        <a:latin typeface="Aptos Narrow" panose="020B0004020202020204" pitchFamily="34" charset="0"/>
                      </a:endParaRPr>
                    </a:p>
                  </a:txBody>
                  <a:tcPr marL="2618" marR="2618" marT="2618" marB="0" anchor="ctr"/>
                </a:tc>
                <a:tc>
                  <a:txBody>
                    <a:bodyPr/>
                    <a:lstStyle/>
                    <a:p>
                      <a:pPr algn="l" fontAlgn="b">
                        <a:buNone/>
                      </a:pPr>
                      <a:r>
                        <a:rPr lang="en-US" sz="1600" u="none" strike="noStrike">
                          <a:effectLst/>
                        </a:rPr>
                        <a:t>Ansatz 4: Toffoli Full Entangle</a:t>
                      </a:r>
                      <a:endParaRPr lang="en-US" sz="1600" b="0" i="0" u="none" strike="noStrike">
                        <a:solidFill>
                          <a:srgbClr val="000000"/>
                        </a:solidFill>
                        <a:effectLst/>
                        <a:latin typeface="Aptos Narrow" panose="020B0004020202020204" pitchFamily="34" charset="0"/>
                      </a:endParaRPr>
                    </a:p>
                  </a:txBody>
                  <a:tcPr marL="2618" marR="2618" marT="2618" marB="0" anchor="ctr"/>
                </a:tc>
                <a:tc>
                  <a:txBody>
                    <a:bodyPr/>
                    <a:lstStyle/>
                    <a:p>
                      <a:pPr algn="l" fontAlgn="b">
                        <a:buNone/>
                      </a:pPr>
                      <a:r>
                        <a:rPr lang="en-US" sz="1600" u="none" strike="noStrike">
                          <a:effectLst/>
                        </a:rPr>
                        <a:t>Full Toffoli entanglement.</a:t>
                      </a:r>
                      <a:endParaRPr lang="en-US" sz="1600" b="0" i="0" u="none" strike="noStrike">
                        <a:solidFill>
                          <a:srgbClr val="000000"/>
                        </a:solidFill>
                        <a:effectLst/>
                        <a:latin typeface="Aptos Narrow" panose="020B0004020202020204" pitchFamily="34" charset="0"/>
                      </a:endParaRPr>
                    </a:p>
                  </a:txBody>
                  <a:tcPr marL="2618" marR="2618" marT="2618" marB="0" anchor="ctr"/>
                </a:tc>
                <a:extLst>
                  <a:ext uri="{0D108BD9-81ED-4DB2-BD59-A6C34878D82A}">
                    <a16:rowId xmlns:a16="http://schemas.microsoft.com/office/drawing/2014/main" val="3088575739"/>
                  </a:ext>
                </a:extLst>
              </a:tr>
              <a:tr h="279115">
                <a:tc>
                  <a:txBody>
                    <a:bodyPr/>
                    <a:lstStyle/>
                    <a:p>
                      <a:pPr algn="l" fontAlgn="b">
                        <a:buNone/>
                      </a:pPr>
                      <a:r>
                        <a:rPr lang="en-US" sz="1600" u="none" strike="noStrike">
                          <a:effectLst/>
                        </a:rPr>
                        <a:t>9</a:t>
                      </a:r>
                      <a:endParaRPr lang="en-US" sz="1600" b="0" i="0" u="none" strike="noStrike">
                        <a:solidFill>
                          <a:srgbClr val="000000"/>
                        </a:solidFill>
                        <a:effectLst/>
                        <a:latin typeface="Aptos Narrow" panose="020B0004020202020204" pitchFamily="34" charset="0"/>
                      </a:endParaRPr>
                    </a:p>
                  </a:txBody>
                  <a:tcPr marL="2618" marR="2618" marT="2618" marB="0" anchor="ctr"/>
                </a:tc>
                <a:tc>
                  <a:txBody>
                    <a:bodyPr/>
                    <a:lstStyle/>
                    <a:p>
                      <a:pPr algn="l" fontAlgn="b">
                        <a:buNone/>
                      </a:pPr>
                      <a:r>
                        <a:rPr lang="en-US" sz="1600" u="none" strike="noStrike">
                          <a:effectLst/>
                        </a:rPr>
                        <a:t>Ansatz 5: Toffoli with CNOT</a:t>
                      </a:r>
                      <a:endParaRPr lang="en-US" sz="1600" b="0" i="0" u="none" strike="noStrike">
                        <a:solidFill>
                          <a:srgbClr val="000000"/>
                        </a:solidFill>
                        <a:effectLst/>
                        <a:latin typeface="Aptos Narrow" panose="020B0004020202020204" pitchFamily="34" charset="0"/>
                      </a:endParaRPr>
                    </a:p>
                  </a:txBody>
                  <a:tcPr marL="2618" marR="2618" marT="2618" marB="0" anchor="ctr"/>
                </a:tc>
                <a:tc>
                  <a:txBody>
                    <a:bodyPr/>
                    <a:lstStyle/>
                    <a:p>
                      <a:pPr algn="l" fontAlgn="b">
                        <a:buNone/>
                      </a:pPr>
                      <a:r>
                        <a:rPr lang="en-US" sz="1600" u="none" strike="noStrike">
                          <a:effectLst/>
                        </a:rPr>
                        <a:t>Toffoli + CNOT entanglement.</a:t>
                      </a:r>
                      <a:endParaRPr lang="en-US" sz="1600" b="0" i="0" u="none" strike="noStrike">
                        <a:solidFill>
                          <a:srgbClr val="000000"/>
                        </a:solidFill>
                        <a:effectLst/>
                        <a:latin typeface="Aptos Narrow" panose="020B0004020202020204" pitchFamily="34" charset="0"/>
                      </a:endParaRPr>
                    </a:p>
                  </a:txBody>
                  <a:tcPr marL="2618" marR="2618" marT="2618" marB="0" anchor="ctr"/>
                </a:tc>
                <a:extLst>
                  <a:ext uri="{0D108BD9-81ED-4DB2-BD59-A6C34878D82A}">
                    <a16:rowId xmlns:a16="http://schemas.microsoft.com/office/drawing/2014/main" val="1446655183"/>
                  </a:ext>
                </a:extLst>
              </a:tr>
              <a:tr h="463447">
                <a:tc>
                  <a:txBody>
                    <a:bodyPr/>
                    <a:lstStyle/>
                    <a:p>
                      <a:pPr algn="l" fontAlgn="b">
                        <a:buNone/>
                      </a:pPr>
                      <a:r>
                        <a:rPr lang="en-US" sz="1600" u="none" strike="noStrike">
                          <a:effectLst/>
                          <a:highlight>
                            <a:srgbClr val="FFFF00"/>
                          </a:highlight>
                        </a:rPr>
                        <a:t>10</a:t>
                      </a:r>
                      <a:endParaRPr lang="en-US" sz="1600" b="0" i="0" u="none" strike="noStrike">
                        <a:solidFill>
                          <a:srgbClr val="000000"/>
                        </a:solidFill>
                        <a:effectLst/>
                        <a:highlight>
                          <a:srgbClr val="FFFF00"/>
                        </a:highlight>
                        <a:latin typeface="Aptos Narrow" panose="020B0004020202020204" pitchFamily="34" charset="0"/>
                      </a:endParaRPr>
                    </a:p>
                  </a:txBody>
                  <a:tcPr marL="2618" marR="2618" marT="2618" marB="0" anchor="ctr"/>
                </a:tc>
                <a:tc>
                  <a:txBody>
                    <a:bodyPr/>
                    <a:lstStyle/>
                    <a:p>
                      <a:pPr algn="l" fontAlgn="b">
                        <a:buNone/>
                      </a:pPr>
                      <a:r>
                        <a:rPr lang="en-US" sz="1600" u="none" strike="noStrike">
                          <a:effectLst/>
                          <a:highlight>
                            <a:srgbClr val="FFFF00"/>
                          </a:highlight>
                        </a:rPr>
                        <a:t>Ansatz 6: Toffoli with CNOT and single qubit</a:t>
                      </a:r>
                      <a:endParaRPr lang="en-US" sz="1600" b="0" i="0" u="none" strike="noStrike">
                        <a:solidFill>
                          <a:srgbClr val="000000"/>
                        </a:solidFill>
                        <a:effectLst/>
                        <a:highlight>
                          <a:srgbClr val="FFFF00"/>
                        </a:highlight>
                        <a:latin typeface="Aptos Narrow" panose="020B0004020202020204" pitchFamily="34" charset="0"/>
                      </a:endParaRPr>
                    </a:p>
                  </a:txBody>
                  <a:tcPr marL="2618" marR="2618" marT="2618" marB="0" anchor="ctr"/>
                </a:tc>
                <a:tc>
                  <a:txBody>
                    <a:bodyPr/>
                    <a:lstStyle/>
                    <a:p>
                      <a:pPr algn="l" fontAlgn="b">
                        <a:buNone/>
                      </a:pPr>
                      <a:r>
                        <a:rPr lang="en-US" sz="1600" u="none" strike="noStrike">
                          <a:effectLst/>
                          <a:highlight>
                            <a:srgbClr val="FFFF00"/>
                          </a:highlight>
                        </a:rPr>
                        <a:t>Complex Ansatz using Toffoli, CNOT, and single-qubit operations.</a:t>
                      </a:r>
                      <a:endParaRPr lang="en-US" sz="1600" b="0" i="0" u="none" strike="noStrike">
                        <a:solidFill>
                          <a:srgbClr val="000000"/>
                        </a:solidFill>
                        <a:effectLst/>
                        <a:highlight>
                          <a:srgbClr val="FFFF00"/>
                        </a:highlight>
                        <a:latin typeface="Aptos Narrow" panose="020B0004020202020204" pitchFamily="34" charset="0"/>
                      </a:endParaRPr>
                    </a:p>
                  </a:txBody>
                  <a:tcPr marL="2618" marR="2618" marT="2618" marB="0" anchor="ctr"/>
                </a:tc>
                <a:extLst>
                  <a:ext uri="{0D108BD9-81ED-4DB2-BD59-A6C34878D82A}">
                    <a16:rowId xmlns:a16="http://schemas.microsoft.com/office/drawing/2014/main" val="1598236066"/>
                  </a:ext>
                </a:extLst>
              </a:tr>
            </a:tbl>
          </a:graphicData>
        </a:graphic>
      </p:graphicFrame>
    </p:spTree>
    <p:extLst>
      <p:ext uri="{BB962C8B-B14F-4D97-AF65-F5344CB8AC3E}">
        <p14:creationId xmlns:p14="http://schemas.microsoft.com/office/powerpoint/2010/main" val="17838245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9DF24-70B8-45BB-62D0-5351C5B84EA1}"/>
              </a:ext>
            </a:extLst>
          </p:cNvPr>
          <p:cNvSpPr>
            <a:spLocks noGrp="1"/>
          </p:cNvSpPr>
          <p:nvPr>
            <p:ph type="title"/>
          </p:nvPr>
        </p:nvSpPr>
        <p:spPr/>
        <p:txBody>
          <a:bodyPr/>
          <a:lstStyle/>
          <a:p>
            <a:r>
              <a:rPr lang="en-US"/>
              <a:t>Testing Results</a:t>
            </a:r>
          </a:p>
        </p:txBody>
      </p:sp>
      <p:sp>
        <p:nvSpPr>
          <p:cNvPr id="7" name="TextBox 6">
            <a:extLst>
              <a:ext uri="{FF2B5EF4-FFF2-40B4-BE49-F238E27FC236}">
                <a16:creationId xmlns:a16="http://schemas.microsoft.com/office/drawing/2014/main" id="{8B9E5666-8DA8-E1DC-84A1-BAE90F23B4F7}"/>
              </a:ext>
            </a:extLst>
          </p:cNvPr>
          <p:cNvSpPr txBox="1"/>
          <p:nvPr/>
        </p:nvSpPr>
        <p:spPr>
          <a:xfrm>
            <a:off x="1070175" y="935930"/>
            <a:ext cx="2395207" cy="400110"/>
          </a:xfrm>
          <a:prstGeom prst="rect">
            <a:avLst/>
          </a:prstGeom>
          <a:noFill/>
        </p:spPr>
        <p:txBody>
          <a:bodyPr wrap="none" rtlCol="0">
            <a:spAutoFit/>
          </a:bodyPr>
          <a:lstStyle/>
          <a:p>
            <a:r>
              <a:rPr lang="en-US" sz="2000"/>
              <a:t>Highlight of Results</a:t>
            </a:r>
          </a:p>
        </p:txBody>
      </p:sp>
      <p:sp>
        <p:nvSpPr>
          <p:cNvPr id="9" name="TextBox 8">
            <a:extLst>
              <a:ext uri="{FF2B5EF4-FFF2-40B4-BE49-F238E27FC236}">
                <a16:creationId xmlns:a16="http://schemas.microsoft.com/office/drawing/2014/main" id="{3ED533E9-0984-02DE-8967-9C62BBCEDB9D}"/>
              </a:ext>
            </a:extLst>
          </p:cNvPr>
          <p:cNvSpPr txBox="1"/>
          <p:nvPr/>
        </p:nvSpPr>
        <p:spPr>
          <a:xfrm>
            <a:off x="9075905" y="682252"/>
            <a:ext cx="2803189" cy="923330"/>
          </a:xfrm>
          <a:prstGeom prst="rect">
            <a:avLst/>
          </a:prstGeom>
          <a:noFill/>
        </p:spPr>
        <p:txBody>
          <a:bodyPr wrap="square" rtlCol="0">
            <a:spAutoFit/>
          </a:bodyPr>
          <a:lstStyle/>
          <a:p>
            <a:r>
              <a:rPr lang="en-US"/>
              <a:t>Comparing with Original Binary PV Fault Detection (2021) Algorithm</a:t>
            </a:r>
          </a:p>
        </p:txBody>
      </p:sp>
      <p:graphicFrame>
        <p:nvGraphicFramePr>
          <p:cNvPr id="4" name="Content Placeholder 3">
            <a:extLst>
              <a:ext uri="{FF2B5EF4-FFF2-40B4-BE49-F238E27FC236}">
                <a16:creationId xmlns:a16="http://schemas.microsoft.com/office/drawing/2014/main" id="{7128ACCE-A436-CE68-84C2-5747F97529D4}"/>
              </a:ext>
            </a:extLst>
          </p:cNvPr>
          <p:cNvGraphicFramePr>
            <a:graphicFrameLocks noGrp="1"/>
          </p:cNvGraphicFramePr>
          <p:nvPr>
            <p:ph idx="1"/>
            <p:extLst>
              <p:ext uri="{D42A27DB-BD31-4B8C-83A1-F6EECF244321}">
                <p14:modId xmlns:p14="http://schemas.microsoft.com/office/powerpoint/2010/main" val="273398698"/>
              </p:ext>
            </p:extLst>
          </p:nvPr>
        </p:nvGraphicFramePr>
        <p:xfrm>
          <a:off x="312906" y="1618526"/>
          <a:ext cx="11566188" cy="4288155"/>
        </p:xfrm>
        <a:graphic>
          <a:graphicData uri="http://schemas.openxmlformats.org/drawingml/2006/table">
            <a:tbl>
              <a:tblPr firstRow="1">
                <a:tableStyleId>{21E4AEA4-8DFA-4A89-87EB-49C32662AFE0}</a:tableStyleId>
              </a:tblPr>
              <a:tblGrid>
                <a:gridCol w="1991690">
                  <a:extLst>
                    <a:ext uri="{9D8B030D-6E8A-4147-A177-3AD203B41FA5}">
                      <a16:colId xmlns:a16="http://schemas.microsoft.com/office/drawing/2014/main" val="1484520498"/>
                    </a:ext>
                  </a:extLst>
                </a:gridCol>
                <a:gridCol w="1151820">
                  <a:extLst>
                    <a:ext uri="{9D8B030D-6E8A-4147-A177-3AD203B41FA5}">
                      <a16:colId xmlns:a16="http://schemas.microsoft.com/office/drawing/2014/main" val="1565937901"/>
                    </a:ext>
                  </a:extLst>
                </a:gridCol>
                <a:gridCol w="1855708">
                  <a:extLst>
                    <a:ext uri="{9D8B030D-6E8A-4147-A177-3AD203B41FA5}">
                      <a16:colId xmlns:a16="http://schemas.microsoft.com/office/drawing/2014/main" val="423387615"/>
                    </a:ext>
                  </a:extLst>
                </a:gridCol>
                <a:gridCol w="1799718">
                  <a:extLst>
                    <a:ext uri="{9D8B030D-6E8A-4147-A177-3AD203B41FA5}">
                      <a16:colId xmlns:a16="http://schemas.microsoft.com/office/drawing/2014/main" val="3991631247"/>
                    </a:ext>
                  </a:extLst>
                </a:gridCol>
                <a:gridCol w="1983688">
                  <a:extLst>
                    <a:ext uri="{9D8B030D-6E8A-4147-A177-3AD203B41FA5}">
                      <a16:colId xmlns:a16="http://schemas.microsoft.com/office/drawing/2014/main" val="1179512250"/>
                    </a:ext>
                  </a:extLst>
                </a:gridCol>
                <a:gridCol w="2783564">
                  <a:extLst>
                    <a:ext uri="{9D8B030D-6E8A-4147-A177-3AD203B41FA5}">
                      <a16:colId xmlns:a16="http://schemas.microsoft.com/office/drawing/2014/main" val="431120100"/>
                    </a:ext>
                  </a:extLst>
                </a:gridCol>
              </a:tblGrid>
              <a:tr h="306584">
                <a:tc>
                  <a:txBody>
                    <a:bodyPr/>
                    <a:lstStyle/>
                    <a:p>
                      <a:pPr algn="ctr" fontAlgn="b">
                        <a:buNone/>
                      </a:pPr>
                      <a:r>
                        <a:rPr lang="en-US" sz="2000" u="none" strike="noStrike">
                          <a:effectLst/>
                        </a:rPr>
                        <a:t>Feature Map</a:t>
                      </a:r>
                      <a:endParaRPr lang="en-US" sz="2000" b="0" i="0" u="none" strike="noStrike">
                        <a:solidFill>
                          <a:srgbClr val="000000"/>
                        </a:solidFill>
                        <a:effectLst/>
                        <a:latin typeface="Aptos Narrow" panose="020B000402020202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buNone/>
                      </a:pPr>
                      <a:r>
                        <a:rPr lang="en-US" sz="2000" u="none" strike="noStrike">
                          <a:effectLst/>
                        </a:rPr>
                        <a:t>Ansatz</a:t>
                      </a:r>
                      <a:endParaRPr lang="en-US" sz="2000" b="0" i="0" u="none" strike="noStrike">
                        <a:solidFill>
                          <a:srgbClr val="000000"/>
                        </a:solidFill>
                        <a:effectLst/>
                        <a:latin typeface="Aptos Narrow" panose="020B000402020202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buNone/>
                      </a:pPr>
                      <a:r>
                        <a:rPr lang="en-US" sz="2000" u="none" strike="noStrike">
                          <a:effectLst/>
                        </a:rPr>
                        <a:t>Observable</a:t>
                      </a:r>
                      <a:endParaRPr lang="en-US" sz="2000" b="0" i="0" u="none" strike="noStrike">
                        <a:solidFill>
                          <a:srgbClr val="000000"/>
                        </a:solidFill>
                        <a:effectLst/>
                        <a:latin typeface="Aptos Narrow" panose="020B000402020202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buNone/>
                      </a:pPr>
                      <a:r>
                        <a:rPr lang="en-US" sz="2000" u="none" strike="noStrike" dirty="0">
                          <a:effectLst/>
                        </a:rPr>
                        <a:t>Training (%)</a:t>
                      </a:r>
                      <a:endParaRPr lang="en-US" sz="2000" b="0" i="0" u="none" strike="noStrike" dirty="0">
                        <a:solidFill>
                          <a:srgbClr val="000000"/>
                        </a:solidFill>
                        <a:effectLst/>
                        <a:latin typeface="Aptos Narrow" panose="020B000402020202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buNone/>
                      </a:pPr>
                      <a:r>
                        <a:rPr lang="en-US" sz="2000" u="none" strike="noStrike" dirty="0">
                          <a:effectLst/>
                        </a:rPr>
                        <a:t>Testing (%)</a:t>
                      </a:r>
                      <a:endParaRPr lang="en-US" sz="2000" b="0" i="0" u="none" strike="noStrike" dirty="0">
                        <a:solidFill>
                          <a:srgbClr val="000000"/>
                        </a:solidFill>
                        <a:effectLst/>
                        <a:latin typeface="Aptos Narrow" panose="020B000402020202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buNone/>
                      </a:pPr>
                      <a:endParaRPr lang="en-US" sz="2000" b="0" i="0" u="none" strike="noStrike">
                        <a:solidFill>
                          <a:srgbClr val="000000"/>
                        </a:solidFill>
                        <a:effectLst/>
                        <a:latin typeface="Aptos Narrow" panose="020B0004020202020204" pitchFamily="34" charset="0"/>
                      </a:endParaRPr>
                    </a:p>
                  </a:txBody>
                  <a:tcPr marL="9525" marR="9525" marT="9525"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1709521"/>
                  </a:ext>
                </a:extLst>
              </a:tr>
              <a:tr h="190500">
                <a:tc>
                  <a:txBody>
                    <a:bodyPr/>
                    <a:lstStyle/>
                    <a:p>
                      <a:pPr algn="ctr" fontAlgn="b">
                        <a:buNone/>
                      </a:pPr>
                      <a:r>
                        <a:rPr lang="en-US" sz="1800" u="none" strike="noStrike">
                          <a:effectLst/>
                        </a:rPr>
                        <a:t>1</a:t>
                      </a:r>
                      <a:endParaRPr lang="en-US" sz="18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buNone/>
                      </a:pPr>
                      <a:r>
                        <a:rPr lang="en-US" sz="1800" u="none" strike="noStrike">
                          <a:effectLst/>
                        </a:rPr>
                        <a:t>1</a:t>
                      </a:r>
                      <a:endParaRPr lang="en-US" sz="1800" b="0" i="0" u="none" strike="noStrike">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buNone/>
                      </a:pPr>
                      <a:r>
                        <a:rPr lang="en-US" sz="1800" u="none" strike="noStrike">
                          <a:effectLst/>
                        </a:rPr>
                        <a:t>2</a:t>
                      </a:r>
                      <a:endParaRPr lang="en-US" sz="1800" b="0" i="0" u="none" strike="noStrike">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buNone/>
                      </a:pPr>
                      <a:r>
                        <a:rPr lang="en-US" sz="1800" u="none" strike="noStrike">
                          <a:effectLst/>
                        </a:rPr>
                        <a:t>67</a:t>
                      </a:r>
                      <a:endParaRPr lang="en-US" sz="1800" b="0" i="0" u="none" strike="noStrike">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buNone/>
                      </a:pPr>
                      <a:r>
                        <a:rPr lang="en-US" sz="1800" u="none" strike="noStrike">
                          <a:effectLst/>
                        </a:rPr>
                        <a:t>68</a:t>
                      </a:r>
                      <a:endParaRPr lang="en-US" sz="1800" b="0" i="0" u="none" strike="noStrike">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buNone/>
                      </a:pPr>
                      <a:r>
                        <a:rPr lang="en-US" sz="1800" u="none" strike="noStrike">
                          <a:effectLst/>
                          <a:latin typeface="+mn-lt"/>
                        </a:rPr>
                        <a:t>Original/Baseline</a:t>
                      </a:r>
                      <a:endParaRPr lang="en-US" sz="1800" b="0" i="0" u="none" strike="noStrike">
                        <a:solidFill>
                          <a:srgbClr val="000000"/>
                        </a:solidFill>
                        <a:effectLst/>
                        <a:latin typeface="+mn-lt"/>
                      </a:endParaRPr>
                    </a:p>
                  </a:txBody>
                  <a:tcPr marL="9525" marR="9525" marT="952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extLst>
                  <a:ext uri="{0D108BD9-81ED-4DB2-BD59-A6C34878D82A}">
                    <a16:rowId xmlns:a16="http://schemas.microsoft.com/office/drawing/2014/main" val="305414814"/>
                  </a:ext>
                </a:extLst>
              </a:tr>
              <a:tr h="190500">
                <a:tc>
                  <a:txBody>
                    <a:bodyPr/>
                    <a:lstStyle/>
                    <a:p>
                      <a:pPr algn="ctr" fontAlgn="b">
                        <a:buNone/>
                      </a:pPr>
                      <a:r>
                        <a:rPr lang="en-US" sz="1800" u="none" strike="noStrike">
                          <a:effectLst/>
                        </a:rPr>
                        <a:t>1</a:t>
                      </a:r>
                      <a:endParaRPr lang="en-US" sz="1800" b="0" i="0" u="none" strike="noStrike">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n-US" sz="1800" u="none" strike="noStrike">
                          <a:effectLst/>
                        </a:rPr>
                        <a:t>4</a:t>
                      </a:r>
                      <a:endParaRPr lang="en-US" sz="1800" b="0" i="0" u="none" strike="noStrike">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n-US" sz="1800" u="none" strike="noStrike">
                          <a:effectLst/>
                        </a:rPr>
                        <a:t>2</a:t>
                      </a:r>
                      <a:endParaRPr lang="en-US" sz="1800" b="0" i="0" u="none" strike="noStrike">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n-US" sz="1800" u="none" strike="noStrike">
                          <a:effectLst/>
                        </a:rPr>
                        <a:t>48</a:t>
                      </a:r>
                      <a:endParaRPr lang="en-US" sz="1800" b="0" i="0" u="none" strike="noStrike">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n-US" sz="1800" u="none" strike="noStrike">
                          <a:effectLst/>
                        </a:rPr>
                        <a:t>48</a:t>
                      </a:r>
                      <a:endParaRPr lang="en-US" sz="1800" b="0" i="0" u="none" strike="noStrike">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endParaRPr lang="en-US" sz="1800" b="0" i="0" u="none" strike="noStrike">
                        <a:solidFill>
                          <a:srgbClr val="000000"/>
                        </a:solidFill>
                        <a:effectLst/>
                        <a:latin typeface="+mn-lt"/>
                      </a:endParaRP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579680414"/>
                  </a:ext>
                </a:extLst>
              </a:tr>
              <a:tr h="190500">
                <a:tc>
                  <a:txBody>
                    <a:bodyPr/>
                    <a:lstStyle/>
                    <a:p>
                      <a:pPr algn="ctr" fontAlgn="b">
                        <a:buNone/>
                      </a:pPr>
                      <a:r>
                        <a:rPr lang="en-US" sz="1800" u="none" strike="noStrike">
                          <a:effectLst/>
                        </a:rPr>
                        <a:t>1</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5</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3</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73</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73</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endParaRPr lang="en-US" sz="1800" b="0" i="0" u="none" strike="noStrike">
                        <a:solidFill>
                          <a:srgbClr val="000000"/>
                        </a:solidFill>
                        <a:effectLst/>
                        <a:latin typeface="+mn-lt"/>
                      </a:endParaRPr>
                    </a:p>
                  </a:txBody>
                  <a:tcPr marL="9525" marR="9525" marT="9525" marB="0" anchor="b"/>
                </a:tc>
                <a:extLst>
                  <a:ext uri="{0D108BD9-81ED-4DB2-BD59-A6C34878D82A}">
                    <a16:rowId xmlns:a16="http://schemas.microsoft.com/office/drawing/2014/main" val="2115934418"/>
                  </a:ext>
                </a:extLst>
              </a:tr>
              <a:tr h="190500">
                <a:tc>
                  <a:txBody>
                    <a:bodyPr/>
                    <a:lstStyle/>
                    <a:p>
                      <a:pPr algn="ctr" fontAlgn="b">
                        <a:buNone/>
                      </a:pPr>
                      <a:r>
                        <a:rPr lang="en-US" sz="1800" u="none" strike="noStrike">
                          <a:effectLst/>
                        </a:rPr>
                        <a:t>1</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5</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4</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59</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58</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endParaRPr lang="en-US" sz="1800" b="0" i="0" u="none" strike="noStrike">
                        <a:solidFill>
                          <a:srgbClr val="000000"/>
                        </a:solidFill>
                        <a:effectLst/>
                        <a:latin typeface="+mn-lt"/>
                      </a:endParaRPr>
                    </a:p>
                  </a:txBody>
                  <a:tcPr marL="9525" marR="9525" marT="9525" marB="0" anchor="b"/>
                </a:tc>
                <a:extLst>
                  <a:ext uri="{0D108BD9-81ED-4DB2-BD59-A6C34878D82A}">
                    <a16:rowId xmlns:a16="http://schemas.microsoft.com/office/drawing/2014/main" val="1342250086"/>
                  </a:ext>
                </a:extLst>
              </a:tr>
              <a:tr h="190500">
                <a:tc>
                  <a:txBody>
                    <a:bodyPr/>
                    <a:lstStyle/>
                    <a:p>
                      <a:pPr algn="ctr" fontAlgn="b">
                        <a:buNone/>
                      </a:pPr>
                      <a:r>
                        <a:rPr lang="en-US" sz="1800" u="none" strike="noStrike">
                          <a:effectLst/>
                        </a:rPr>
                        <a:t>1</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7</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2</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58</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61</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endParaRPr lang="en-US" sz="1800" b="0" i="0" u="none" strike="noStrike">
                        <a:solidFill>
                          <a:srgbClr val="000000"/>
                        </a:solidFill>
                        <a:effectLst/>
                        <a:latin typeface="+mn-lt"/>
                      </a:endParaRPr>
                    </a:p>
                  </a:txBody>
                  <a:tcPr marL="9525" marR="9525" marT="9525" marB="0" anchor="b"/>
                </a:tc>
                <a:extLst>
                  <a:ext uri="{0D108BD9-81ED-4DB2-BD59-A6C34878D82A}">
                    <a16:rowId xmlns:a16="http://schemas.microsoft.com/office/drawing/2014/main" val="2761681733"/>
                  </a:ext>
                </a:extLst>
              </a:tr>
              <a:tr h="190500">
                <a:tc>
                  <a:txBody>
                    <a:bodyPr/>
                    <a:lstStyle/>
                    <a:p>
                      <a:pPr algn="ctr" fontAlgn="b">
                        <a:buNone/>
                      </a:pPr>
                      <a:r>
                        <a:rPr lang="en-US" sz="1800" u="none" strike="noStrike">
                          <a:effectLst/>
                        </a:rPr>
                        <a:t>2</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5</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4</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56</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55</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endParaRPr lang="en-US" sz="1800" b="0" i="0" u="none" strike="noStrike">
                        <a:solidFill>
                          <a:srgbClr val="000000"/>
                        </a:solidFill>
                        <a:effectLst/>
                        <a:latin typeface="+mn-lt"/>
                      </a:endParaRPr>
                    </a:p>
                  </a:txBody>
                  <a:tcPr marL="9525" marR="9525" marT="9525" marB="0" anchor="b"/>
                </a:tc>
                <a:extLst>
                  <a:ext uri="{0D108BD9-81ED-4DB2-BD59-A6C34878D82A}">
                    <a16:rowId xmlns:a16="http://schemas.microsoft.com/office/drawing/2014/main" val="236363334"/>
                  </a:ext>
                </a:extLst>
              </a:tr>
              <a:tr h="190500">
                <a:tc>
                  <a:txBody>
                    <a:bodyPr/>
                    <a:lstStyle/>
                    <a:p>
                      <a:pPr algn="ctr" fontAlgn="b">
                        <a:buNone/>
                      </a:pPr>
                      <a:r>
                        <a:rPr lang="en-US" sz="1800" u="none" strike="noStrike">
                          <a:effectLst/>
                        </a:rPr>
                        <a:t>3</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5</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1</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66</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66</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endParaRPr lang="en-US" sz="1800" b="0" i="0" u="none" strike="noStrike">
                        <a:solidFill>
                          <a:srgbClr val="000000"/>
                        </a:solidFill>
                        <a:effectLst/>
                        <a:latin typeface="+mn-lt"/>
                      </a:endParaRPr>
                    </a:p>
                  </a:txBody>
                  <a:tcPr marL="9525" marR="9525" marT="9525" marB="0" anchor="b"/>
                </a:tc>
                <a:extLst>
                  <a:ext uri="{0D108BD9-81ED-4DB2-BD59-A6C34878D82A}">
                    <a16:rowId xmlns:a16="http://schemas.microsoft.com/office/drawing/2014/main" val="2359101299"/>
                  </a:ext>
                </a:extLst>
              </a:tr>
              <a:tr h="190500">
                <a:tc>
                  <a:txBody>
                    <a:bodyPr/>
                    <a:lstStyle/>
                    <a:p>
                      <a:pPr algn="ctr" fontAlgn="b">
                        <a:buNone/>
                      </a:pPr>
                      <a:r>
                        <a:rPr lang="en-US" sz="1800" u="none" strike="noStrike">
                          <a:effectLst/>
                        </a:rPr>
                        <a:t>3</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5</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2</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63</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63</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endParaRPr lang="en-US" sz="1800" b="0" i="0" u="none" strike="noStrike">
                        <a:solidFill>
                          <a:srgbClr val="000000"/>
                        </a:solidFill>
                        <a:effectLst/>
                        <a:latin typeface="+mn-lt"/>
                      </a:endParaRPr>
                    </a:p>
                  </a:txBody>
                  <a:tcPr marL="9525" marR="9525" marT="9525" marB="0" anchor="b"/>
                </a:tc>
                <a:extLst>
                  <a:ext uri="{0D108BD9-81ED-4DB2-BD59-A6C34878D82A}">
                    <a16:rowId xmlns:a16="http://schemas.microsoft.com/office/drawing/2014/main" val="3224872475"/>
                  </a:ext>
                </a:extLst>
              </a:tr>
              <a:tr h="190500">
                <a:tc>
                  <a:txBody>
                    <a:bodyPr/>
                    <a:lstStyle/>
                    <a:p>
                      <a:pPr algn="ctr" fontAlgn="b">
                        <a:buNone/>
                      </a:pPr>
                      <a:r>
                        <a:rPr lang="en-US" sz="1800" u="none" strike="noStrike">
                          <a:effectLst/>
                        </a:rPr>
                        <a:t>3</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5</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3</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59</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61</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endParaRPr lang="en-US" sz="1800" b="0" i="0" u="none" strike="noStrike">
                        <a:solidFill>
                          <a:srgbClr val="000000"/>
                        </a:solidFill>
                        <a:effectLst/>
                        <a:latin typeface="+mn-lt"/>
                      </a:endParaRPr>
                    </a:p>
                  </a:txBody>
                  <a:tcPr marL="9525" marR="9525" marT="9525" marB="0" anchor="b"/>
                </a:tc>
                <a:extLst>
                  <a:ext uri="{0D108BD9-81ED-4DB2-BD59-A6C34878D82A}">
                    <a16:rowId xmlns:a16="http://schemas.microsoft.com/office/drawing/2014/main" val="2511021539"/>
                  </a:ext>
                </a:extLst>
              </a:tr>
              <a:tr h="190500">
                <a:tc>
                  <a:txBody>
                    <a:bodyPr/>
                    <a:lstStyle/>
                    <a:p>
                      <a:pPr algn="ctr" fontAlgn="b">
                        <a:buNone/>
                      </a:pPr>
                      <a:r>
                        <a:rPr lang="en-US" sz="1800" u="none" strike="noStrike">
                          <a:effectLst/>
                        </a:rPr>
                        <a:t>3</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5</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4</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58</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56</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endParaRPr lang="en-US" sz="1800" b="0" i="0" u="none" strike="noStrike">
                        <a:solidFill>
                          <a:srgbClr val="000000"/>
                        </a:solidFill>
                        <a:effectLst/>
                        <a:latin typeface="+mn-lt"/>
                      </a:endParaRPr>
                    </a:p>
                  </a:txBody>
                  <a:tcPr marL="9525" marR="9525" marT="9525" marB="0" anchor="b"/>
                </a:tc>
                <a:extLst>
                  <a:ext uri="{0D108BD9-81ED-4DB2-BD59-A6C34878D82A}">
                    <a16:rowId xmlns:a16="http://schemas.microsoft.com/office/drawing/2014/main" val="2480459156"/>
                  </a:ext>
                </a:extLst>
              </a:tr>
              <a:tr h="190500">
                <a:tc>
                  <a:txBody>
                    <a:bodyPr/>
                    <a:lstStyle/>
                    <a:p>
                      <a:pPr algn="ctr" fontAlgn="b">
                        <a:buNone/>
                      </a:pPr>
                      <a:r>
                        <a:rPr lang="en-US" sz="1800" u="none" strike="noStrike">
                          <a:effectLst/>
                        </a:rPr>
                        <a:t>3</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9</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4</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78</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rPr>
                        <a:t>77</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endParaRPr lang="en-US" sz="1800" b="0" i="0" u="none" strike="noStrike">
                        <a:solidFill>
                          <a:srgbClr val="000000"/>
                        </a:solidFill>
                        <a:effectLst/>
                        <a:latin typeface="+mn-lt"/>
                      </a:endParaRPr>
                    </a:p>
                  </a:txBody>
                  <a:tcPr marL="9525" marR="9525" marT="9525" marB="0" anchor="b"/>
                </a:tc>
                <a:extLst>
                  <a:ext uri="{0D108BD9-81ED-4DB2-BD59-A6C34878D82A}">
                    <a16:rowId xmlns:a16="http://schemas.microsoft.com/office/drawing/2014/main" val="2374934271"/>
                  </a:ext>
                </a:extLst>
              </a:tr>
              <a:tr h="190500">
                <a:tc>
                  <a:txBody>
                    <a:bodyPr/>
                    <a:lstStyle/>
                    <a:p>
                      <a:pPr algn="ctr" fontAlgn="b">
                        <a:buNone/>
                      </a:pPr>
                      <a:r>
                        <a:rPr lang="en-US" sz="1800" u="none" strike="noStrike">
                          <a:effectLst/>
                          <a:highlight>
                            <a:srgbClr val="FFFF00"/>
                          </a:highlight>
                        </a:rPr>
                        <a:t>3</a:t>
                      </a:r>
                      <a:endParaRPr lang="en-US" sz="1800" b="0" i="0" u="none" strike="noStrike">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highlight>
                            <a:srgbClr val="FFFF00"/>
                          </a:highlight>
                        </a:rPr>
                        <a:t>10</a:t>
                      </a:r>
                      <a:endParaRPr lang="en-US" sz="1800" b="0" i="0" u="none" strike="noStrike">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highlight>
                            <a:srgbClr val="FFFF00"/>
                          </a:highlight>
                        </a:rPr>
                        <a:t>4</a:t>
                      </a:r>
                      <a:endParaRPr lang="en-US" sz="1800" b="0" i="0" u="none" strike="noStrike">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highlight>
                            <a:srgbClr val="FFFF00"/>
                          </a:highlight>
                        </a:rPr>
                        <a:t>84</a:t>
                      </a:r>
                      <a:endParaRPr lang="en-US" sz="1800" b="0" i="0" u="none" strike="noStrike">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ctr" fontAlgn="b">
                        <a:buNone/>
                      </a:pPr>
                      <a:r>
                        <a:rPr lang="en-US" sz="1800" u="none" strike="noStrike">
                          <a:effectLst/>
                          <a:highlight>
                            <a:srgbClr val="FFFF00"/>
                          </a:highlight>
                        </a:rPr>
                        <a:t>85</a:t>
                      </a:r>
                      <a:endParaRPr lang="en-US" sz="1800" b="0" i="0" u="none" strike="noStrike">
                        <a:solidFill>
                          <a:srgbClr val="000000"/>
                        </a:solidFill>
                        <a:effectLst/>
                        <a:highlight>
                          <a:srgbClr val="FFFF00"/>
                        </a:highlight>
                        <a:latin typeface="Aptos Narrow" panose="020B0004020202020204" pitchFamily="34" charset="0"/>
                      </a:endParaRPr>
                    </a:p>
                  </a:txBody>
                  <a:tcPr marL="9525" marR="9525" marT="9525" marB="0" anchor="b"/>
                </a:tc>
                <a:tc>
                  <a:txBody>
                    <a:bodyPr/>
                    <a:lstStyle/>
                    <a:p>
                      <a:pPr algn="ctr" fontAlgn="b">
                        <a:buNone/>
                      </a:pPr>
                      <a:r>
                        <a:rPr lang="en-US" sz="1800" b="0" i="0" u="none" strike="noStrike" dirty="0">
                          <a:solidFill>
                            <a:srgbClr val="000000"/>
                          </a:solidFill>
                          <a:effectLst/>
                          <a:latin typeface="+mn-lt"/>
                        </a:rPr>
                        <a:t>New Quantum Algorithm</a:t>
                      </a:r>
                    </a:p>
                  </a:txBody>
                  <a:tcPr marL="9525" marR="9525" marT="9525" marB="0" anchor="b"/>
                </a:tc>
                <a:extLst>
                  <a:ext uri="{0D108BD9-81ED-4DB2-BD59-A6C34878D82A}">
                    <a16:rowId xmlns:a16="http://schemas.microsoft.com/office/drawing/2014/main" val="1459231411"/>
                  </a:ext>
                </a:extLst>
              </a:tr>
              <a:tr h="190500">
                <a:tc>
                  <a:txBody>
                    <a:bodyPr/>
                    <a:lstStyle/>
                    <a:p>
                      <a:pPr algn="ctr" fontAlgn="b">
                        <a:buNone/>
                      </a:pPr>
                      <a:r>
                        <a:rPr lang="en-US" sz="1800" u="none" strike="noStrike">
                          <a:effectLst/>
                        </a:rPr>
                        <a:t>3</a:t>
                      </a:r>
                      <a:endParaRPr lang="en-US" sz="1800" b="0" i="0" u="none" strike="noStrike">
                        <a:solidFill>
                          <a:srgbClr val="000000"/>
                        </a:solidFill>
                        <a:effectLst/>
                        <a:latin typeface="Aptos Narrow" panose="020B000402020202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buNone/>
                      </a:pPr>
                      <a:r>
                        <a:rPr lang="en-US" sz="1800" u="none" strike="noStrike">
                          <a:effectLst/>
                        </a:rPr>
                        <a:t>10</a:t>
                      </a:r>
                      <a:endParaRPr lang="en-US" sz="1800" b="0" i="0" u="none" strike="noStrike">
                        <a:solidFill>
                          <a:srgbClr val="000000"/>
                        </a:solidFill>
                        <a:effectLst/>
                        <a:latin typeface="Aptos Narrow" panose="020B000402020202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buNone/>
                      </a:pPr>
                      <a:r>
                        <a:rPr lang="en-US" sz="1800" u="none" strike="noStrike">
                          <a:effectLst/>
                        </a:rPr>
                        <a:t>3</a:t>
                      </a:r>
                      <a:endParaRPr lang="en-US" sz="1800" b="0" i="0" u="none" strike="noStrike">
                        <a:solidFill>
                          <a:srgbClr val="000000"/>
                        </a:solidFill>
                        <a:effectLst/>
                        <a:latin typeface="Aptos Narrow" panose="020B000402020202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buNone/>
                      </a:pPr>
                      <a:r>
                        <a:rPr lang="en-US" sz="1800" u="none" strike="noStrike">
                          <a:effectLst/>
                        </a:rPr>
                        <a:t>63</a:t>
                      </a:r>
                      <a:endParaRPr lang="en-US" sz="1800" b="0" i="0" u="none" strike="noStrike">
                        <a:solidFill>
                          <a:srgbClr val="000000"/>
                        </a:solidFill>
                        <a:effectLst/>
                        <a:latin typeface="Aptos Narrow" panose="020B000402020202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buNone/>
                      </a:pPr>
                      <a:r>
                        <a:rPr lang="en-US" sz="1800" u="none" strike="noStrike">
                          <a:effectLst/>
                        </a:rPr>
                        <a:t>63</a:t>
                      </a:r>
                      <a:endParaRPr lang="en-US" sz="1800" b="0" i="0" u="none" strike="noStrike">
                        <a:solidFill>
                          <a:srgbClr val="000000"/>
                        </a:solidFill>
                        <a:effectLst/>
                        <a:latin typeface="Aptos Narrow" panose="020B000402020202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buNone/>
                      </a:pPr>
                      <a:endParaRPr lang="en-US" sz="1800" b="0" i="0" u="none" strike="noStrike">
                        <a:solidFill>
                          <a:srgbClr val="000000"/>
                        </a:solidFill>
                        <a:effectLst/>
                        <a:latin typeface="+mn-lt"/>
                      </a:endParaRPr>
                    </a:p>
                  </a:txBody>
                  <a:tcPr marL="9525" marR="9525" marT="9525"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8314999"/>
                  </a:ext>
                </a:extLst>
              </a:tr>
              <a:tr h="190500">
                <a:tc>
                  <a:txBody>
                    <a:bodyPr/>
                    <a:lstStyle/>
                    <a:p>
                      <a:pPr algn="ctr" fontAlgn="b">
                        <a:buNone/>
                      </a:pPr>
                      <a:r>
                        <a:rPr lang="en-US" sz="1800" u="none" strike="noStrike">
                          <a:effectLst/>
                        </a:rPr>
                        <a:t>3</a:t>
                      </a:r>
                      <a:endParaRPr lang="en-US" sz="18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fontAlgn="b">
                        <a:buNone/>
                      </a:pPr>
                      <a:r>
                        <a:rPr lang="en-US" sz="1800" u="none" strike="noStrike">
                          <a:effectLst/>
                        </a:rPr>
                        <a:t>10</a:t>
                      </a:r>
                      <a:endParaRPr lang="en-US" sz="1800" b="0" i="0" u="none" strike="noStrike">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fontAlgn="b">
                        <a:buNone/>
                      </a:pPr>
                      <a:r>
                        <a:rPr lang="en-US" sz="1800" u="none" strike="noStrike">
                          <a:effectLst/>
                        </a:rPr>
                        <a:t>4</a:t>
                      </a:r>
                      <a:endParaRPr lang="en-US" sz="1800" b="0" i="0" u="none" strike="noStrike">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fontAlgn="b">
                        <a:buNone/>
                      </a:pPr>
                      <a:r>
                        <a:rPr lang="en-US" sz="1800" u="none" strike="noStrike">
                          <a:effectLst/>
                        </a:rPr>
                        <a:t>N/A</a:t>
                      </a:r>
                      <a:endParaRPr lang="en-US" sz="1800" b="0" i="0" u="none" strike="noStrike">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fontAlgn="b">
                        <a:buNone/>
                      </a:pPr>
                      <a:r>
                        <a:rPr lang="en-US" sz="1800" u="none" strike="noStrike">
                          <a:effectLst/>
                        </a:rPr>
                        <a:t>72</a:t>
                      </a:r>
                      <a:endParaRPr lang="en-US" sz="1800" b="0" i="0" u="none" strike="noStrike">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fontAlgn="b">
                        <a:buNone/>
                      </a:pPr>
                      <a:r>
                        <a:rPr lang="en-US" sz="1800" u="none" strike="noStrike" dirty="0">
                          <a:effectLst/>
                          <a:latin typeface="+mn-lt"/>
                        </a:rPr>
                        <a:t>Heron Quantum Computer</a:t>
                      </a:r>
                      <a:endParaRPr lang="en-US" sz="1800" b="0" i="0" u="none" strike="noStrike" dirty="0">
                        <a:solidFill>
                          <a:srgbClr val="000000"/>
                        </a:solidFill>
                        <a:effectLst/>
                        <a:latin typeface="+mn-lt"/>
                      </a:endParaRPr>
                    </a:p>
                  </a:txBody>
                  <a:tcPr marL="9525" marR="9525" marT="952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354083213"/>
                  </a:ext>
                </a:extLst>
              </a:tr>
            </a:tbl>
          </a:graphicData>
        </a:graphic>
      </p:graphicFrame>
    </p:spTree>
    <p:extLst>
      <p:ext uri="{BB962C8B-B14F-4D97-AF65-F5344CB8AC3E}">
        <p14:creationId xmlns:p14="http://schemas.microsoft.com/office/powerpoint/2010/main" val="27795056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E1C0A-7E36-BEE1-96E6-DA97F97520AA}"/>
              </a:ext>
            </a:extLst>
          </p:cNvPr>
          <p:cNvSpPr>
            <a:spLocks noGrp="1"/>
          </p:cNvSpPr>
          <p:nvPr>
            <p:ph type="title"/>
          </p:nvPr>
        </p:nvSpPr>
        <p:spPr/>
        <p:txBody>
          <a:bodyPr/>
          <a:lstStyle/>
          <a:p>
            <a:r>
              <a:rPr lang="en-US"/>
              <a:t>4. Conclusion for PV Fault Detection</a:t>
            </a:r>
          </a:p>
        </p:txBody>
      </p:sp>
      <p:sp>
        <p:nvSpPr>
          <p:cNvPr id="3" name="Content Placeholder 2">
            <a:extLst>
              <a:ext uri="{FF2B5EF4-FFF2-40B4-BE49-F238E27FC236}">
                <a16:creationId xmlns:a16="http://schemas.microsoft.com/office/drawing/2014/main" id="{AE25AB5C-AE23-3884-E66F-65E3E22D1B71}"/>
              </a:ext>
            </a:extLst>
          </p:cNvPr>
          <p:cNvSpPr>
            <a:spLocks noGrp="1"/>
          </p:cNvSpPr>
          <p:nvPr>
            <p:ph idx="1"/>
          </p:nvPr>
        </p:nvSpPr>
        <p:spPr>
          <a:xfrm>
            <a:off x="609600" y="1382751"/>
            <a:ext cx="7951145" cy="4637049"/>
          </a:xfrm>
        </p:spPr>
        <p:txBody>
          <a:bodyPr/>
          <a:lstStyle/>
          <a:p>
            <a:r>
              <a:rPr lang="en-US" sz="2800"/>
              <a:t>Our results, demonstrate substantial performance gains. Accuracy improved from 67% in the baseline QNN model to over 84% using the new Toffoli-based Ansatz, with hardware runs yielding 72%. </a:t>
            </a:r>
          </a:p>
          <a:p>
            <a:r>
              <a:rPr lang="en-US" sz="2800"/>
              <a:t>These improvements were primarily attributed to two innovations: </a:t>
            </a:r>
          </a:p>
          <a:p>
            <a:pPr lvl="1"/>
            <a:r>
              <a:rPr lang="en-US" sz="2400"/>
              <a:t>X–ZZ feature mapping for semi-correlated PV data, and </a:t>
            </a:r>
          </a:p>
          <a:p>
            <a:pPr lvl="1"/>
            <a:r>
              <a:rPr lang="en-US" sz="2400"/>
              <a:t>Toffoli-based nonlinear correlation extraction in the Ansatz. </a:t>
            </a:r>
          </a:p>
        </p:txBody>
      </p:sp>
      <p:grpSp>
        <p:nvGrpSpPr>
          <p:cNvPr id="4" name="Group 3">
            <a:extLst>
              <a:ext uri="{FF2B5EF4-FFF2-40B4-BE49-F238E27FC236}">
                <a16:creationId xmlns:a16="http://schemas.microsoft.com/office/drawing/2014/main" id="{4243169A-6AAB-64AA-A54B-B64EBF5CD940}"/>
              </a:ext>
            </a:extLst>
          </p:cNvPr>
          <p:cNvGrpSpPr/>
          <p:nvPr/>
        </p:nvGrpSpPr>
        <p:grpSpPr>
          <a:xfrm>
            <a:off x="8304990" y="2537211"/>
            <a:ext cx="3720095" cy="2328127"/>
            <a:chOff x="8304990" y="2537211"/>
            <a:chExt cx="3720095" cy="2328127"/>
          </a:xfrm>
        </p:grpSpPr>
        <p:sp>
          <p:nvSpPr>
            <p:cNvPr id="37" name="Isosceles Triangle 36">
              <a:extLst>
                <a:ext uri="{FF2B5EF4-FFF2-40B4-BE49-F238E27FC236}">
                  <a16:creationId xmlns:a16="http://schemas.microsoft.com/office/drawing/2014/main" id="{172955DE-0465-F837-E597-5FCFEE8FE6B8}"/>
                </a:ext>
              </a:extLst>
            </p:cNvPr>
            <p:cNvSpPr/>
            <p:nvPr/>
          </p:nvSpPr>
          <p:spPr>
            <a:xfrm>
              <a:off x="8376064" y="2822092"/>
              <a:ext cx="1026571" cy="341807"/>
            </a:xfrm>
            <a:prstGeom prst="triangl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6C65317-1FA2-8C7A-BCA9-E0B048E2EF49}"/>
                </a:ext>
              </a:extLst>
            </p:cNvPr>
            <p:cNvSpPr/>
            <p:nvPr/>
          </p:nvSpPr>
          <p:spPr>
            <a:xfrm>
              <a:off x="8376064" y="3163899"/>
              <a:ext cx="1026572" cy="66082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Isosceles Triangle 38">
              <a:extLst>
                <a:ext uri="{FF2B5EF4-FFF2-40B4-BE49-F238E27FC236}">
                  <a16:creationId xmlns:a16="http://schemas.microsoft.com/office/drawing/2014/main" id="{59251ACA-F4CA-4A32-6AD6-7DAAC45BF8B3}"/>
                </a:ext>
              </a:extLst>
            </p:cNvPr>
            <p:cNvSpPr/>
            <p:nvPr/>
          </p:nvSpPr>
          <p:spPr>
            <a:xfrm rot="10800000">
              <a:off x="8376064" y="3824722"/>
              <a:ext cx="1026571" cy="319019"/>
            </a:xfrm>
            <a:prstGeom prst="triangl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Diamond 39">
              <a:extLst>
                <a:ext uri="{FF2B5EF4-FFF2-40B4-BE49-F238E27FC236}">
                  <a16:creationId xmlns:a16="http://schemas.microsoft.com/office/drawing/2014/main" id="{E50A5C42-9CF0-E4B5-2279-9CB70130D589}"/>
                </a:ext>
              </a:extLst>
            </p:cNvPr>
            <p:cNvSpPr/>
            <p:nvPr/>
          </p:nvSpPr>
          <p:spPr>
            <a:xfrm>
              <a:off x="8535860" y="3104485"/>
              <a:ext cx="716537" cy="382830"/>
            </a:xfrm>
            <a:prstGeom prst="diamond">
              <a:avLst/>
            </a:prstGeom>
            <a:gradFill>
              <a:gsLst>
                <a:gs pos="0">
                  <a:schemeClr val="accent2">
                    <a:lumMod val="60000"/>
                    <a:lumOff val="40000"/>
                  </a:schemeClr>
                </a:gs>
                <a:gs pos="100000">
                  <a:schemeClr val="accent2">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Diamond 40">
              <a:extLst>
                <a:ext uri="{FF2B5EF4-FFF2-40B4-BE49-F238E27FC236}">
                  <a16:creationId xmlns:a16="http://schemas.microsoft.com/office/drawing/2014/main" id="{64D87358-3967-447E-010C-2A2C6738B38A}"/>
                </a:ext>
              </a:extLst>
            </p:cNvPr>
            <p:cNvSpPr/>
            <p:nvPr/>
          </p:nvSpPr>
          <p:spPr>
            <a:xfrm>
              <a:off x="8535860" y="3487315"/>
              <a:ext cx="716537" cy="387951"/>
            </a:xfrm>
            <a:prstGeom prst="diamond">
              <a:avLst/>
            </a:prstGeom>
            <a:gradFill>
              <a:gsLst>
                <a:gs pos="0">
                  <a:schemeClr val="accent2">
                    <a:lumMod val="60000"/>
                    <a:lumOff val="40000"/>
                  </a:schemeClr>
                </a:gs>
                <a:gs pos="100000">
                  <a:schemeClr val="accent2">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Isosceles Triangle 41">
              <a:extLst>
                <a:ext uri="{FF2B5EF4-FFF2-40B4-BE49-F238E27FC236}">
                  <a16:creationId xmlns:a16="http://schemas.microsoft.com/office/drawing/2014/main" id="{AB1CF83F-D621-A493-7E89-D19B58B8D597}"/>
                </a:ext>
              </a:extLst>
            </p:cNvPr>
            <p:cNvSpPr/>
            <p:nvPr/>
          </p:nvSpPr>
          <p:spPr>
            <a:xfrm rot="5400000">
              <a:off x="8521019" y="3305435"/>
              <a:ext cx="387951" cy="358269"/>
            </a:xfrm>
            <a:prstGeom prst="triangle">
              <a:avLst/>
            </a:prstGeom>
            <a:gradFill>
              <a:gsLst>
                <a:gs pos="0">
                  <a:schemeClr val="accent2">
                    <a:lumMod val="60000"/>
                    <a:lumOff val="40000"/>
                  </a:schemeClr>
                </a:gs>
                <a:gs pos="100000">
                  <a:schemeClr val="accent2">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Isosceles Triangle 42">
              <a:extLst>
                <a:ext uri="{FF2B5EF4-FFF2-40B4-BE49-F238E27FC236}">
                  <a16:creationId xmlns:a16="http://schemas.microsoft.com/office/drawing/2014/main" id="{5D81F2BB-A619-FEF0-724F-D09C2A87A6F0}"/>
                </a:ext>
              </a:extLst>
            </p:cNvPr>
            <p:cNvSpPr/>
            <p:nvPr/>
          </p:nvSpPr>
          <p:spPr>
            <a:xfrm rot="16200000">
              <a:off x="8879287" y="3310741"/>
              <a:ext cx="387951" cy="358269"/>
            </a:xfrm>
            <a:prstGeom prst="triangle">
              <a:avLst/>
            </a:prstGeom>
            <a:gradFill>
              <a:gsLst>
                <a:gs pos="0">
                  <a:schemeClr val="accent2">
                    <a:lumMod val="60000"/>
                    <a:lumOff val="40000"/>
                  </a:schemeClr>
                </a:gs>
                <a:gs pos="100000">
                  <a:schemeClr val="accent2">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C5435747-6803-211B-B3F2-0C484508DC8A}"/>
                </a:ext>
              </a:extLst>
            </p:cNvPr>
            <p:cNvGrpSpPr/>
            <p:nvPr/>
          </p:nvGrpSpPr>
          <p:grpSpPr>
            <a:xfrm>
              <a:off x="10542671" y="2779196"/>
              <a:ext cx="1482414" cy="1407443"/>
              <a:chOff x="10104414" y="856630"/>
              <a:chExt cx="1885950" cy="1870791"/>
            </a:xfrm>
          </p:grpSpPr>
          <p:sp>
            <p:nvSpPr>
              <p:cNvPr id="61" name="Oval 60">
                <a:extLst>
                  <a:ext uri="{FF2B5EF4-FFF2-40B4-BE49-F238E27FC236}">
                    <a16:creationId xmlns:a16="http://schemas.microsoft.com/office/drawing/2014/main" id="{D36FBF71-E3AB-49E2-93D5-02384E690099}"/>
                  </a:ext>
                </a:extLst>
              </p:cNvPr>
              <p:cNvSpPr/>
              <p:nvPr/>
            </p:nvSpPr>
            <p:spPr>
              <a:xfrm>
                <a:off x="10104414" y="856630"/>
                <a:ext cx="1885950" cy="187079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180DB981-C87F-15CD-B6D6-BBE28DF4218A}"/>
                  </a:ext>
                </a:extLst>
              </p:cNvPr>
              <p:cNvSpPr/>
              <p:nvPr/>
            </p:nvSpPr>
            <p:spPr>
              <a:xfrm>
                <a:off x="10333014" y="1049367"/>
                <a:ext cx="1428750" cy="1485315"/>
              </a:xfrm>
              <a:prstGeom prst="ellipse">
                <a:avLst/>
              </a:prstGeom>
              <a:gradFill flip="none" rotWithShape="1">
                <a:gsLst>
                  <a:gs pos="0">
                    <a:schemeClr val="accent2">
                      <a:lumMod val="60000"/>
                      <a:lumOff val="40000"/>
                    </a:schemeClr>
                  </a:gs>
                  <a:gs pos="100000">
                    <a:schemeClr val="accent2">
                      <a:lumMod val="20000"/>
                      <a:lumOff val="8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69417C59-9699-CFB2-BF2A-6EBE0D57AB84}"/>
                  </a:ext>
                </a:extLst>
              </p:cNvPr>
              <p:cNvSpPr/>
              <p:nvPr/>
            </p:nvSpPr>
            <p:spPr>
              <a:xfrm>
                <a:off x="10333012" y="1655818"/>
                <a:ext cx="1428749" cy="272411"/>
              </a:xfrm>
              <a:prstGeom prst="ellipse">
                <a:avLst/>
              </a:prstGeom>
              <a:noFill/>
              <a:ln w="9525">
                <a:solidFill>
                  <a:schemeClr val="bg1">
                    <a:alpha val="84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FB6F637C-B5F2-3AD4-E1B8-5173E4977FA8}"/>
                  </a:ext>
                </a:extLst>
              </p:cNvPr>
              <p:cNvSpPr/>
              <p:nvPr/>
            </p:nvSpPr>
            <p:spPr>
              <a:xfrm rot="5400000">
                <a:off x="10304728" y="1655818"/>
                <a:ext cx="1485314" cy="272411"/>
              </a:xfrm>
              <a:prstGeom prst="ellipse">
                <a:avLst/>
              </a:prstGeom>
              <a:noFill/>
              <a:ln w="9525">
                <a:solidFill>
                  <a:schemeClr val="bg1">
                    <a:alpha val="84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5" name="Straight Arrow Connector 64">
                <a:extLst>
                  <a:ext uri="{FF2B5EF4-FFF2-40B4-BE49-F238E27FC236}">
                    <a16:creationId xmlns:a16="http://schemas.microsoft.com/office/drawing/2014/main" id="{00F6C255-4865-523D-4EA8-929D1FEB7E3F}"/>
                  </a:ext>
                </a:extLst>
              </p:cNvPr>
              <p:cNvCxnSpPr>
                <a:cxnSpLocks/>
              </p:cNvCxnSpPr>
              <p:nvPr/>
            </p:nvCxnSpPr>
            <p:spPr>
              <a:xfrm flipH="1" flipV="1">
                <a:off x="10672361" y="1423169"/>
                <a:ext cx="375024" cy="370778"/>
              </a:xfrm>
              <a:prstGeom prst="straightConnector1">
                <a:avLst/>
              </a:prstGeom>
              <a:ln w="158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C8CB4669-AF89-AA6C-B1CD-C58F1326E8DA}"/>
                  </a:ext>
                </a:extLst>
              </p:cNvPr>
              <p:cNvCxnSpPr>
                <a:cxnSpLocks/>
                <a:endCxn id="63" idx="6"/>
              </p:cNvCxnSpPr>
              <p:nvPr/>
            </p:nvCxnSpPr>
            <p:spPr>
              <a:xfrm>
                <a:off x="11047385" y="1792023"/>
                <a:ext cx="714376" cy="1"/>
              </a:xfrm>
              <a:prstGeom prst="line">
                <a:avLst/>
              </a:prstGeom>
              <a:ln>
                <a:solidFill>
                  <a:schemeClr val="bg1">
                    <a:alpha val="82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ADBD2B61-E15D-7CE3-C78B-967CFA7B7067}"/>
                  </a:ext>
                </a:extLst>
              </p:cNvPr>
              <p:cNvCxnSpPr>
                <a:cxnSpLocks/>
                <a:endCxn id="62" idx="0"/>
              </p:cNvCxnSpPr>
              <p:nvPr/>
            </p:nvCxnSpPr>
            <p:spPr>
              <a:xfrm flipV="1">
                <a:off x="11047385" y="1049367"/>
                <a:ext cx="4" cy="742656"/>
              </a:xfrm>
              <a:prstGeom prst="line">
                <a:avLst/>
              </a:prstGeom>
              <a:ln>
                <a:solidFill>
                  <a:schemeClr val="bg1">
                    <a:alpha val="82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C97FE15-FDCF-6A85-E6E7-BB366A98F1A3}"/>
                  </a:ext>
                </a:extLst>
              </p:cNvPr>
              <p:cNvCxnSpPr>
                <a:cxnSpLocks/>
              </p:cNvCxnSpPr>
              <p:nvPr/>
            </p:nvCxnSpPr>
            <p:spPr>
              <a:xfrm flipH="1">
                <a:off x="10859873" y="1798575"/>
                <a:ext cx="187512" cy="186185"/>
              </a:xfrm>
              <a:prstGeom prst="line">
                <a:avLst/>
              </a:prstGeom>
              <a:ln>
                <a:solidFill>
                  <a:schemeClr val="bg1">
                    <a:alpha val="82000"/>
                  </a:schemeClr>
                </a:solidFill>
              </a:ln>
            </p:spPr>
            <p:style>
              <a:lnRef idx="1">
                <a:schemeClr val="accent1"/>
              </a:lnRef>
              <a:fillRef idx="0">
                <a:schemeClr val="accent1"/>
              </a:fillRef>
              <a:effectRef idx="0">
                <a:schemeClr val="accent1"/>
              </a:effectRef>
              <a:fontRef idx="minor">
                <a:schemeClr val="tx1"/>
              </a:fontRef>
            </p:style>
          </p:cxnSp>
        </p:grpSp>
        <p:cxnSp>
          <p:nvCxnSpPr>
            <p:cNvPr id="45" name="Straight Arrow Connector 44">
              <a:extLst>
                <a:ext uri="{FF2B5EF4-FFF2-40B4-BE49-F238E27FC236}">
                  <a16:creationId xmlns:a16="http://schemas.microsoft.com/office/drawing/2014/main" id="{8D78ED36-305F-0486-36CC-AB36936C88FB}"/>
                </a:ext>
              </a:extLst>
            </p:cNvPr>
            <p:cNvCxnSpPr>
              <a:cxnSpLocks/>
              <a:stCxn id="40" idx="0"/>
              <a:endCxn id="41" idx="2"/>
            </p:cNvCxnSpPr>
            <p:nvPr/>
          </p:nvCxnSpPr>
          <p:spPr>
            <a:xfrm>
              <a:off x="8894128" y="3104485"/>
              <a:ext cx="0" cy="770781"/>
            </a:xfrm>
            <a:prstGeom prst="straightConnector1">
              <a:avLst/>
            </a:prstGeom>
            <a:ln w="15875">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6" name="Arrow: Curved Down 45">
              <a:extLst>
                <a:ext uri="{FF2B5EF4-FFF2-40B4-BE49-F238E27FC236}">
                  <a16:creationId xmlns:a16="http://schemas.microsoft.com/office/drawing/2014/main" id="{6CFB97EE-CA35-03AA-C7E9-F3BB4008D640}"/>
                </a:ext>
              </a:extLst>
            </p:cNvPr>
            <p:cNvSpPr/>
            <p:nvPr/>
          </p:nvSpPr>
          <p:spPr>
            <a:xfrm>
              <a:off x="9237680" y="2537211"/>
              <a:ext cx="1469946" cy="319019"/>
            </a:xfrm>
            <a:prstGeom prst="curvedDownArrow">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7" name="TextBox 46">
              <a:extLst>
                <a:ext uri="{FF2B5EF4-FFF2-40B4-BE49-F238E27FC236}">
                  <a16:creationId xmlns:a16="http://schemas.microsoft.com/office/drawing/2014/main" id="{419CE0F0-974D-D681-7017-170C66CF0B18}"/>
                </a:ext>
              </a:extLst>
            </p:cNvPr>
            <p:cNvSpPr txBox="1"/>
            <p:nvPr/>
          </p:nvSpPr>
          <p:spPr>
            <a:xfrm>
              <a:off x="9480627" y="2677648"/>
              <a:ext cx="984059" cy="378130"/>
            </a:xfrm>
            <a:prstGeom prst="rect">
              <a:avLst/>
            </a:prstGeom>
            <a:noFill/>
          </p:spPr>
          <p:txBody>
            <a:bodyPr wrap="none" rtlCol="0">
              <a:spAutoFit/>
            </a:bodyPr>
            <a:lstStyle/>
            <a:p>
              <a:pPr algn="ctr"/>
              <a:r>
                <a:rPr lang="en-US" sz="1600"/>
                <a:t>Prepare</a:t>
              </a:r>
            </a:p>
          </p:txBody>
        </p:sp>
        <p:sp>
          <p:nvSpPr>
            <p:cNvPr id="48" name="Arrow: Curved Down 47">
              <a:extLst>
                <a:ext uri="{FF2B5EF4-FFF2-40B4-BE49-F238E27FC236}">
                  <a16:creationId xmlns:a16="http://schemas.microsoft.com/office/drawing/2014/main" id="{2CFAD7DA-3BF9-B145-7E8D-53968D48BDBA}"/>
                </a:ext>
              </a:extLst>
            </p:cNvPr>
            <p:cNvSpPr/>
            <p:nvPr/>
          </p:nvSpPr>
          <p:spPr>
            <a:xfrm rot="10800000">
              <a:off x="9252410" y="4207369"/>
              <a:ext cx="1469946" cy="319019"/>
            </a:xfrm>
            <a:prstGeom prst="curvedDownArrow">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TextBox 48">
              <a:extLst>
                <a:ext uri="{FF2B5EF4-FFF2-40B4-BE49-F238E27FC236}">
                  <a16:creationId xmlns:a16="http://schemas.microsoft.com/office/drawing/2014/main" id="{D38565C2-EDE0-B344-4F85-8F62E6A44976}"/>
                </a:ext>
              </a:extLst>
            </p:cNvPr>
            <p:cNvSpPr txBox="1"/>
            <p:nvPr/>
          </p:nvSpPr>
          <p:spPr>
            <a:xfrm>
              <a:off x="9541027" y="4118569"/>
              <a:ext cx="863252" cy="378130"/>
            </a:xfrm>
            <a:prstGeom prst="rect">
              <a:avLst/>
            </a:prstGeom>
            <a:noFill/>
          </p:spPr>
          <p:txBody>
            <a:bodyPr wrap="none" rtlCol="0">
              <a:spAutoFit/>
            </a:bodyPr>
            <a:lstStyle/>
            <a:p>
              <a:pPr algn="ctr"/>
              <a:r>
                <a:rPr lang="en-US" sz="1600"/>
                <a:t>Output</a:t>
              </a:r>
              <a:endParaRPr lang="en-US"/>
            </a:p>
          </p:txBody>
        </p:sp>
        <p:sp>
          <p:nvSpPr>
            <p:cNvPr id="50" name="TextBox 49">
              <a:extLst>
                <a:ext uri="{FF2B5EF4-FFF2-40B4-BE49-F238E27FC236}">
                  <a16:creationId xmlns:a16="http://schemas.microsoft.com/office/drawing/2014/main" id="{0325AD8F-8604-8C06-7CB7-510C085C4C6A}"/>
                </a:ext>
              </a:extLst>
            </p:cNvPr>
            <p:cNvSpPr txBox="1"/>
            <p:nvPr/>
          </p:nvSpPr>
          <p:spPr>
            <a:xfrm>
              <a:off x="8304990" y="4117555"/>
              <a:ext cx="1168720" cy="653134"/>
            </a:xfrm>
            <a:prstGeom prst="rect">
              <a:avLst/>
            </a:prstGeom>
            <a:noFill/>
          </p:spPr>
          <p:txBody>
            <a:bodyPr wrap="none" rtlCol="0">
              <a:spAutoFit/>
            </a:bodyPr>
            <a:lstStyle/>
            <a:p>
              <a:pPr algn="ctr"/>
              <a:r>
                <a:rPr lang="en-US" sz="1600"/>
                <a:t>Classical</a:t>
              </a:r>
            </a:p>
            <a:p>
              <a:pPr algn="ctr"/>
              <a:r>
                <a:rPr lang="en-US" sz="1600"/>
                <a:t>Computer</a:t>
              </a:r>
            </a:p>
          </p:txBody>
        </p:sp>
        <p:sp>
          <p:nvSpPr>
            <p:cNvPr id="51" name="TextBox 50">
              <a:extLst>
                <a:ext uri="{FF2B5EF4-FFF2-40B4-BE49-F238E27FC236}">
                  <a16:creationId xmlns:a16="http://schemas.microsoft.com/office/drawing/2014/main" id="{7B95EBAB-7A0B-7B81-9EAE-C234B7887B1B}"/>
                </a:ext>
              </a:extLst>
            </p:cNvPr>
            <p:cNvSpPr txBox="1"/>
            <p:nvPr/>
          </p:nvSpPr>
          <p:spPr>
            <a:xfrm>
              <a:off x="10699514" y="4212205"/>
              <a:ext cx="1168720" cy="653133"/>
            </a:xfrm>
            <a:prstGeom prst="rect">
              <a:avLst/>
            </a:prstGeom>
            <a:noFill/>
          </p:spPr>
          <p:txBody>
            <a:bodyPr wrap="none" rtlCol="0">
              <a:spAutoFit/>
            </a:bodyPr>
            <a:lstStyle/>
            <a:p>
              <a:pPr algn="ctr"/>
              <a:r>
                <a:rPr lang="en-US" sz="1600"/>
                <a:t>Quantum</a:t>
              </a:r>
            </a:p>
            <a:p>
              <a:pPr algn="ctr"/>
              <a:r>
                <a:rPr lang="en-US" sz="1600"/>
                <a:t>Computer</a:t>
              </a:r>
            </a:p>
          </p:txBody>
        </p:sp>
        <p:cxnSp>
          <p:nvCxnSpPr>
            <p:cNvPr id="52" name="Straight Arrow Connector 51">
              <a:extLst>
                <a:ext uri="{FF2B5EF4-FFF2-40B4-BE49-F238E27FC236}">
                  <a16:creationId xmlns:a16="http://schemas.microsoft.com/office/drawing/2014/main" id="{D9B3604D-F65B-286E-577F-84A1AC5B70E9}"/>
                </a:ext>
              </a:extLst>
            </p:cNvPr>
            <p:cNvCxnSpPr>
              <a:cxnSpLocks/>
              <a:endCxn id="41" idx="0"/>
            </p:cNvCxnSpPr>
            <p:nvPr/>
          </p:nvCxnSpPr>
          <p:spPr>
            <a:xfrm>
              <a:off x="8376064" y="3163899"/>
              <a:ext cx="518065" cy="323416"/>
            </a:xfrm>
            <a:prstGeom prst="straightConnector1">
              <a:avLst/>
            </a:prstGeom>
            <a:ln w="0">
              <a:solidFill>
                <a:schemeClr val="accent6">
                  <a:lumMod val="40000"/>
                  <a:lumOff val="60000"/>
                </a:schemeClr>
              </a:solidFill>
              <a:headEnd w="sm" len="sm"/>
              <a:tailEnd type="non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393D5B2E-F64E-9427-9717-7AEED8F1517D}"/>
                </a:ext>
              </a:extLst>
            </p:cNvPr>
            <p:cNvCxnSpPr>
              <a:cxnSpLocks/>
              <a:endCxn id="43" idx="0"/>
            </p:cNvCxnSpPr>
            <p:nvPr/>
          </p:nvCxnSpPr>
          <p:spPr>
            <a:xfrm flipH="1">
              <a:off x="8894128" y="3163899"/>
              <a:ext cx="508508" cy="325977"/>
            </a:xfrm>
            <a:prstGeom prst="straightConnector1">
              <a:avLst/>
            </a:prstGeom>
            <a:ln w="0">
              <a:solidFill>
                <a:schemeClr val="accent6">
                  <a:lumMod val="40000"/>
                  <a:lumOff val="60000"/>
                </a:schemeClr>
              </a:solidFill>
              <a:headEnd w="sm" len="sm"/>
              <a:tailEnd type="non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26F55ED9-C35D-56F3-ED80-B080C4B8E670}"/>
                </a:ext>
              </a:extLst>
            </p:cNvPr>
            <p:cNvCxnSpPr>
              <a:cxnSpLocks/>
              <a:stCxn id="39" idx="2"/>
              <a:endCxn id="41" idx="0"/>
            </p:cNvCxnSpPr>
            <p:nvPr/>
          </p:nvCxnSpPr>
          <p:spPr>
            <a:xfrm flipH="1" flipV="1">
              <a:off x="8894128" y="3487315"/>
              <a:ext cx="508507" cy="337407"/>
            </a:xfrm>
            <a:prstGeom prst="straightConnector1">
              <a:avLst/>
            </a:prstGeom>
            <a:ln w="0">
              <a:solidFill>
                <a:schemeClr val="accent6">
                  <a:lumMod val="40000"/>
                  <a:lumOff val="60000"/>
                </a:schemeClr>
              </a:solidFill>
              <a:headEnd w="sm" len="sm"/>
              <a:tailEnd type="non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40A96099-205D-B2AC-2712-BBDB76699CBE}"/>
                </a:ext>
              </a:extLst>
            </p:cNvPr>
            <p:cNvCxnSpPr>
              <a:cxnSpLocks/>
              <a:endCxn id="41" idx="0"/>
            </p:cNvCxnSpPr>
            <p:nvPr/>
          </p:nvCxnSpPr>
          <p:spPr>
            <a:xfrm flipV="1">
              <a:off x="8376064" y="3487315"/>
              <a:ext cx="518065" cy="323416"/>
            </a:xfrm>
            <a:prstGeom prst="straightConnector1">
              <a:avLst/>
            </a:prstGeom>
            <a:ln w="0">
              <a:solidFill>
                <a:schemeClr val="accent6">
                  <a:lumMod val="40000"/>
                  <a:lumOff val="60000"/>
                </a:schemeClr>
              </a:solidFill>
              <a:headEnd w="sm" len="sm"/>
              <a:tailEnd type="non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E920D619-83FA-2986-E44A-8D10BE8908CD}"/>
                </a:ext>
              </a:extLst>
            </p:cNvPr>
            <p:cNvSpPr txBox="1"/>
            <p:nvPr/>
          </p:nvSpPr>
          <p:spPr>
            <a:xfrm>
              <a:off x="8743198" y="2855240"/>
              <a:ext cx="290283" cy="309379"/>
            </a:xfrm>
            <a:prstGeom prst="rect">
              <a:avLst/>
            </a:prstGeom>
            <a:noFill/>
          </p:spPr>
          <p:txBody>
            <a:bodyPr wrap="none" rtlCol="0">
              <a:spAutoFit/>
            </a:bodyPr>
            <a:lstStyle/>
            <a:p>
              <a:r>
                <a:rPr lang="en-US" sz="1200">
                  <a:solidFill>
                    <a:schemeClr val="bg1"/>
                  </a:solidFill>
                </a:rPr>
                <a:t>0</a:t>
              </a:r>
            </a:p>
          </p:txBody>
        </p:sp>
        <p:sp>
          <p:nvSpPr>
            <p:cNvPr id="57" name="TextBox 56">
              <a:extLst>
                <a:ext uri="{FF2B5EF4-FFF2-40B4-BE49-F238E27FC236}">
                  <a16:creationId xmlns:a16="http://schemas.microsoft.com/office/drawing/2014/main" id="{7FBBF02C-3DFD-44A3-7A39-E49669E977E3}"/>
                </a:ext>
              </a:extLst>
            </p:cNvPr>
            <p:cNvSpPr txBox="1"/>
            <p:nvPr/>
          </p:nvSpPr>
          <p:spPr>
            <a:xfrm>
              <a:off x="8731016" y="3819933"/>
              <a:ext cx="211934" cy="208393"/>
            </a:xfrm>
            <a:prstGeom prst="rect">
              <a:avLst/>
            </a:prstGeom>
            <a:noFill/>
          </p:spPr>
          <p:txBody>
            <a:bodyPr wrap="none" rtlCol="0">
              <a:spAutoFit/>
            </a:bodyPr>
            <a:lstStyle/>
            <a:p>
              <a:r>
                <a:rPr lang="en-US" sz="1200">
                  <a:solidFill>
                    <a:schemeClr val="bg1"/>
                  </a:solidFill>
                </a:rPr>
                <a:t>1</a:t>
              </a:r>
            </a:p>
          </p:txBody>
        </p:sp>
        <p:sp>
          <p:nvSpPr>
            <p:cNvPr id="58" name="TextBox 57">
              <a:extLst>
                <a:ext uri="{FF2B5EF4-FFF2-40B4-BE49-F238E27FC236}">
                  <a16:creationId xmlns:a16="http://schemas.microsoft.com/office/drawing/2014/main" id="{97663E75-9A43-6955-BFD6-1C05E7AE5BD3}"/>
                </a:ext>
              </a:extLst>
            </p:cNvPr>
            <p:cNvSpPr txBox="1"/>
            <p:nvPr/>
          </p:nvSpPr>
          <p:spPr>
            <a:xfrm>
              <a:off x="11139343" y="3949434"/>
              <a:ext cx="313994" cy="208393"/>
            </a:xfrm>
            <a:prstGeom prst="rect">
              <a:avLst/>
            </a:prstGeom>
            <a:noFill/>
          </p:spPr>
          <p:txBody>
            <a:bodyPr wrap="none" rtlCol="0">
              <a:spAutoFit/>
            </a:bodyPr>
            <a:lstStyle/>
            <a:p>
              <a:r>
                <a:rPr lang="en-US" sz="1200">
                  <a:solidFill>
                    <a:schemeClr val="bg1"/>
                  </a:solidFill>
                </a:rPr>
                <a:t>|1&gt;</a:t>
              </a:r>
            </a:p>
          </p:txBody>
        </p:sp>
        <p:sp>
          <p:nvSpPr>
            <p:cNvPr id="59" name="TextBox 58">
              <a:extLst>
                <a:ext uri="{FF2B5EF4-FFF2-40B4-BE49-F238E27FC236}">
                  <a16:creationId xmlns:a16="http://schemas.microsoft.com/office/drawing/2014/main" id="{64B1E606-48F6-C898-209D-895C62DC89BF}"/>
                </a:ext>
              </a:extLst>
            </p:cNvPr>
            <p:cNvSpPr txBox="1"/>
            <p:nvPr/>
          </p:nvSpPr>
          <p:spPr>
            <a:xfrm>
              <a:off x="11128472" y="2716431"/>
              <a:ext cx="313994" cy="208393"/>
            </a:xfrm>
            <a:prstGeom prst="rect">
              <a:avLst/>
            </a:prstGeom>
            <a:noFill/>
          </p:spPr>
          <p:txBody>
            <a:bodyPr wrap="none" rtlCol="0">
              <a:spAutoFit/>
            </a:bodyPr>
            <a:lstStyle/>
            <a:p>
              <a:r>
                <a:rPr lang="en-US" sz="1200">
                  <a:solidFill>
                    <a:schemeClr val="bg1"/>
                  </a:solidFill>
                </a:rPr>
                <a:t>|0&gt;</a:t>
              </a:r>
            </a:p>
          </p:txBody>
        </p:sp>
        <p:sp>
          <p:nvSpPr>
            <p:cNvPr id="60" name="TextBox 59">
              <a:extLst>
                <a:ext uri="{FF2B5EF4-FFF2-40B4-BE49-F238E27FC236}">
                  <a16:creationId xmlns:a16="http://schemas.microsoft.com/office/drawing/2014/main" id="{B8B349B2-7A4F-B4FF-1765-2CE23BE729DF}"/>
                </a:ext>
              </a:extLst>
            </p:cNvPr>
            <p:cNvSpPr txBox="1"/>
            <p:nvPr/>
          </p:nvSpPr>
          <p:spPr>
            <a:xfrm>
              <a:off x="9345396" y="3184476"/>
              <a:ext cx="1265366" cy="928138"/>
            </a:xfrm>
            <a:prstGeom prst="rect">
              <a:avLst/>
            </a:prstGeom>
            <a:noFill/>
          </p:spPr>
          <p:txBody>
            <a:bodyPr wrap="none" rtlCol="0">
              <a:spAutoFit/>
            </a:bodyPr>
            <a:lstStyle/>
            <a:p>
              <a:pPr algn="ctr"/>
              <a:r>
                <a:rPr lang="en-US" sz="1600"/>
                <a:t>Hybrid </a:t>
              </a:r>
            </a:p>
            <a:p>
              <a:pPr algn="ctr"/>
              <a:r>
                <a:rPr lang="en-US" sz="1600"/>
                <a:t>Quantum </a:t>
              </a:r>
            </a:p>
            <a:p>
              <a:pPr algn="ctr"/>
              <a:r>
                <a:rPr lang="en-US" sz="1600"/>
                <a:t>Computing</a:t>
              </a:r>
            </a:p>
          </p:txBody>
        </p:sp>
      </p:grpSp>
    </p:spTree>
    <p:extLst>
      <p:ext uri="{BB962C8B-B14F-4D97-AF65-F5344CB8AC3E}">
        <p14:creationId xmlns:p14="http://schemas.microsoft.com/office/powerpoint/2010/main" val="1128490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91752EBC-93BC-E064-00A4-604EFF2EC551}"/>
              </a:ext>
            </a:extLst>
          </p:cNvPr>
          <p:cNvSpPr/>
          <p:nvPr/>
        </p:nvSpPr>
        <p:spPr>
          <a:xfrm>
            <a:off x="900329" y="4421183"/>
            <a:ext cx="10072471" cy="2498082"/>
          </a:xfrm>
          <a:prstGeom prst="roundRect">
            <a:avLst/>
          </a:prstGeom>
          <a:solidFill>
            <a:schemeClr val="bg2">
              <a:lumMod val="20000"/>
              <a:lumOff val="80000"/>
              <a:alpha val="4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D2C31A-F37F-AA23-33D7-8FC40F871EF9}"/>
              </a:ext>
            </a:extLst>
          </p:cNvPr>
          <p:cNvSpPr>
            <a:spLocks noGrp="1"/>
          </p:cNvSpPr>
          <p:nvPr>
            <p:ph type="title"/>
          </p:nvPr>
        </p:nvSpPr>
        <p:spPr/>
        <p:txBody>
          <a:bodyPr/>
          <a:lstStyle/>
          <a:p>
            <a:r>
              <a:rPr lang="en-US"/>
              <a:t>5. Broader Impact : Other Applications of  QML </a:t>
            </a:r>
          </a:p>
        </p:txBody>
      </p:sp>
      <p:sp>
        <p:nvSpPr>
          <p:cNvPr id="3" name="Content Placeholder 2">
            <a:extLst>
              <a:ext uri="{FF2B5EF4-FFF2-40B4-BE49-F238E27FC236}">
                <a16:creationId xmlns:a16="http://schemas.microsoft.com/office/drawing/2014/main" id="{5ABFFB85-2244-53AB-6718-032039AEF4DE}"/>
              </a:ext>
            </a:extLst>
          </p:cNvPr>
          <p:cNvSpPr>
            <a:spLocks noGrp="1"/>
          </p:cNvSpPr>
          <p:nvPr>
            <p:ph idx="1"/>
          </p:nvPr>
        </p:nvSpPr>
        <p:spPr>
          <a:xfrm>
            <a:off x="609600" y="1199286"/>
            <a:ext cx="10972800" cy="4637049"/>
          </a:xfrm>
        </p:spPr>
        <p:txBody>
          <a:bodyPr/>
          <a:lstStyle/>
          <a:p>
            <a:r>
              <a:rPr lang="en-US" sz="2800"/>
              <a:t>An alternative to fully developing a parametrized quantum circuit is to leverage the quantum circuit as a pre-processing or feature encoding. </a:t>
            </a:r>
          </a:p>
          <a:p>
            <a:r>
              <a:rPr lang="en-US" sz="2800"/>
              <a:t>In this hybrid framework, a quantum feature map performs the data encoding, after which the quantum state is measured and collapsed back into a classical feature vector. </a:t>
            </a:r>
          </a:p>
          <a:p>
            <a:r>
              <a:rPr lang="en-US" sz="2800"/>
              <a:t>The resulting transformed features then serve as enriched inputs for traditional machine learning algorithms on classical systems. </a:t>
            </a:r>
          </a:p>
        </p:txBody>
      </p:sp>
      <p:sp>
        <p:nvSpPr>
          <p:cNvPr id="4" name="Arc 3">
            <a:extLst>
              <a:ext uri="{FF2B5EF4-FFF2-40B4-BE49-F238E27FC236}">
                <a16:creationId xmlns:a16="http://schemas.microsoft.com/office/drawing/2014/main" id="{EAAE9FA7-0991-FA39-C731-94966A083229}"/>
              </a:ext>
            </a:extLst>
          </p:cNvPr>
          <p:cNvSpPr/>
          <p:nvPr/>
        </p:nvSpPr>
        <p:spPr>
          <a:xfrm>
            <a:off x="900331" y="5824027"/>
            <a:ext cx="6457071" cy="2018714"/>
          </a:xfrm>
          <a:prstGeom prst="arc">
            <a:avLst>
              <a:gd name="adj1" fmla="val 14029581"/>
              <a:gd name="adj2" fmla="val 21361572"/>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Arc 4">
            <a:extLst>
              <a:ext uri="{FF2B5EF4-FFF2-40B4-BE49-F238E27FC236}">
                <a16:creationId xmlns:a16="http://schemas.microsoft.com/office/drawing/2014/main" id="{998DE50E-EE6C-5B8C-16BE-6758B2A3471F}"/>
              </a:ext>
            </a:extLst>
          </p:cNvPr>
          <p:cNvSpPr/>
          <p:nvPr/>
        </p:nvSpPr>
        <p:spPr>
          <a:xfrm rot="10800000" flipH="1">
            <a:off x="900331" y="3541544"/>
            <a:ext cx="6457071" cy="2018714"/>
          </a:xfrm>
          <a:prstGeom prst="arc">
            <a:avLst>
              <a:gd name="adj1" fmla="val 14029581"/>
              <a:gd name="adj2" fmla="val 21361572"/>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Arc 5">
            <a:extLst>
              <a:ext uri="{FF2B5EF4-FFF2-40B4-BE49-F238E27FC236}">
                <a16:creationId xmlns:a16="http://schemas.microsoft.com/office/drawing/2014/main" id="{405DD964-0856-304B-C4D2-B0D25A478A4C}"/>
              </a:ext>
            </a:extLst>
          </p:cNvPr>
          <p:cNvSpPr/>
          <p:nvPr/>
        </p:nvSpPr>
        <p:spPr>
          <a:xfrm rot="10800000" flipH="1">
            <a:off x="2473568" y="3673429"/>
            <a:ext cx="6457071" cy="2018714"/>
          </a:xfrm>
          <a:prstGeom prst="arc">
            <a:avLst>
              <a:gd name="adj1" fmla="val 14029581"/>
              <a:gd name="adj2" fmla="val 21361572"/>
            </a:avLst>
          </a:prstGeom>
          <a:ln>
            <a:solidFill>
              <a:schemeClr val="tx2"/>
            </a:solidFill>
            <a:headEnd type="none"/>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Arc 6">
            <a:extLst>
              <a:ext uri="{FF2B5EF4-FFF2-40B4-BE49-F238E27FC236}">
                <a16:creationId xmlns:a16="http://schemas.microsoft.com/office/drawing/2014/main" id="{5834B82D-E781-C44E-F378-E6B72873EACB}"/>
              </a:ext>
            </a:extLst>
          </p:cNvPr>
          <p:cNvSpPr/>
          <p:nvPr/>
        </p:nvSpPr>
        <p:spPr>
          <a:xfrm>
            <a:off x="2473567" y="5692142"/>
            <a:ext cx="6457071" cy="2018714"/>
          </a:xfrm>
          <a:prstGeom prst="arc">
            <a:avLst>
              <a:gd name="adj1" fmla="val 14029581"/>
              <a:gd name="adj2" fmla="val 21361572"/>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8C09CD76-5ADA-4236-CF37-84AC6264A26D}"/>
              </a:ext>
            </a:extLst>
          </p:cNvPr>
          <p:cNvSpPr txBox="1"/>
          <p:nvPr/>
        </p:nvSpPr>
        <p:spPr>
          <a:xfrm>
            <a:off x="1048964" y="5138577"/>
            <a:ext cx="2036135" cy="400110"/>
          </a:xfrm>
          <a:prstGeom prst="rect">
            <a:avLst/>
          </a:prstGeom>
          <a:noFill/>
        </p:spPr>
        <p:txBody>
          <a:bodyPr wrap="none" rtlCol="0">
            <a:spAutoFit/>
          </a:bodyPr>
          <a:lstStyle/>
          <a:p>
            <a:r>
              <a:rPr lang="en-US" sz="2000"/>
              <a:t>Quantum Circuit</a:t>
            </a:r>
          </a:p>
        </p:txBody>
      </p:sp>
      <p:sp>
        <p:nvSpPr>
          <p:cNvPr id="12" name="TextBox 11">
            <a:extLst>
              <a:ext uri="{FF2B5EF4-FFF2-40B4-BE49-F238E27FC236}">
                <a16:creationId xmlns:a16="http://schemas.microsoft.com/office/drawing/2014/main" id="{9A97748A-9B2D-122D-5FD1-DF76F3ABD05C}"/>
              </a:ext>
            </a:extLst>
          </p:cNvPr>
          <p:cNvSpPr txBox="1"/>
          <p:nvPr/>
        </p:nvSpPr>
        <p:spPr>
          <a:xfrm>
            <a:off x="6651357" y="4421183"/>
            <a:ext cx="1909497" cy="400110"/>
          </a:xfrm>
          <a:prstGeom prst="rect">
            <a:avLst/>
          </a:prstGeom>
          <a:noFill/>
        </p:spPr>
        <p:txBody>
          <a:bodyPr wrap="none" rtlCol="0">
            <a:spAutoFit/>
          </a:bodyPr>
          <a:lstStyle/>
          <a:p>
            <a:r>
              <a:rPr lang="en-US" sz="2000"/>
              <a:t>Pre-processing</a:t>
            </a:r>
          </a:p>
        </p:txBody>
      </p:sp>
      <p:sp>
        <p:nvSpPr>
          <p:cNvPr id="14" name="TextBox 13">
            <a:extLst>
              <a:ext uri="{FF2B5EF4-FFF2-40B4-BE49-F238E27FC236}">
                <a16:creationId xmlns:a16="http://schemas.microsoft.com/office/drawing/2014/main" id="{FF684DEB-46B1-DD1D-6596-CA4D0C3A6A03}"/>
              </a:ext>
            </a:extLst>
          </p:cNvPr>
          <p:cNvSpPr txBox="1"/>
          <p:nvPr/>
        </p:nvSpPr>
        <p:spPr>
          <a:xfrm>
            <a:off x="8560854" y="4585011"/>
            <a:ext cx="2180405" cy="400110"/>
          </a:xfrm>
          <a:prstGeom prst="rect">
            <a:avLst/>
          </a:prstGeom>
          <a:noFill/>
        </p:spPr>
        <p:txBody>
          <a:bodyPr wrap="none" rtlCol="0">
            <a:spAutoFit/>
          </a:bodyPr>
          <a:lstStyle/>
          <a:p>
            <a:r>
              <a:rPr lang="en-US" sz="2000"/>
              <a:t>Feature encoding</a:t>
            </a:r>
          </a:p>
        </p:txBody>
      </p:sp>
      <p:sp>
        <p:nvSpPr>
          <p:cNvPr id="15" name="TextBox 14">
            <a:extLst>
              <a:ext uri="{FF2B5EF4-FFF2-40B4-BE49-F238E27FC236}">
                <a16:creationId xmlns:a16="http://schemas.microsoft.com/office/drawing/2014/main" id="{E6D9E915-C11E-8600-34FF-B74638013BBF}"/>
              </a:ext>
            </a:extLst>
          </p:cNvPr>
          <p:cNvSpPr txBox="1"/>
          <p:nvPr/>
        </p:nvSpPr>
        <p:spPr>
          <a:xfrm>
            <a:off x="8560854" y="6399165"/>
            <a:ext cx="2236510" cy="400110"/>
          </a:xfrm>
          <a:prstGeom prst="rect">
            <a:avLst/>
          </a:prstGeom>
          <a:noFill/>
        </p:spPr>
        <p:txBody>
          <a:bodyPr wrap="none" rtlCol="0">
            <a:spAutoFit/>
          </a:bodyPr>
          <a:lstStyle/>
          <a:p>
            <a:r>
              <a:rPr lang="en-US" sz="2000"/>
              <a:t>Image Processing</a:t>
            </a:r>
          </a:p>
        </p:txBody>
      </p:sp>
      <p:sp>
        <p:nvSpPr>
          <p:cNvPr id="16" name="TextBox 15">
            <a:extLst>
              <a:ext uri="{FF2B5EF4-FFF2-40B4-BE49-F238E27FC236}">
                <a16:creationId xmlns:a16="http://schemas.microsoft.com/office/drawing/2014/main" id="{7430D6D2-1A6E-C16F-471E-FFBB18ADA15C}"/>
              </a:ext>
            </a:extLst>
          </p:cNvPr>
          <p:cNvSpPr txBox="1"/>
          <p:nvPr/>
        </p:nvSpPr>
        <p:spPr>
          <a:xfrm>
            <a:off x="7085770" y="6519155"/>
            <a:ext cx="1040670" cy="400110"/>
          </a:xfrm>
          <a:prstGeom prst="rect">
            <a:avLst/>
          </a:prstGeom>
          <a:noFill/>
        </p:spPr>
        <p:txBody>
          <a:bodyPr wrap="none" rtlCol="0">
            <a:spAutoFit/>
          </a:bodyPr>
          <a:lstStyle/>
          <a:p>
            <a:r>
              <a:rPr lang="en-US" sz="2000"/>
              <a:t>Solvers</a:t>
            </a:r>
          </a:p>
        </p:txBody>
      </p:sp>
      <p:pic>
        <p:nvPicPr>
          <p:cNvPr id="17" name="Picture 16">
            <a:extLst>
              <a:ext uri="{FF2B5EF4-FFF2-40B4-BE49-F238E27FC236}">
                <a16:creationId xmlns:a16="http://schemas.microsoft.com/office/drawing/2014/main" id="{13711142-1808-F6E3-D9FD-082903EAF205}"/>
              </a:ext>
            </a:extLst>
          </p:cNvPr>
          <p:cNvPicPr>
            <a:picLocks noChangeAspect="1"/>
          </p:cNvPicPr>
          <p:nvPr/>
        </p:nvPicPr>
        <p:blipFill>
          <a:blip r:embed="rId3"/>
          <a:stretch>
            <a:fillRect/>
          </a:stretch>
        </p:blipFill>
        <p:spPr>
          <a:xfrm>
            <a:off x="4857751" y="5486959"/>
            <a:ext cx="1445998" cy="378184"/>
          </a:xfrm>
          <a:prstGeom prst="rect">
            <a:avLst/>
          </a:prstGeom>
        </p:spPr>
      </p:pic>
      <p:pic>
        <p:nvPicPr>
          <p:cNvPr id="19" name="Picture 18">
            <a:extLst>
              <a:ext uri="{FF2B5EF4-FFF2-40B4-BE49-F238E27FC236}">
                <a16:creationId xmlns:a16="http://schemas.microsoft.com/office/drawing/2014/main" id="{4CF2EC0A-7995-6AEB-50D4-67A4987D9D67}"/>
              </a:ext>
            </a:extLst>
          </p:cNvPr>
          <p:cNvPicPr>
            <a:picLocks noChangeAspect="1"/>
          </p:cNvPicPr>
          <p:nvPr/>
        </p:nvPicPr>
        <p:blipFill>
          <a:blip r:embed="rId4"/>
          <a:stretch>
            <a:fillRect/>
          </a:stretch>
        </p:blipFill>
        <p:spPr>
          <a:xfrm>
            <a:off x="1722235" y="5486959"/>
            <a:ext cx="2725729" cy="378184"/>
          </a:xfrm>
          <a:prstGeom prst="rect">
            <a:avLst/>
          </a:prstGeom>
        </p:spPr>
      </p:pic>
      <p:pic>
        <p:nvPicPr>
          <p:cNvPr id="8" name="Picture 7">
            <a:extLst>
              <a:ext uri="{FF2B5EF4-FFF2-40B4-BE49-F238E27FC236}">
                <a16:creationId xmlns:a16="http://schemas.microsoft.com/office/drawing/2014/main" id="{9C8533D0-989A-2727-7A41-0F158D2DF63B}"/>
              </a:ext>
            </a:extLst>
          </p:cNvPr>
          <p:cNvPicPr>
            <a:picLocks noChangeAspect="1"/>
          </p:cNvPicPr>
          <p:nvPr/>
        </p:nvPicPr>
        <p:blipFill>
          <a:blip r:embed="rId5"/>
          <a:stretch>
            <a:fillRect/>
          </a:stretch>
        </p:blipFill>
        <p:spPr>
          <a:xfrm>
            <a:off x="10476005" y="116356"/>
            <a:ext cx="1314585" cy="1293288"/>
          </a:xfrm>
          <a:prstGeom prst="rect">
            <a:avLst/>
          </a:prstGeom>
        </p:spPr>
      </p:pic>
    </p:spTree>
    <p:extLst>
      <p:ext uri="{BB962C8B-B14F-4D97-AF65-F5344CB8AC3E}">
        <p14:creationId xmlns:p14="http://schemas.microsoft.com/office/powerpoint/2010/main" val="245770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8CD1A9A4-884F-ACD3-C37C-F02ABBEFA06B}"/>
              </a:ext>
            </a:extLst>
          </p:cNvPr>
          <p:cNvPicPr>
            <a:picLocks noChangeAspect="1"/>
          </p:cNvPicPr>
          <p:nvPr/>
        </p:nvPicPr>
        <p:blipFill>
          <a:blip r:embed="rId3"/>
          <a:stretch>
            <a:fillRect/>
          </a:stretch>
        </p:blipFill>
        <p:spPr bwMode="auto">
          <a:xfrm>
            <a:off x="6193358" y="1843889"/>
            <a:ext cx="5728080" cy="27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a:extLst>
              <a:ext uri="{FF2B5EF4-FFF2-40B4-BE49-F238E27FC236}">
                <a16:creationId xmlns:a16="http://schemas.microsoft.com/office/drawing/2014/main" id="{55847F48-40CF-B028-7C3C-6B2F7542DDEF}"/>
              </a:ext>
            </a:extLst>
          </p:cNvPr>
          <p:cNvSpPr>
            <a:spLocks noGrp="1"/>
          </p:cNvSpPr>
          <p:nvPr>
            <p:ph type="title"/>
          </p:nvPr>
        </p:nvSpPr>
        <p:spPr>
          <a:xfrm>
            <a:off x="0" y="-4152"/>
            <a:ext cx="10972800" cy="914400"/>
          </a:xfrm>
        </p:spPr>
        <p:txBody>
          <a:bodyPr wrap="square" anchor="ctr">
            <a:normAutofit/>
          </a:bodyPr>
          <a:lstStyle/>
          <a:p>
            <a:r>
              <a:rPr lang="en-US"/>
              <a:t>Findings</a:t>
            </a:r>
          </a:p>
        </p:txBody>
      </p:sp>
      <p:sp>
        <p:nvSpPr>
          <p:cNvPr id="3" name="Content Placeholder 2">
            <a:extLst>
              <a:ext uri="{FF2B5EF4-FFF2-40B4-BE49-F238E27FC236}">
                <a16:creationId xmlns:a16="http://schemas.microsoft.com/office/drawing/2014/main" id="{E323FF50-C29E-B9C3-CB00-5100B859CC62}"/>
              </a:ext>
            </a:extLst>
          </p:cNvPr>
          <p:cNvSpPr>
            <a:spLocks noGrp="1"/>
          </p:cNvSpPr>
          <p:nvPr>
            <p:ph sz="half" idx="1"/>
          </p:nvPr>
        </p:nvSpPr>
        <p:spPr>
          <a:xfrm>
            <a:off x="609600" y="1767114"/>
            <a:ext cx="5728080" cy="3733800"/>
          </a:xfrm>
        </p:spPr>
        <p:txBody>
          <a:bodyPr wrap="square" anchor="t">
            <a:normAutofit fontScale="92500" lnSpcReduction="10000"/>
          </a:bodyPr>
          <a:lstStyle/>
          <a:p>
            <a:pPr>
              <a:lnSpc>
                <a:spcPct val="90000"/>
              </a:lnSpc>
            </a:pPr>
            <a:r>
              <a:rPr lang="en-US" sz="2800"/>
              <a:t>The development and deployment of hybrid quantum-classical algorithms continue to face fundamental challenges inherent to the current Noisy Intermediate-Scale Quantum (NISQ) era. </a:t>
            </a:r>
          </a:p>
          <a:p>
            <a:pPr>
              <a:lnSpc>
                <a:spcPct val="90000"/>
              </a:lnSpc>
            </a:pPr>
            <a:r>
              <a:rPr lang="en-US" sz="2800"/>
              <a:t>Chief among these are the intrinsic noise, gate errors, and limited measurement fidelity that characterize contemporary quantum hardware. </a:t>
            </a:r>
          </a:p>
          <a:p>
            <a:pPr>
              <a:lnSpc>
                <a:spcPct val="90000"/>
              </a:lnSpc>
            </a:pPr>
            <a:endParaRPr lang="en-US" sz="2800"/>
          </a:p>
        </p:txBody>
      </p:sp>
    </p:spTree>
    <p:extLst>
      <p:ext uri="{BB962C8B-B14F-4D97-AF65-F5344CB8AC3E}">
        <p14:creationId xmlns:p14="http://schemas.microsoft.com/office/powerpoint/2010/main" val="10530078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118A3-4222-A366-5D97-71A4BCE491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B27B28-E00A-CE84-969C-90FA58FC7FEA}"/>
              </a:ext>
            </a:extLst>
          </p:cNvPr>
          <p:cNvSpPr>
            <a:spLocks noGrp="1"/>
          </p:cNvSpPr>
          <p:nvPr>
            <p:ph type="title"/>
          </p:nvPr>
        </p:nvSpPr>
        <p:spPr/>
        <p:txBody>
          <a:bodyPr/>
          <a:lstStyle/>
          <a:p>
            <a:r>
              <a:rPr lang="en-US"/>
              <a:t>6. Summary</a:t>
            </a:r>
          </a:p>
        </p:txBody>
      </p:sp>
      <p:sp>
        <p:nvSpPr>
          <p:cNvPr id="3" name="Content Placeholder 2">
            <a:extLst>
              <a:ext uri="{FF2B5EF4-FFF2-40B4-BE49-F238E27FC236}">
                <a16:creationId xmlns:a16="http://schemas.microsoft.com/office/drawing/2014/main" id="{98B5B641-4985-BABE-6137-E9436D94CF3B}"/>
              </a:ext>
            </a:extLst>
          </p:cNvPr>
          <p:cNvSpPr>
            <a:spLocks noGrp="1"/>
          </p:cNvSpPr>
          <p:nvPr>
            <p:ph idx="1"/>
          </p:nvPr>
        </p:nvSpPr>
        <p:spPr>
          <a:xfrm>
            <a:off x="609599" y="1587047"/>
            <a:ext cx="5370287" cy="3304267"/>
          </a:xfrm>
        </p:spPr>
        <p:txBody>
          <a:bodyPr/>
          <a:lstStyle/>
          <a:p>
            <a:r>
              <a:rPr lang="en-US" sz="2400">
                <a:latin typeface="+mn-lt"/>
              </a:rPr>
              <a:t>Data-Informed Encoding</a:t>
            </a:r>
          </a:p>
          <a:p>
            <a:pPr lvl="1"/>
            <a:r>
              <a:rPr lang="en-US" sz="2000">
                <a:latin typeface="+mn-lt"/>
              </a:rPr>
              <a:t>Match encoding schemes to dataset structure (e.g., X–ZZ rotations for correlated data).</a:t>
            </a:r>
          </a:p>
          <a:p>
            <a:r>
              <a:rPr lang="en-US" sz="2400">
                <a:latin typeface="+mn-lt"/>
              </a:rPr>
              <a:t>Structured Correlation Extraction</a:t>
            </a:r>
          </a:p>
          <a:p>
            <a:pPr lvl="1"/>
            <a:r>
              <a:rPr lang="en-US" sz="2000">
                <a:latin typeface="+mn-lt"/>
              </a:rPr>
              <a:t>Add higher-order gates (e.g., Toffoli) to model nonlinear dependencies.</a:t>
            </a:r>
          </a:p>
          <a:p>
            <a:pPr lvl="1"/>
            <a:r>
              <a:rPr lang="en-US" sz="2000">
                <a:latin typeface="+mn-lt"/>
              </a:rPr>
              <a:t>Enables problem-tailored yet reusable PQCs across application domains.</a:t>
            </a:r>
          </a:p>
        </p:txBody>
      </p:sp>
      <p:sp>
        <p:nvSpPr>
          <p:cNvPr id="5" name="TextBox 4">
            <a:extLst>
              <a:ext uri="{FF2B5EF4-FFF2-40B4-BE49-F238E27FC236}">
                <a16:creationId xmlns:a16="http://schemas.microsoft.com/office/drawing/2014/main" id="{90B37C9C-A2AF-0A08-0E17-052E855B1A46}"/>
              </a:ext>
            </a:extLst>
          </p:cNvPr>
          <p:cNvSpPr txBox="1"/>
          <p:nvPr/>
        </p:nvSpPr>
        <p:spPr>
          <a:xfrm>
            <a:off x="609600" y="1013419"/>
            <a:ext cx="6096000" cy="523220"/>
          </a:xfrm>
          <a:prstGeom prst="rect">
            <a:avLst/>
          </a:prstGeom>
          <a:noFill/>
        </p:spPr>
        <p:txBody>
          <a:bodyPr wrap="square">
            <a:spAutoFit/>
          </a:bodyPr>
          <a:lstStyle/>
          <a:p>
            <a:r>
              <a:rPr lang="en-US" sz="2800"/>
              <a:t>QNN Design</a:t>
            </a:r>
          </a:p>
        </p:txBody>
      </p:sp>
      <p:sp>
        <p:nvSpPr>
          <p:cNvPr id="7" name="TextBox 6">
            <a:extLst>
              <a:ext uri="{FF2B5EF4-FFF2-40B4-BE49-F238E27FC236}">
                <a16:creationId xmlns:a16="http://schemas.microsoft.com/office/drawing/2014/main" id="{CCE04FFE-A6C5-8B15-0FE9-F5BF640C4A31}"/>
              </a:ext>
            </a:extLst>
          </p:cNvPr>
          <p:cNvSpPr txBox="1"/>
          <p:nvPr/>
        </p:nvSpPr>
        <p:spPr>
          <a:xfrm>
            <a:off x="6096000" y="1038623"/>
            <a:ext cx="4252686" cy="523220"/>
          </a:xfrm>
          <a:prstGeom prst="rect">
            <a:avLst/>
          </a:prstGeom>
          <a:noFill/>
        </p:spPr>
        <p:txBody>
          <a:bodyPr wrap="square">
            <a:spAutoFit/>
          </a:bodyPr>
          <a:lstStyle/>
          <a:p>
            <a:r>
              <a:rPr lang="en-US" sz="2800"/>
              <a:t>Research Contributions</a:t>
            </a:r>
          </a:p>
        </p:txBody>
      </p:sp>
      <p:sp>
        <p:nvSpPr>
          <p:cNvPr id="8" name="Content Placeholder 2">
            <a:extLst>
              <a:ext uri="{FF2B5EF4-FFF2-40B4-BE49-F238E27FC236}">
                <a16:creationId xmlns:a16="http://schemas.microsoft.com/office/drawing/2014/main" id="{88A566A6-3B4B-97EB-3E93-CE1C8B622E16}"/>
              </a:ext>
            </a:extLst>
          </p:cNvPr>
          <p:cNvSpPr txBox="1">
            <a:spLocks/>
          </p:cNvSpPr>
          <p:nvPr/>
        </p:nvSpPr>
        <p:spPr bwMode="auto">
          <a:xfrm>
            <a:off x="6096000" y="1699010"/>
            <a:ext cx="5776684" cy="28688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rtl="0" fontAlgn="base">
              <a:spcBef>
                <a:spcPct val="20000"/>
              </a:spcBef>
              <a:spcAft>
                <a:spcPct val="0"/>
              </a:spcAft>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rtl="0" fontAlgn="base">
              <a:spcBef>
                <a:spcPct val="20000"/>
              </a:spcBef>
              <a:spcAft>
                <a:spcPct val="0"/>
              </a:spcAft>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rtl="0" fontAlgn="base">
              <a:spcBef>
                <a:spcPct val="20000"/>
              </a:spcBef>
              <a:spcAft>
                <a:spcPct val="0"/>
              </a:spcAft>
              <a:buChar char="–"/>
              <a:defRPr sz="20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rtl="0" fontAlgn="base">
              <a:spcBef>
                <a:spcPct val="20000"/>
              </a:spcBef>
              <a:spcAft>
                <a:spcPct val="0"/>
              </a:spcAft>
              <a:buChar char="»"/>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a:latin typeface="+mn-lt"/>
              </a:rPr>
              <a:t>New quantum algorithms, circuit designs, and system frameworks.</a:t>
            </a:r>
          </a:p>
          <a:p>
            <a:r>
              <a:rPr lang="en-US" sz="2400">
                <a:latin typeface="+mn-lt"/>
              </a:rPr>
              <a:t>Applied to:</a:t>
            </a:r>
          </a:p>
          <a:p>
            <a:pPr lvl="1"/>
            <a:r>
              <a:rPr lang="en-US" sz="2000">
                <a:latin typeface="+mn-lt"/>
              </a:rPr>
              <a:t>PV Fault Detection</a:t>
            </a:r>
          </a:p>
          <a:p>
            <a:pPr lvl="1"/>
            <a:r>
              <a:rPr lang="en-US" sz="2000">
                <a:latin typeface="+mn-lt"/>
              </a:rPr>
              <a:t>Audio Processing</a:t>
            </a:r>
          </a:p>
          <a:p>
            <a:pPr lvl="1"/>
            <a:r>
              <a:rPr lang="en-US" sz="2000">
                <a:latin typeface="+mn-lt"/>
              </a:rPr>
              <a:t>Image Analysis</a:t>
            </a:r>
          </a:p>
          <a:p>
            <a:pPr lvl="1"/>
            <a:r>
              <a:rPr lang="en-US" sz="2000">
                <a:latin typeface="+mn-lt"/>
              </a:rPr>
              <a:t>Secure Distributed Learning</a:t>
            </a:r>
          </a:p>
        </p:txBody>
      </p:sp>
      <p:sp>
        <p:nvSpPr>
          <p:cNvPr id="11" name="TextBox 10">
            <a:extLst>
              <a:ext uri="{FF2B5EF4-FFF2-40B4-BE49-F238E27FC236}">
                <a16:creationId xmlns:a16="http://schemas.microsoft.com/office/drawing/2014/main" id="{63CC1F53-98E3-3EF6-A6EB-887A40A06449}"/>
              </a:ext>
            </a:extLst>
          </p:cNvPr>
          <p:cNvSpPr txBox="1"/>
          <p:nvPr/>
        </p:nvSpPr>
        <p:spPr>
          <a:xfrm>
            <a:off x="2220685" y="5288758"/>
            <a:ext cx="8273144" cy="400110"/>
          </a:xfrm>
          <a:prstGeom prst="rect">
            <a:avLst/>
          </a:prstGeom>
          <a:noFill/>
        </p:spPr>
        <p:txBody>
          <a:bodyPr wrap="square">
            <a:spAutoFit/>
          </a:bodyPr>
          <a:lstStyle/>
          <a:p>
            <a:pPr>
              <a:spcAft>
                <a:spcPts val="800"/>
              </a:spcAft>
              <a:defRPr sz="1800"/>
            </a:pPr>
            <a:r>
              <a:rPr lang="en-US" sz="2000"/>
              <a:t>➡️ Data-Informed Encoding → Structured Ansatz → QML Framework</a:t>
            </a:r>
          </a:p>
        </p:txBody>
      </p:sp>
    </p:spTree>
    <p:extLst>
      <p:ext uri="{BB962C8B-B14F-4D97-AF65-F5344CB8AC3E}">
        <p14:creationId xmlns:p14="http://schemas.microsoft.com/office/powerpoint/2010/main" val="2633801876"/>
      </p:ext>
    </p:extLst>
  </p:cSld>
  <p:clrMapOvr>
    <a:masterClrMapping/>
  </p:clrMapOvr>
</p:sld>
</file>

<file path=ppt/theme/theme1.xml><?xml version="1.0" encoding="utf-8"?>
<a:theme xmlns:a="http://schemas.openxmlformats.org/drawingml/2006/main" name="1_Office Theme">
  <a:themeElements>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86</TotalTime>
  <Words>3465</Words>
  <Application>Microsoft Office PowerPoint</Application>
  <PresentationFormat>Widescreen</PresentationFormat>
  <Paragraphs>554</Paragraphs>
  <Slides>22</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 Narrow</vt:lpstr>
      <vt:lpstr>Arial</vt:lpstr>
      <vt:lpstr>Calibri</vt:lpstr>
      <vt:lpstr>Cambria Math</vt:lpstr>
      <vt:lpstr>Times New Roman</vt:lpstr>
      <vt:lpstr>1_Office Theme</vt:lpstr>
      <vt:lpstr>QML: Harnessing Entanglement for PV Fault Detection</vt:lpstr>
      <vt:lpstr>1. Introduction</vt:lpstr>
      <vt:lpstr>3. Quantum Algorithms for PV Fault Detection</vt:lpstr>
      <vt:lpstr>PV Monitoring and Fault Detection</vt:lpstr>
      <vt:lpstr>Enhanced Quantum ML for PV Fault Detection</vt:lpstr>
      <vt:lpstr>The Feature Maps we considered</vt:lpstr>
      <vt:lpstr>Binary Classification: Testing Results</vt:lpstr>
      <vt:lpstr>Binary Classification: Testing Results</vt:lpstr>
      <vt:lpstr>Testing Results</vt:lpstr>
      <vt:lpstr>Binary Classification: Testing Results</vt:lpstr>
      <vt:lpstr>Binary Classification: Testing Results</vt:lpstr>
      <vt:lpstr>Constructing Feature Maps</vt:lpstr>
      <vt:lpstr>Ansatz Baseline</vt:lpstr>
      <vt:lpstr>Building our Ansatz</vt:lpstr>
      <vt:lpstr>Optimizing our Ansatz</vt:lpstr>
      <vt:lpstr>Building our Observables</vt:lpstr>
      <vt:lpstr>Testing Modules</vt:lpstr>
      <vt:lpstr>Testing Results</vt:lpstr>
      <vt:lpstr>4. Conclusion for PV Fault Detection</vt:lpstr>
      <vt:lpstr>5. Broader Impact : Other Applications of  QML </vt:lpstr>
      <vt:lpstr>Findings</vt:lpstr>
      <vt:lpstr>6.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Glen Uehara (Student)</dc:creator>
  <cp:lastModifiedBy>Glen Uehara</cp:lastModifiedBy>
  <cp:revision>2</cp:revision>
  <dcterms:created xsi:type="dcterms:W3CDTF">2021-06-23T20:41:41Z</dcterms:created>
  <dcterms:modified xsi:type="dcterms:W3CDTF">2026-06-14T23:35:03Z</dcterms:modified>
</cp:coreProperties>
</file>