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1" r:id="rId1"/>
  </p:sldMasterIdLst>
  <p:notesMasterIdLst>
    <p:notesMasterId r:id="rId52"/>
  </p:notesMasterIdLst>
  <p:handoutMasterIdLst>
    <p:handoutMasterId r:id="rId53"/>
  </p:handoutMasterIdLst>
  <p:sldIdLst>
    <p:sldId id="484" r:id="rId2"/>
    <p:sldId id="662" r:id="rId3"/>
    <p:sldId id="664" r:id="rId4"/>
    <p:sldId id="663" r:id="rId5"/>
    <p:sldId id="665" r:id="rId6"/>
    <p:sldId id="666" r:id="rId7"/>
    <p:sldId id="667" r:id="rId8"/>
    <p:sldId id="668" r:id="rId9"/>
    <p:sldId id="669" r:id="rId10"/>
    <p:sldId id="670" r:id="rId11"/>
    <p:sldId id="671" r:id="rId12"/>
    <p:sldId id="673" r:id="rId13"/>
    <p:sldId id="672" r:id="rId14"/>
    <p:sldId id="674" r:id="rId15"/>
    <p:sldId id="675" r:id="rId16"/>
    <p:sldId id="676" r:id="rId17"/>
    <p:sldId id="677" r:id="rId18"/>
    <p:sldId id="678" r:id="rId19"/>
    <p:sldId id="679" r:id="rId20"/>
    <p:sldId id="680" r:id="rId21"/>
    <p:sldId id="681" r:id="rId22"/>
    <p:sldId id="682" r:id="rId23"/>
    <p:sldId id="683" r:id="rId24"/>
    <p:sldId id="684" r:id="rId25"/>
    <p:sldId id="685" r:id="rId26"/>
    <p:sldId id="687" r:id="rId27"/>
    <p:sldId id="686" r:id="rId28"/>
    <p:sldId id="688" r:id="rId29"/>
    <p:sldId id="689" r:id="rId30"/>
    <p:sldId id="690" r:id="rId31"/>
    <p:sldId id="691" r:id="rId32"/>
    <p:sldId id="692" r:id="rId33"/>
    <p:sldId id="693" r:id="rId34"/>
    <p:sldId id="694" r:id="rId35"/>
    <p:sldId id="695" r:id="rId36"/>
    <p:sldId id="696" r:id="rId37"/>
    <p:sldId id="697" r:id="rId38"/>
    <p:sldId id="698" r:id="rId39"/>
    <p:sldId id="699" r:id="rId40"/>
    <p:sldId id="700" r:id="rId41"/>
    <p:sldId id="701" r:id="rId42"/>
    <p:sldId id="702" r:id="rId43"/>
    <p:sldId id="703" r:id="rId44"/>
    <p:sldId id="704" r:id="rId45"/>
    <p:sldId id="705" r:id="rId46"/>
    <p:sldId id="706" r:id="rId47"/>
    <p:sldId id="707" r:id="rId48"/>
    <p:sldId id="708" r:id="rId49"/>
    <p:sldId id="709" r:id="rId50"/>
    <p:sldId id="710" r:id="rId51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8FB9BB-220C-4C4E-A27D-78C35B2FAAE4}" v="15" dt="2026-06-14T23:34:47.3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17" d="100"/>
          <a:sy n="117" d="100"/>
        </p:scale>
        <p:origin x="636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8" Type="http://schemas.microsoft.com/office/2015/10/relationships/revisionInfo" Target="revisionInfo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D77547A-0736-4AFB-8532-884A34C184F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BF5A96-9DA1-4429-9640-3540B1BB66B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12C04F-A83D-4FEB-BC3F-C805297E68CF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F86641-AB14-4B6F-A04D-33CF151C0E0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F993E0-5E89-4752-9B67-259CE18FAE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446D05-4350-4DF4-AA87-62A7CD433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4121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9C6B63-309E-4208-9019-BE71AB49D2B5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DC8717-AFBB-478A-9104-53E9096002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826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 have a BS and MSE in Electrical Engineering, from University of Hawaii and Arizona State University, respectively. Since my first degree, I have been working as a communication and signal processing engineering in both commercial and defense industry. In the recent years, I have also earned several certifications in cyber security and have applied these techniques to my programs. With these backgrounds, I’ve been working with ASU Tempe, Poly, </a:t>
            </a:r>
            <a:r>
              <a:rPr lang="en-US" sz="120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UofA</a:t>
            </a:r>
            <a:r>
              <a:rPr lang="en-US" sz="12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and NAU on various capstones related to these fields.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As I continue mentoring students, I decided to return and earn a Ph.D. Currently, as a Ph.D. student in the School of Electrical, Computer and Energy Engineering at ASU, I am specializing in Quantum Information Algorithms specifically for Signal &amp; Information Processing w/ emphasis Machine Learning techniques. I am also working in the Quantum Laboratory at General Dynamics as a Quantum Algorithm Researcher. I am hoping to explore new techniques and methods in Quantum Algorithms to grow this knowledge for both ASU and GD.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C8717-AFBB-478A-9104-53E909600208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3390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C8717-AFBB-478A-9104-53E909600208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3613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F1CFE554-CDC1-4383-AC12-7F38CC1BDED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E3524EC0-5945-42D5-8350-02FDF77A516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09596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B17CE-538A-4519-B603-5BB63894E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2944"/>
            <a:ext cx="10972800" cy="914400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D2459-4952-4430-B22C-9AA8B3CDB4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91F9B0-E4B0-4082-BA01-4A2433130BA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368800" y="6245225"/>
            <a:ext cx="5392145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9FDCE369-CE34-4554-8CA9-B159804E9F44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6901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D014F-F4AF-4B31-B5A4-421D5673A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3A378-26F4-484B-B577-67072B86F3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9782AF-FBE4-483D-B1EE-1179FBE67D0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368800" y="6245225"/>
            <a:ext cx="5392145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59EB4A9-368D-4D0B-A311-713AE5377A31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8786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B61A1-FAE1-4619-B13A-4559B1B16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7E8EC-E47D-428E-8A60-700BF6F521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2286000"/>
            <a:ext cx="5384800" cy="3733800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A74A13-7570-4A49-B7B8-90EEEC9581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2286000"/>
            <a:ext cx="5384800" cy="3733800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E6658F-E142-4838-9AB0-8F69D7A938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368800" y="6245225"/>
            <a:ext cx="5392145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1697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DC78D-FEF6-410D-92A3-6BA2C30DD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FAAED0-CF57-486C-8AE8-4C582F705F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AD87FF-9F78-49B4-AD87-4E2BA32399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9C8B26-1103-441B-9FD9-D5925BA7F6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ED759B-85AE-4F41-8A22-7FADDAE2E2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29880BC-3847-4169-BBE9-DD88FE60F34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368800" y="6245225"/>
            <a:ext cx="5392145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31994EE5-E66D-4D7E-B616-A038BAA2E1A5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B252A6-88CA-4946-9379-AD01EBF97000}"/>
              </a:ext>
            </a:extLst>
          </p:cNvPr>
          <p:cNvSpPr txBox="1"/>
          <p:nvPr userDrawn="1"/>
        </p:nvSpPr>
        <p:spPr>
          <a:xfrm>
            <a:off x="11579469" y="6352143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3CCE9E80-CB49-4B8C-B4F8-5238CB8DE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86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A8975-F5F8-45FD-9161-B037BFFD2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EBC1CD-A167-4063-8DAF-1295DCBB1BE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368800" y="6245225"/>
            <a:ext cx="5392145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7A65FFD2-C858-480C-907B-635158DAF475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3208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D7BB3AB-02E5-4B99-ADF4-49720343520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368800" y="6245225"/>
            <a:ext cx="5392145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9AFE202E-0A05-47E0-8710-697494CCFF7B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84800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A4D6A-4E4B-40B2-8C38-E7C6DB88C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1043138" cy="93662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ACC3C-7739-4502-B006-034D361B45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FECA6D-224E-48B3-B8D4-719B4754FB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995363"/>
            <a:ext cx="3932767" cy="48736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74B62-4AC5-4DD0-8A3E-002318326DB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368800" y="6245225"/>
            <a:ext cx="5392145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5173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CBFB0-3EE6-43AD-AF26-B76D22A86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355917" cy="89681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C1517E-3426-45BC-8D79-F3F65F544B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DFD33B-FE5E-4BED-A53C-BBBBE496BA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987426"/>
            <a:ext cx="3932767" cy="488156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750E0C-5A91-45CB-A8C7-2B75292F526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368800" y="6245225"/>
            <a:ext cx="5392145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C33A072-2890-424E-B188-9EEB804EE0C8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4372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5034F-A26C-40B9-85BC-A5DE849F6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E993C9-649F-444E-A041-D6A376CFC6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F38C34-A41C-477E-A65F-E8C1DC6C615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368800" y="6245225"/>
            <a:ext cx="5392145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7019A8AA-6627-4313-BB90-54794FCD17C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89005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DFBD60-DC41-43AC-B83C-C03057B6C9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13800" y="1219200"/>
            <a:ext cx="27686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E78A1D-7421-4D19-BB9C-FFD8D54FB5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8000" y="1219200"/>
            <a:ext cx="8102600" cy="4800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776981-F478-4709-AF0B-876ED162E86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368800" y="6245225"/>
            <a:ext cx="5392145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F184C9B6-BDFD-4AA0-8AB0-0996ED053BE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353464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38200" y="1825626"/>
            <a:ext cx="10515600" cy="39433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838200" y="1106196"/>
            <a:ext cx="10515600" cy="385325"/>
          </a:xfrm>
        </p:spPr>
        <p:txBody>
          <a:bodyPr>
            <a:normAutofit/>
          </a:bodyPr>
          <a:lstStyle>
            <a:lvl1pPr marL="0" indent="0">
              <a:buNone/>
              <a:defRPr sz="2400" b="1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25"/>
          <p:cNvSpPr>
            <a:spLocks noGrp="1"/>
          </p:cNvSpPr>
          <p:nvPr>
            <p:ph type="sldNum" sz="quarter" idx="18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2049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6"/>
            <a:ext cx="5181600" cy="3792751"/>
          </a:xfrm>
        </p:spPr>
        <p:txBody>
          <a:bodyPr/>
          <a:lstStyle>
            <a:lvl1pPr marL="0" indent="0">
              <a:buNone/>
              <a:defRPr sz="1200" i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838200" y="1825625"/>
            <a:ext cx="5181600" cy="37925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838200" y="1106196"/>
            <a:ext cx="10515600" cy="385325"/>
          </a:xfrm>
        </p:spPr>
        <p:txBody>
          <a:bodyPr>
            <a:normAutofit/>
          </a:bodyPr>
          <a:lstStyle>
            <a:lvl1pPr marL="0" indent="0">
              <a:buNone/>
              <a:defRPr sz="2400" b="1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25"/>
          <p:cNvSpPr>
            <a:spLocks noGrp="1"/>
          </p:cNvSpPr>
          <p:nvPr>
            <p:ph type="sldNum" sz="quarter" idx="18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889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838200" y="1825625"/>
            <a:ext cx="5181600" cy="37925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3"/>
          <p:cNvSpPr>
            <a:spLocks noGrp="1"/>
          </p:cNvSpPr>
          <p:nvPr>
            <p:ph type="body" sz="quarter" idx="14"/>
          </p:nvPr>
        </p:nvSpPr>
        <p:spPr>
          <a:xfrm>
            <a:off x="6172200" y="1825625"/>
            <a:ext cx="5181600" cy="37925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838200" y="1106196"/>
            <a:ext cx="10515600" cy="385325"/>
          </a:xfrm>
        </p:spPr>
        <p:txBody>
          <a:bodyPr>
            <a:normAutofit/>
          </a:bodyPr>
          <a:lstStyle>
            <a:lvl1pPr marL="0" indent="0">
              <a:buNone/>
              <a:defRPr sz="2400" b="1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9CE8D62-992C-DB48-BC38-78BBF602B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C54675-F95D-8F4F-B0A4-C26386E3BBBB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4368800" y="6245225"/>
            <a:ext cx="5392145" cy="476250"/>
          </a:xfrm>
          <a:prstGeom prst="rect">
            <a:avLst/>
          </a:prstGeom>
        </p:spPr>
        <p:txBody>
          <a:bodyPr/>
          <a:lstStyle/>
          <a:p>
            <a:fld id="{6C2307A7-3981-4574-9E5E-34826BCFBE4D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2517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6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647F6C-1C46-4022-B9D2-F94B6BE86B94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0" y="5743575"/>
            <a:ext cx="4053254" cy="1114425"/>
          </a:xfrm>
          <a:prstGeom prst="rect">
            <a:avLst/>
          </a:prstGeom>
        </p:spPr>
      </p:pic>
      <p:sp>
        <p:nvSpPr>
          <p:cNvPr id="1026" name="Rectangle 2">
            <a:extLst>
              <a:ext uri="{FF2B5EF4-FFF2-40B4-BE49-F238E27FC236}">
                <a16:creationId xmlns:a16="http://schemas.microsoft.com/office/drawing/2014/main" id="{D0B2CA20-03AE-4F1C-93E5-3DADB9CDB4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-4152"/>
            <a:ext cx="109728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64500D1-2C09-478A-A0C6-DBD1524CF4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382751"/>
            <a:ext cx="10972800" cy="46370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331897C-17D8-49F0-9047-B32A88EB0E2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08587"/>
            <a:ext cx="2563258" cy="849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359C33D9-817D-4009-BC76-468B4EC78B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68800" y="6245225"/>
            <a:ext cx="5392145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137FAC-685C-4C71-AC4A-7E2898E572B5}"/>
              </a:ext>
            </a:extLst>
          </p:cNvPr>
          <p:cNvSpPr txBox="1"/>
          <p:nvPr userDrawn="1"/>
        </p:nvSpPr>
        <p:spPr>
          <a:xfrm>
            <a:off x="11579469" y="6352143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3CCE9E80-CB49-4B8C-B4F8-5238CB8DE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306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2" r:id="rId1"/>
    <p:sldLayoutId id="2147483783" r:id="rId2"/>
    <p:sldLayoutId id="2147483784" r:id="rId3"/>
    <p:sldLayoutId id="2147483785" r:id="rId4"/>
    <p:sldLayoutId id="2147483786" r:id="rId5"/>
    <p:sldLayoutId id="2147483787" r:id="rId6"/>
    <p:sldLayoutId id="2147483788" r:id="rId7"/>
    <p:sldLayoutId id="2147483789" r:id="rId8"/>
    <p:sldLayoutId id="2147483790" r:id="rId9"/>
    <p:sldLayoutId id="2147483791" r:id="rId10"/>
    <p:sldLayoutId id="2147483792" r:id="rId11"/>
    <p:sldLayoutId id="2147483793" r:id="rId12"/>
    <p:sldLayoutId id="2147483794" r:id="rId13"/>
    <p:sldLayoutId id="2147483795" r:id="rId14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hyperlink" Target="mailto:guehara@asu.edu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30243-5C9F-4672-945B-C91A86572C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Quantum Machine Learning Frameworks 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8B303C-C7EE-43F6-B24E-750634B8A3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1800" dirty="0"/>
              <a:t>Glen S Uehara, PhD</a:t>
            </a:r>
            <a:endParaRPr lang="en-US" sz="2400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EC4F51-DE89-BED6-9DCD-EAF5736329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250" y="5924549"/>
            <a:ext cx="1578239" cy="84830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78755CB-2D72-452D-276E-DBD7468D9E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9927" y="5958120"/>
            <a:ext cx="2534004" cy="781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032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18815-F930-4373-3BBC-C605BD725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 &amp;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47777-F43B-357E-FC43-5285D78839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82751"/>
            <a:ext cx="7326086" cy="4637049"/>
          </a:xfrm>
        </p:spPr>
        <p:txBody>
          <a:bodyPr/>
          <a:lstStyle/>
          <a:p>
            <a:r>
              <a:rPr lang="en-US" sz="2800" dirty="0"/>
              <a:t>We will go through mathematical and structural framework spanning four key areas of contemporary quantum translation:</a:t>
            </a:r>
          </a:p>
          <a:p>
            <a:pPr lvl="1"/>
            <a:r>
              <a:rPr lang="en-US" sz="2400" dirty="0"/>
              <a:t>Multi-Label QML Architectures: High-dimensional sensor parsing for grid infrastructure resilience.</a:t>
            </a:r>
          </a:p>
          <a:p>
            <a:pPr lvl="1"/>
            <a:r>
              <a:rPr lang="en-US" sz="2400" dirty="0"/>
              <a:t>Hardware-Aware NISQ Dynamics: Counteracting physical parasitic cross-talk via pulse optimization.</a:t>
            </a:r>
          </a:p>
          <a:p>
            <a:pPr lvl="1"/>
            <a:r>
              <a:rPr lang="en-US" sz="2400" dirty="0"/>
              <a:t>Generative Many-Body States: Utilizing QCBMs for distribution modeling without barren plateaus.</a:t>
            </a:r>
          </a:p>
          <a:p>
            <a:pPr lvl="1"/>
            <a:r>
              <a:rPr lang="en-US" sz="2400" dirty="0"/>
              <a:t>Sub-SQL Quantum Sensing: Breaking standard limits to extract LPD signals below thermal noise.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7ECC00-9196-5945-BA75-8A9D75332A04}"/>
              </a:ext>
            </a:extLst>
          </p:cNvPr>
          <p:cNvSpPr txBox="1"/>
          <p:nvPr/>
        </p:nvSpPr>
        <p:spPr>
          <a:xfrm>
            <a:off x="7935686" y="293609"/>
            <a:ext cx="4082143" cy="2905924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en-US" b="1" i="0" dirty="0">
                <a:effectLst/>
                <a:latin typeface="Merriweather" panose="00000500000000000000" pitchFamily="2" charset="0"/>
              </a:rPr>
              <a:t>Primary Objectives</a:t>
            </a:r>
          </a:p>
          <a:p>
            <a:pPr algn="l">
              <a:spcAft>
                <a:spcPts val="750"/>
              </a:spcAft>
              <a:buNone/>
            </a:pPr>
            <a:r>
              <a:rPr lang="en-US" b="0" i="0" dirty="0">
                <a:effectLst/>
                <a:latin typeface="DM Sans" pitchFamily="2" charset="0"/>
              </a:rPr>
              <a:t>• Transcend classical processing limits in high-dimensional datasets.</a:t>
            </a:r>
          </a:p>
          <a:p>
            <a:pPr algn="l">
              <a:spcAft>
                <a:spcPts val="750"/>
              </a:spcAft>
              <a:buNone/>
            </a:pPr>
            <a:r>
              <a:rPr lang="en-US" b="0" i="0" dirty="0">
                <a:effectLst/>
                <a:latin typeface="DM Sans" pitchFamily="2" charset="0"/>
              </a:rPr>
              <a:t>• Code directly to the physical metal via pulse control platforms (JAX / Amazon </a:t>
            </a:r>
            <a:r>
              <a:rPr lang="en-US" b="0" i="0" dirty="0" err="1">
                <a:effectLst/>
                <a:latin typeface="DM Sans" pitchFamily="2" charset="0"/>
              </a:rPr>
              <a:t>Braket</a:t>
            </a:r>
            <a:r>
              <a:rPr lang="en-US" b="0" i="0" dirty="0">
                <a:effectLst/>
                <a:latin typeface="DM Sans" pitchFamily="2" charset="0"/>
              </a:rPr>
              <a:t>).</a:t>
            </a:r>
          </a:p>
          <a:p>
            <a:pPr algn="l">
              <a:buNone/>
            </a:pPr>
            <a:r>
              <a:rPr lang="en-US" b="0" i="0" dirty="0">
                <a:effectLst/>
                <a:latin typeface="DM Sans" pitchFamily="2" charset="0"/>
              </a:rPr>
              <a:t>• Bridge academic framework validation with scalable industrial deployment.</a:t>
            </a:r>
          </a:p>
        </p:txBody>
      </p:sp>
    </p:spTree>
    <p:extLst>
      <p:ext uri="{BB962C8B-B14F-4D97-AF65-F5344CB8AC3E}">
        <p14:creationId xmlns:p14="http://schemas.microsoft.com/office/powerpoint/2010/main" val="4126765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69FF4-228F-1ADD-CE2C-999163458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Photovoltaic Anomaly Extraction &amp; Multi-Label QML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6E8C39-C90E-4471-7935-D2A1D3EFDD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915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D244B-42E5-7CD5-E8C0-4BBF2A395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High-Dimensional Cyber-Physical Topology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E86465-F6B4-1D66-862A-464BD51300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382751"/>
                <a:ext cx="10972800" cy="4637049"/>
              </a:xfrm>
            </p:spPr>
            <p:txBody>
              <a:bodyPr/>
              <a:lstStyle/>
              <a:p>
                <a:r>
                  <a:rPr lang="en-US" sz="2800" b="1" dirty="0"/>
                  <a:t>The Renewable Energy Vulnerability</a:t>
                </a:r>
              </a:p>
              <a:p>
                <a:r>
                  <a:rPr lang="en-US" sz="2800" dirty="0"/>
                  <a:t>Modern commercial Photovoltaic (PV) installations yield mass arrays of stream data vectoring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𝑚𝑝</m:t>
                        </m:r>
                      </m:sub>
                    </m:sSub>
                  </m:oMath>
                </a14:m>
                <a:r>
                  <a:rPr lang="en-US" sz="2800" dirty="0"/>
                  <a:t> , 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𝑚𝑝</m:t>
                        </m:r>
                      </m:sub>
                    </m:sSub>
                  </m:oMath>
                </a14:m>
                <a:r>
                  <a:rPr lang="en-US" sz="2800" dirty="0"/>
                  <a:t>, local solar irradiance, and discrete spatial temperature readings. Identifying distributed degradation or complex line-to-line faults is deeply challenging classically due to continuous environmental fluctuations.</a:t>
                </a:r>
              </a:p>
              <a:p>
                <a:r>
                  <a:rPr lang="en-US" sz="2800" dirty="0"/>
                  <a:t>Classical thresholding systems trigger high false-alarm vectors.</a:t>
                </a:r>
              </a:p>
              <a:p>
                <a:r>
                  <a:rPr lang="en-US" sz="2800" dirty="0"/>
                  <a:t>Support Vector Machines map poorly over compound multi-label faults.</a:t>
                </a:r>
              </a:p>
              <a:p>
                <a:r>
                  <a:rPr lang="en-US" sz="2800" dirty="0"/>
                  <a:t>Quantum architectures provide alternative mathematical mappings.</a:t>
                </a:r>
              </a:p>
              <a:p>
                <a:pPr marL="0" indent="0">
                  <a:buNone/>
                </a:pPr>
                <a:endParaRPr lang="en-US" sz="36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E86465-F6B4-1D66-862A-464BD51300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382751"/>
                <a:ext cx="10972800" cy="4637049"/>
              </a:xfrm>
              <a:blipFill>
                <a:blip r:embed="rId2"/>
                <a:stretch>
                  <a:fillRect l="-1000" t="-1445" r="-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9514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425F1-C230-FEE7-6EF7-B99D99D6D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 Mapping into Hilbert Space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277DB5-C890-4BFF-05DC-8690DEE947F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800" dirty="0"/>
                  <a:t>To analyze high-dimensional features, classical inputs are mapped into an exponentially scaled complex vector space where non-separable conditions converge cleanly into linear structures.</a:t>
                </a:r>
                <a:endParaRPr lang="en-US" sz="2800" i="1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𝜓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</m:d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𝒰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 panose="02040503050406030204" pitchFamily="18" charset="0"/>
                            </a:rPr>
                            <m:t>Φ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⊗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  <a:p>
                <a:r>
                  <a:rPr lang="en-US" sz="2800" dirty="0"/>
                  <a:t>The vector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2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represents raw sensor telemetry normalized over a compact interval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r>
                  <a:rPr lang="en-US" sz="2800" dirty="0"/>
                  <a:t>. The unitary operation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𝒰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800" i="0">
                            <a:latin typeface="Cambria Math" panose="02040503050406030204" pitchFamily="18" charset="0"/>
                          </a:rPr>
                          <m:t>Φ</m:t>
                        </m:r>
                      </m:sub>
                    </m:sSub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</m:oMath>
                </a14:m>
                <a:r>
                  <a:rPr lang="en-US" sz="2800" dirty="0"/>
                  <a:t> creates state injections leveraging multi-qubit degrees of freedom.</a:t>
                </a:r>
              </a:p>
              <a:p>
                <a:r>
                  <a:rPr lang="en-US" sz="2800" dirty="0"/>
                  <a:t>By mapping patterns into density matrices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⟩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</m:d>
                      </m:e>
                    </m:d>
                    <m:d>
                      <m:dPr>
                        <m:begChr m:val="⟨"/>
                        <m:endChr m:val="|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</m:d>
                      </m:e>
                    </m:d>
                  </m:oMath>
                </a14:m>
                <a:r>
                  <a:rPr lang="en-US" sz="2800" dirty="0"/>
                  <a:t>, we construct quantum kernel that evaluate overlap conditions far beyond traditional radial basis functions.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277DB5-C890-4BFF-05DC-8690DEE947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445" r="-833" b="-3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3880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BF2BE-1C4B-3095-2ECB-9629B83E5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Quantum Feature Maps: ZRZ Phase Encoding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A78BD0-2560-7A48-635C-FE67B923DD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400" dirty="0"/>
                  <a:t>The simplest configuration operates as a zero-coupling phase shift across a parallel bank of qubits. Features are directly assigned as phase angles.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𝒰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 panose="02040503050406030204" pitchFamily="18" charset="0"/>
                            </a:rPr>
                            <m:t>Φ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⨂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  <a:p>
                <a:r>
                  <a:rPr lang="en-US" sz="2400" b="1" dirty="0"/>
                  <a:t>Physical Analogy</a:t>
                </a:r>
              </a:p>
              <a:p>
                <a:r>
                  <a:rPr lang="en-US" sz="2400" dirty="0"/>
                  <a:t>This mimics an array of decoupled spins acting in isolation within a external uniform magnetic grid where the coupling strength matrix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r>
                  <a:rPr lang="en-US" sz="2400" dirty="0"/>
                  <a:t>Because no multi-qubit entanglement layers are constructed, this mapping cannot track physical cross-correlations between distinct sensor clusters. It functions purely as an unentangled coordinate rotation.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A78BD0-2560-7A48-635C-FE67B923DD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2" t="-1051" r="-8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51159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2405A-2784-50B9-A9D7-E19B45EA5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Quantum Feature Maps: ZZ Entangling Interaction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A4A4E3-7FAD-85ED-BD8D-B98226A538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400" dirty="0"/>
                  <a:t>To address correlation deficits, the ZZ feature map injects explicitly designated pairwise relationships across overlapping registers.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𝒰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 panose="02040503050406030204" pitchFamily="18" charset="0"/>
                            </a:rPr>
                            <m:t>Φ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</m:e>
                      </m:func>
                      <m:nary>
                        <m:naryPr>
                          <m:chr m:val="⨂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  <a:p>
                <a:r>
                  <a:rPr lang="en-US" sz="2400" b="1" dirty="0"/>
                  <a:t>Ising Model Correlation Link</a:t>
                </a:r>
              </a:p>
              <a:p>
                <a:pPr lvl="1"/>
                <a:r>
                  <a:rPr lang="en-US" sz="2000" dirty="0"/>
                  <a:t>This architecture operates as a structural equivalent to a classical Ising spin glass, where the coupling variables map directly to multi-sensor products: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b="1" dirty="0"/>
                  <a:t>.</a:t>
                </a:r>
              </a:p>
              <a:p>
                <a:pPr lvl="1"/>
                <a:endParaRPr lang="en-US" sz="2000" b="1" dirty="0"/>
              </a:p>
              <a:p>
                <a:r>
                  <a:rPr lang="en-US" sz="2400" b="1" dirty="0"/>
                  <a:t>Processing Advantage</a:t>
                </a:r>
              </a:p>
              <a:p>
                <a:pPr lvl="1"/>
                <a:r>
                  <a:rPr lang="en-US" sz="2000" dirty="0"/>
                  <a:t>By forcing adjacent qubits to execute conditional phase changes based on joint parameter weights, spatial tracking of grid anomalies becomes structurally native to the compiler state.</a:t>
                </a:r>
              </a:p>
              <a:p>
                <a:endParaRPr lang="en-US" sz="2400" dirty="0"/>
              </a:p>
              <a:p>
                <a:endParaRPr lang="en-US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A4A4E3-7FAD-85ED-BD8D-B98226A538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2" t="-1051" r="-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06200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DE57B-FC69-A219-2234-7EEE3A512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Quantum Feature Maps: X-ZZ Transverse-Field Maps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696F42-3229-961E-2B93-364DF05B12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800" dirty="0"/>
                  <a:t>By shifting to non-commuting bases, the feature map generates complex quantum fluctuations that complicate classical emulation efforts.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𝒰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i="0">
                              <a:latin typeface="Cambria Math" panose="02040503050406030204" pitchFamily="18" charset="0"/>
                            </a:rPr>
                            <m:t>Φ</m:t>
                          </m:r>
                        </m:sub>
                      </m:sSub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subHide m:val="on"/>
                          <m:supHide m:val="o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sup>
                          </m:sSup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p>
                          </m:sSup>
                        </m:e>
                      </m:nary>
                    </m:oMath>
                  </m:oMathPara>
                </a14:m>
                <a:endParaRPr lang="en-US" sz="2800" dirty="0"/>
              </a:p>
              <a:p>
                <a:r>
                  <a:rPr lang="en-US" sz="2800" b="1" dirty="0"/>
                  <a:t>The Fluctuating State Space</a:t>
                </a:r>
              </a:p>
              <a:p>
                <a:r>
                  <a:rPr lang="en-US" sz="2800" dirty="0"/>
                  <a:t>Alternating X-axis tracking with ZZ entangling layers establishes a physical realization of a Transverse-Field Ising Model (TFIM).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696F42-3229-961E-2B93-364DF05B12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445" r="-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70949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D642B1AE-389C-667C-08B3-4C2061955331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838200" y="1825625"/>
                <a:ext cx="3415393" cy="3792539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400" b="1" dirty="0"/>
                  <a:t>Axis Diversification</a:t>
                </a:r>
              </a:p>
              <a:p>
                <a:pPr marL="0" indent="0">
                  <a:buNone/>
                </a:pPr>
                <a:r>
                  <a:rPr lang="en-US" sz="2400" dirty="0"/>
                  <a:t>Iterating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/>
                  <a:t> followed instantly by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/>
                  <a:t> forces input characteristics across both amplitude and phase trajectories uniformly.</a:t>
                </a:r>
              </a:p>
              <a:p>
                <a:endParaRPr lang="en-US" sz="2400" dirty="0"/>
              </a:p>
            </p:txBody>
          </p:sp>
        </mc:Choice>
        <mc:Fallback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D642B1AE-389C-667C-08B3-4C20619553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838200" y="1825625"/>
                <a:ext cx="3415393" cy="3792539"/>
              </a:xfrm>
              <a:blipFill>
                <a:blip r:embed="rId2"/>
                <a:stretch>
                  <a:fillRect l="-2857" t="-11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FF8E40-B413-4A62-4DED-A8790E2F9F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88679" y="1825625"/>
            <a:ext cx="3415393" cy="3792539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/>
              <a:t>Multi-Label Optimization</a:t>
            </a:r>
          </a:p>
          <a:p>
            <a:pPr marL="0" indent="0">
              <a:buNone/>
            </a:pPr>
            <a:r>
              <a:rPr lang="en-US" sz="2400" dirty="0"/>
              <a:t>This mapping layout serves as the foundational interface enabling the extraction of multiple overlapping labels from complex datasets.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9E3114-A78D-D766-603A-6D2817A7048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38200" y="1106195"/>
            <a:ext cx="10515600" cy="796083"/>
          </a:xfrm>
        </p:spPr>
        <p:txBody>
          <a:bodyPr>
            <a:normAutofit/>
          </a:bodyPr>
          <a:lstStyle/>
          <a:p>
            <a:r>
              <a:rPr lang="en-US" sz="2000" b="0" i="0" dirty="0">
                <a:solidFill>
                  <a:schemeClr val="tx1"/>
                </a:solidFill>
              </a:rPr>
              <a:t>The core methodology deployed within our primary dissertation framework uses a multi-axis rotation setup paired with comprehensive connectivity mapping.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8AFEDBE-9715-891D-D514-67131EFDE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Quantum Feature Maps: Z-Y-ZZ Dense Architecture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43F94C3-05B2-D05F-3CA2-9EA3330AD7BF}"/>
              </a:ext>
            </a:extLst>
          </p:cNvPr>
          <p:cNvSpPr txBox="1">
            <a:spLocks/>
          </p:cNvSpPr>
          <p:nvPr/>
        </p:nvSpPr>
        <p:spPr bwMode="auto">
          <a:xfrm>
            <a:off x="3973286" y="1825625"/>
            <a:ext cx="3415393" cy="37925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All-to-All Entanglement</a:t>
            </a:r>
          </a:p>
          <a:p>
            <a:pPr marL="0" indent="0">
              <a:buNone/>
            </a:pPr>
            <a:r>
              <a:rPr lang="en-US" sz="2400" dirty="0"/>
              <a:t>Coupling arrays do not limit entanglers to linear strings; instead, they stretch across all operational registers to encapsulate macro grid interactions.</a:t>
            </a:r>
          </a:p>
        </p:txBody>
      </p:sp>
    </p:spTree>
    <p:extLst>
      <p:ext uri="{BB962C8B-B14F-4D97-AF65-F5344CB8AC3E}">
        <p14:creationId xmlns:p14="http://schemas.microsoft.com/office/powerpoint/2010/main" val="17290902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8BD0D2-DF2A-0650-22AF-9609BCD4E09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0" i="0" dirty="0">
                <a:solidFill>
                  <a:schemeClr val="tx1"/>
                </a:solidFill>
              </a:rPr>
              <a:t>A rigorous breakdown of mathematical footprints across evaluated encoding routines: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807938D-FEEA-0325-E2B2-C9ADEAFF8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Comparative Analysis of Feature Mapping </a:t>
            </a:r>
            <a:r>
              <a:rPr lang="en-US" dirty="0" err="1"/>
              <a:t>unitaries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0863648D-919A-92D5-7F3C-28BEAC05C03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95899176"/>
                  </p:ext>
                </p:extLst>
              </p:nvPr>
            </p:nvGraphicFramePr>
            <p:xfrm>
              <a:off x="609600" y="1529201"/>
              <a:ext cx="10972800" cy="4467116"/>
            </p:xfrm>
            <a:graphic>
              <a:graphicData uri="http://schemas.openxmlformats.org/drawingml/2006/table">
                <a:tbl>
                  <a:tblPr/>
                  <a:tblGrid>
                    <a:gridCol w="2743200">
                      <a:extLst>
                        <a:ext uri="{9D8B030D-6E8A-4147-A177-3AD203B41FA5}">
                          <a16:colId xmlns:a16="http://schemas.microsoft.com/office/drawing/2014/main" val="243136445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3673693073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1818185229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1836304965"/>
                        </a:ext>
                      </a:extLst>
                    </a:gridCol>
                  </a:tblGrid>
                  <a:tr h="811115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600">
                              <a:solidFill>
                                <a:srgbClr val="60A5FA"/>
                              </a:solidFill>
                              <a:effectLst/>
                              <a:latin typeface="Merriweather" panose="00000500000000000000" pitchFamily="2" charset="0"/>
                            </a:rPr>
                            <a:t>Feature Map Paradigm</a:t>
                          </a:r>
                        </a:p>
                      </a:txBody>
                      <a:tcPr marL="170562" marR="170562" marT="132659" marB="132659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F293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600">
                              <a:solidFill>
                                <a:srgbClr val="60A5FA"/>
                              </a:solidFill>
                              <a:effectLst/>
                              <a:latin typeface="Merriweather" panose="00000500000000000000" pitchFamily="2" charset="0"/>
                            </a:rPr>
                            <a:t>Mathematical Form</a:t>
                          </a:r>
                        </a:p>
                      </a:txBody>
                      <a:tcPr marL="170562" marR="170562" marT="132659" marB="132659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F293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600" dirty="0">
                              <a:solidFill>
                                <a:srgbClr val="60A5FA"/>
                              </a:solidFill>
                              <a:effectLst/>
                              <a:latin typeface="Merriweather" panose="00000500000000000000" pitchFamily="2" charset="0"/>
                            </a:rPr>
                            <a:t>Entanglement Metric</a:t>
                          </a:r>
                        </a:p>
                      </a:txBody>
                      <a:tcPr marL="170562" marR="170562" marT="132659" marB="132659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F293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600">
                              <a:solidFill>
                                <a:srgbClr val="60A5FA"/>
                              </a:solidFill>
                              <a:effectLst/>
                              <a:latin typeface="Merriweather" panose="00000500000000000000" pitchFamily="2" charset="0"/>
                            </a:rPr>
                            <a:t>Ising Mapping Analog</a:t>
                          </a:r>
                        </a:p>
                      </a:txBody>
                      <a:tcPr marL="170562" marR="170562" marT="132659" marB="132659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F293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6871340"/>
                      </a:ext>
                    </a:extLst>
                  </a:tr>
                  <a:tr h="811115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1"/>
                              </a:solidFill>
                              <a:effectLst/>
                            </a:rPr>
                            <a:t>ZRZ Phase Encoding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170562" marR="170562" marT="132659" marB="132659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⨂"/>
                                    <m:subHide m:val="on"/>
                                    <m:supHide m:val="on"/>
                                    <m:ctrlPr>
                                      <a:rPr lang="en-US" sz="160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𝑍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16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en-US" sz="1600" dirty="0">
                            <a:effectLst/>
                          </a:endParaRPr>
                        </a:p>
                      </a:txBody>
                      <a:tcPr marL="170562" marR="170562" marT="132659" marB="132659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600">
                              <a:effectLst/>
                            </a:rPr>
                            <a:t>Zero (Product State)</a:t>
                          </a:r>
                        </a:p>
                      </a:txBody>
                      <a:tcPr marL="170562" marR="170562" marT="132659" marB="132659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600">
                              <a:effectLst/>
                            </a:rPr>
                            <a:t>Independent localized external field ($J = 0$)</a:t>
                          </a:r>
                        </a:p>
                      </a:txBody>
                      <a:tcPr marL="170562" marR="170562" marT="132659" marB="132659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70072380"/>
                      </a:ext>
                    </a:extLst>
                  </a:tr>
                  <a:tr h="1084014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1"/>
                              </a:solidFill>
                              <a:effectLst/>
                            </a:rPr>
                            <a:t>ZZ Entangling Matrix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170562" marR="170562" marT="132659" marB="132659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sz="160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1600" i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exp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nary>
                                          <m:naryPr>
                                            <m:chr m:val="∑"/>
                                            <m:subHide m:val="on"/>
                                            <m:supHide m:val="on"/>
                                            <m:ctrlPr>
                                              <a:rPr lang="en-US" sz="16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naryPr>
                                          <m:sub/>
                                          <m:sup/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1600" i="1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600" i="1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𝜙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600" i="1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𝑖𝑗</m:t>
                                                </m:r>
                                              </m:sub>
                                            </m:sSub>
                                            <m:sSub>
                                              <m:sSubPr>
                                                <m:ctrlPr>
                                                  <a:rPr lang="en-US" sz="1600" i="1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600" i="1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𝑍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600" i="1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sSub>
                                              <m:sSubPr>
                                                <m:ctrlPr>
                                                  <a:rPr lang="en-US" sz="1600" i="1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600" i="1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𝑍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600" i="1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</m:sub>
                                            </m:sSub>
                                          </m:e>
                                        </m:nary>
                                      </m:e>
                                    </m:d>
                                  </m:e>
                                </m:func>
                                <m:sSub>
                                  <m:sSubPr>
                                    <m:ctrlP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𝒰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𝒵ℛ𝒵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effectLst/>
                          </a:endParaRPr>
                        </a:p>
                      </a:txBody>
                      <a:tcPr marL="170562" marR="170562" marT="132659" marB="132659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600">
                              <a:effectLst/>
                            </a:rPr>
                            <a:t>Moderate (Fixed Linear / Circular)</a:t>
                          </a:r>
                        </a:p>
                      </a:txBody>
                      <a:tcPr marL="170562" marR="170562" marT="132659" marB="132659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600">
                              <a:effectLst/>
                            </a:rPr>
                            <a:t>Standard Ising Spin Glass Link ($J_{ij}$)</a:t>
                          </a:r>
                        </a:p>
                      </a:txBody>
                      <a:tcPr marL="170562" marR="170562" marT="132659" marB="132659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87058040"/>
                      </a:ext>
                    </a:extLst>
                  </a:tr>
                  <a:tr h="811115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1"/>
                              </a:solidFill>
                              <a:effectLst/>
                            </a:rPr>
                            <a:t>X-ZZ Transverse Map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170562" marR="170562" marT="132659" marB="132659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∏"/>
                                    <m:subHide m:val="on"/>
                                    <m:supHide m:val="on"/>
                                    <m:ctrlPr>
                                      <a:rPr lang="en-US" sz="160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sSup>
                                      <m:sSupPr>
                                        <m:ctrlP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16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𝑅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sub>
                                        </m:sSub>
                                      </m:sup>
                                    </m:sSup>
                                    <m:sSup>
                                      <m:sSupPr>
                                        <m:ctrlP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𝑖𝑍𝑍</m:t>
                                        </m:r>
                                      </m:sup>
                                    </m:sSup>
                                  </m:e>
                                </m:nary>
                              </m:oMath>
                            </m:oMathPara>
                          </a14:m>
                          <a:endParaRPr lang="en-US" sz="1600" dirty="0">
                            <a:effectLst/>
                          </a:endParaRPr>
                        </a:p>
                      </a:txBody>
                      <a:tcPr marL="170562" marR="170562" marT="132659" marB="132659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600">
                              <a:effectLst/>
                            </a:rPr>
                            <a:t>High (Non-commuting layers)</a:t>
                          </a:r>
                        </a:p>
                      </a:txBody>
                      <a:tcPr marL="170562" marR="170562" marT="132659" marB="132659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600">
                              <a:effectLst/>
                            </a:rPr>
                            <a:t>Transverse Field Ising Model (TFIM)</a:t>
                          </a:r>
                        </a:p>
                      </a:txBody>
                      <a:tcPr marL="170562" marR="170562" marT="132659" marB="132659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48855745"/>
                      </a:ext>
                    </a:extLst>
                  </a:tr>
                  <a:tr h="811115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1"/>
                              </a:solidFill>
                              <a:effectLst/>
                            </a:rPr>
                            <a:t>Z-Y-ZZ Custom Synthesis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170562" marR="170562" marT="132659" marB="132659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∏"/>
                                    <m:subHide m:val="on"/>
                                    <m:supHide m:val="on"/>
                                    <m:ctrlPr>
                                      <a:rPr lang="en-US" sz="160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𝑍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m:rPr>
                                    <m:nor/>
                                  </m:rPr>
                                  <a:rPr lang="en-US" sz="1600" i="0">
                                    <a:effectLst/>
                                    <a:latin typeface="Cambria Math" panose="02040503050406030204" pitchFamily="18" charset="0"/>
                                  </a:rPr>
                                  <m:t>Full</m:t>
                                </m:r>
                                <m:r>
                                  <m:rPr>
                                    <m:nor/>
                                  </m:rPr>
                                  <a:rPr lang="en-US" sz="1600" i="0">
                                    <a:effectLst/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</a:rPr>
                                  <m:t>𝑍𝑍</m:t>
                                </m:r>
                              </m:oMath>
                            </m:oMathPara>
                          </a14:m>
                          <a:endParaRPr lang="en-US" sz="1600" dirty="0">
                            <a:effectLst/>
                          </a:endParaRPr>
                        </a:p>
                      </a:txBody>
                      <a:tcPr marL="170562" marR="170562" marT="132659" marB="132659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600">
                              <a:effectLst/>
                            </a:rPr>
                            <a:t>Maximum (Global State Density)</a:t>
                          </a:r>
                        </a:p>
                      </a:txBody>
                      <a:tcPr marL="170562" marR="170562" marT="132659" marB="132659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Complex Multi-Body Fully Connected Matrix</a:t>
                          </a:r>
                        </a:p>
                      </a:txBody>
                      <a:tcPr marL="170562" marR="170562" marT="132659" marB="132659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887948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0863648D-919A-92D5-7F3C-28BEAC05C03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95899176"/>
                  </p:ext>
                </p:extLst>
              </p:nvPr>
            </p:nvGraphicFramePr>
            <p:xfrm>
              <a:off x="609600" y="1529201"/>
              <a:ext cx="10972800" cy="4467116"/>
            </p:xfrm>
            <a:graphic>
              <a:graphicData uri="http://schemas.openxmlformats.org/drawingml/2006/table">
                <a:tbl>
                  <a:tblPr/>
                  <a:tblGrid>
                    <a:gridCol w="2743200">
                      <a:extLst>
                        <a:ext uri="{9D8B030D-6E8A-4147-A177-3AD203B41FA5}">
                          <a16:colId xmlns:a16="http://schemas.microsoft.com/office/drawing/2014/main" val="243136445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3673693073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1818185229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1836304965"/>
                        </a:ext>
                      </a:extLst>
                    </a:gridCol>
                  </a:tblGrid>
                  <a:tr h="811115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600">
                              <a:solidFill>
                                <a:srgbClr val="60A5FA"/>
                              </a:solidFill>
                              <a:effectLst/>
                              <a:latin typeface="Merriweather" panose="00000500000000000000" pitchFamily="2" charset="0"/>
                            </a:rPr>
                            <a:t>Feature Map Paradigm</a:t>
                          </a:r>
                        </a:p>
                      </a:txBody>
                      <a:tcPr marL="170562" marR="170562" marT="132659" marB="132659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F293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600">
                              <a:solidFill>
                                <a:srgbClr val="60A5FA"/>
                              </a:solidFill>
                              <a:effectLst/>
                              <a:latin typeface="Merriweather" panose="00000500000000000000" pitchFamily="2" charset="0"/>
                            </a:rPr>
                            <a:t>Mathematical Form</a:t>
                          </a:r>
                        </a:p>
                      </a:txBody>
                      <a:tcPr marL="170562" marR="170562" marT="132659" marB="132659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F293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600" dirty="0">
                              <a:solidFill>
                                <a:srgbClr val="60A5FA"/>
                              </a:solidFill>
                              <a:effectLst/>
                              <a:latin typeface="Merriweather" panose="00000500000000000000" pitchFamily="2" charset="0"/>
                            </a:rPr>
                            <a:t>Entanglement Metric</a:t>
                          </a:r>
                        </a:p>
                      </a:txBody>
                      <a:tcPr marL="170562" marR="170562" marT="132659" marB="132659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F293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600">
                              <a:solidFill>
                                <a:srgbClr val="60A5FA"/>
                              </a:solidFill>
                              <a:effectLst/>
                              <a:latin typeface="Merriweather" panose="00000500000000000000" pitchFamily="2" charset="0"/>
                            </a:rPr>
                            <a:t>Ising Mapping Analog</a:t>
                          </a:r>
                        </a:p>
                      </a:txBody>
                      <a:tcPr marL="170562" marR="170562" marT="132659" marB="132659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F293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6871340"/>
                      </a:ext>
                    </a:extLst>
                  </a:tr>
                  <a:tr h="860377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1"/>
                              </a:solidFill>
                              <a:effectLst/>
                            </a:rPr>
                            <a:t>ZRZ Phase Encoding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170562" marR="170562" marT="132659" marB="132659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70562" marR="170562" marT="132659" marB="132659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93662" r="-200222" b="-3239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600">
                              <a:effectLst/>
                            </a:rPr>
                            <a:t>Zero (Product State)</a:t>
                          </a:r>
                        </a:p>
                      </a:txBody>
                      <a:tcPr marL="170562" marR="170562" marT="132659" marB="132659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600">
                              <a:effectLst/>
                            </a:rPr>
                            <a:t>Independent localized external field ($J = 0$)</a:t>
                          </a:r>
                        </a:p>
                      </a:txBody>
                      <a:tcPr marL="170562" marR="170562" marT="132659" marB="132659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70072380"/>
                      </a:ext>
                    </a:extLst>
                  </a:tr>
                  <a:tr h="1084014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1"/>
                              </a:solidFill>
                              <a:effectLst/>
                            </a:rPr>
                            <a:t>ZZ Entangling Matrix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170562" marR="170562" marT="132659" marB="132659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70562" marR="170562" marT="132659" marB="132659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154494" r="-200222" b="-1584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600">
                              <a:effectLst/>
                            </a:rPr>
                            <a:t>Moderate (Fixed Linear / Circular)</a:t>
                          </a:r>
                        </a:p>
                      </a:txBody>
                      <a:tcPr marL="170562" marR="170562" marT="132659" marB="132659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600">
                              <a:effectLst/>
                            </a:rPr>
                            <a:t>Standard Ising Spin Glass Link ($J_{ij}$)</a:t>
                          </a:r>
                        </a:p>
                      </a:txBody>
                      <a:tcPr marL="170562" marR="170562" marT="132659" marB="132659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87058040"/>
                      </a:ext>
                    </a:extLst>
                  </a:tr>
                  <a:tr h="855805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1"/>
                              </a:solidFill>
                              <a:effectLst/>
                            </a:rPr>
                            <a:t>X-ZZ Transverse Map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170562" marR="170562" marT="132659" marB="132659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70562" marR="170562" marT="132659" marB="132659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323571" r="-200222" b="-10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600">
                              <a:effectLst/>
                            </a:rPr>
                            <a:t>High (Non-commuting layers)</a:t>
                          </a:r>
                        </a:p>
                      </a:txBody>
                      <a:tcPr marL="170562" marR="170562" marT="132659" marB="132659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600">
                              <a:effectLst/>
                            </a:rPr>
                            <a:t>Transverse Field Ising Model (TFIM)</a:t>
                          </a:r>
                        </a:p>
                      </a:txBody>
                      <a:tcPr marL="170562" marR="170562" marT="132659" marB="132659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48855745"/>
                      </a:ext>
                    </a:extLst>
                  </a:tr>
                  <a:tr h="855805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1"/>
                              </a:solidFill>
                              <a:effectLst/>
                            </a:rPr>
                            <a:t>Z-Y-ZZ Custom Synthesis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170562" marR="170562" marT="132659" marB="132659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70562" marR="170562" marT="132659" marB="132659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420567" r="-200222" b="-7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600">
                              <a:effectLst/>
                            </a:rPr>
                            <a:t>Maximum (Global State Density)</a:t>
                          </a:r>
                        </a:p>
                      </a:txBody>
                      <a:tcPr marL="170562" marR="170562" marT="132659" marB="132659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Complex Multi-Body Fully Connected Matrix</a:t>
                          </a:r>
                        </a:p>
                      </a:txBody>
                      <a:tcPr marL="170562" marR="170562" marT="132659" marB="132659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887948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499802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6B053-ED41-EAD1-1B9B-F45E8C475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Parameterized Quantum Circuits &amp; Ansatz Design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8740E4-1772-C0DB-5143-D402385B6A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Following state encoding via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𝒰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0" smtClean="0">
                            <a:latin typeface="Cambria Math" panose="02040503050406030204" pitchFamily="18" charset="0"/>
                          </a:rPr>
                          <m:t>Φ</m:t>
                        </m:r>
                      </m:sub>
                    </m:sSub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</m:oMath>
                </a14:m>
                <a:r>
                  <a:rPr lang="en-US" dirty="0"/>
                  <a:t>, the system transitions tracking parameters into an adjustable structural optimization layer called the Ansatz,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𝒱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acc>
                            </m:e>
                          </m:d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𝒱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</m:d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𝒰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Φ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 variable weights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undergo parameter adjustments driven by classical optimizer logic to continually lower defined operational loss metrics.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8740E4-1772-C0DB-5143-D402385B6A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22" t="-1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22040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18D0F27-46B1-3B05-ADE9-AB11D24A2D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000" b="1" dirty="0"/>
              <a:t>Linear Entanglement Topology</a:t>
            </a:r>
          </a:p>
          <a:p>
            <a:r>
              <a:rPr lang="en-US" sz="2000" dirty="0"/>
              <a:t>Entangling operations (CNOT fields) apply sequentially between position </a:t>
            </a:r>
            <a:r>
              <a:rPr lang="en-US" sz="2000" dirty="0" err="1"/>
              <a:t>i</a:t>
            </a:r>
            <a:r>
              <a:rPr lang="en-US" sz="2000" dirty="0"/>
              <a:t> and neighboring position i+1. While resource-efficient regarding physical hardware tracks, information takes multiple cycles to propagate across long-distance configurations.</a:t>
            </a:r>
          </a:p>
          <a:p>
            <a:r>
              <a:rPr lang="en-US" sz="2000" dirty="0"/>
              <a:t>Best for: Simple 1D sensor telemetry arrays.</a:t>
            </a:r>
          </a:p>
          <a:p>
            <a:endParaRPr lang="en-US" sz="2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3E99A0-A656-A2FA-3782-38EEF1A04D6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sz="2000" b="1" dirty="0"/>
              <a:t>Circular Entanglement Topology</a:t>
            </a:r>
          </a:p>
          <a:p>
            <a:r>
              <a:rPr lang="en-US" sz="2000" dirty="0"/>
              <a:t>CNOT chains loop back completely, connecting the terminal register n directly to the primary origin register 1. This establishes periodic boundary conditions natively within the hardware setup.</a:t>
            </a:r>
          </a:p>
          <a:p>
            <a:r>
              <a:rPr lang="en-US" sz="2000" dirty="0"/>
              <a:t>Best for: Cyclic physical loops, power systems, and rotation metrics.</a:t>
            </a:r>
          </a:p>
          <a:p>
            <a:endParaRPr lang="en-US" sz="2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20608B-566D-52EB-D8BD-49A4681283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fontScale="92500" lnSpcReduction="20000"/>
          </a:bodyPr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A209339-449C-F668-9F33-0008D2104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Structural Topology: Linear vs. Circular Ansatz</a:t>
            </a:r>
          </a:p>
        </p:txBody>
      </p:sp>
    </p:spTree>
    <p:extLst>
      <p:ext uri="{BB962C8B-B14F-4D97-AF65-F5344CB8AC3E}">
        <p14:creationId xmlns:p14="http://schemas.microsoft.com/office/powerpoint/2010/main" val="6091849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6A401-0F62-DEF2-8B43-CC249C20D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Toffoli Ansatz: Accessing Non-Linear Correlations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70D4A9-73AD-66C6-9133-1D2AB9B7A2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Standard variational networks rely primarily on single or two-qubit operations, leaving complex multi-variable interactions unaddressed.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i="0" smtClean="0">
                          <a:latin typeface="Cambria Math" panose="02040503050406030204" pitchFamily="18" charset="0"/>
                        </a:rPr>
                        <m:t>CCNOT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→</m:t>
                      </m:r>
                      <m:d>
                        <m:dPr>
                          <m:begChr m:val="|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↦</m:t>
                      </m:r>
                      <m:d>
                        <m:dPr>
                          <m:begChr m:val="|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⊕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Integrating three-qubit Toffoli gates directly into the parameterized architecture allows the network to natively extract higher-order conditional features.</a:t>
                </a:r>
              </a:p>
              <a:p>
                <a:r>
                  <a:rPr lang="en-US" dirty="0"/>
                  <a:t>Evaluates expressions like: </a:t>
                </a:r>
                <a:r>
                  <a:rPr lang="en-US" i="1" dirty="0"/>
                  <a:t>"If Sensor 1 and Sensor 2 diverge, apply rotation to Sensor 3."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70D4A9-73AD-66C6-9133-1D2AB9B7A2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22" t="-1840" b="-49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1828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F0A3E-8002-EFCA-B19C-476CFD534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Performance Benchmarking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28E7F2E-4A58-DC41-0534-3FB3F8033F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2710049"/>
              </p:ext>
            </p:extLst>
          </p:nvPr>
        </p:nvGraphicFramePr>
        <p:xfrm>
          <a:off x="609600" y="1666361"/>
          <a:ext cx="10972800" cy="3255832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84179895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434347568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1390784654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1638816309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492617227"/>
                    </a:ext>
                  </a:extLst>
                </a:gridCol>
              </a:tblGrid>
              <a:tr h="8111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>
                          <a:solidFill>
                            <a:srgbClr val="60A5FA"/>
                          </a:solidFill>
                          <a:effectLst/>
                          <a:latin typeface="Merriweather" panose="00000500000000000000" pitchFamily="2" charset="0"/>
                        </a:rPr>
                        <a:t>Algorithm Framework</a:t>
                      </a:r>
                    </a:p>
                  </a:txBody>
                  <a:tcPr marL="170562" marR="170562" marT="132659" marB="1326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>
                          <a:solidFill>
                            <a:srgbClr val="60A5FA"/>
                          </a:solidFill>
                          <a:effectLst/>
                          <a:latin typeface="Merriweather" panose="00000500000000000000" pitchFamily="2" charset="0"/>
                        </a:rPr>
                        <a:t>Feature Map Used</a:t>
                      </a:r>
                    </a:p>
                  </a:txBody>
                  <a:tcPr marL="170562" marR="170562" marT="132659" marB="1326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>
                          <a:solidFill>
                            <a:srgbClr val="60A5FA"/>
                          </a:solidFill>
                          <a:effectLst/>
                          <a:latin typeface="Merriweather" panose="00000500000000000000" pitchFamily="2" charset="0"/>
                        </a:rPr>
                        <a:t>Ansatz Style</a:t>
                      </a:r>
                    </a:p>
                  </a:txBody>
                  <a:tcPr marL="170562" marR="170562" marT="132659" marB="1326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>
                          <a:solidFill>
                            <a:srgbClr val="60A5FA"/>
                          </a:solidFill>
                          <a:effectLst/>
                          <a:latin typeface="Merriweather" panose="00000500000000000000" pitchFamily="2" charset="0"/>
                        </a:rPr>
                        <a:t>Training Accuracy</a:t>
                      </a:r>
                    </a:p>
                  </a:txBody>
                  <a:tcPr marL="170562" marR="170562" marT="132659" marB="1326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>
                          <a:solidFill>
                            <a:srgbClr val="60A5FA"/>
                          </a:solidFill>
                          <a:effectLst/>
                          <a:latin typeface="Merriweather" panose="00000500000000000000" pitchFamily="2" charset="0"/>
                        </a:rPr>
                        <a:t>Testing Accuracy</a:t>
                      </a:r>
                    </a:p>
                  </a:txBody>
                  <a:tcPr marL="170562" marR="170562" marT="132659" marB="1326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6435788"/>
                  </a:ext>
                </a:extLst>
              </a:tr>
              <a:tr h="8111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>
                          <a:effectLst/>
                        </a:rPr>
                        <a:t>Standard QNN (2021 Baseline)</a:t>
                      </a:r>
                    </a:p>
                  </a:txBody>
                  <a:tcPr marL="170562" marR="170562" marT="132659" marB="132659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>
                          <a:effectLst/>
                        </a:rPr>
                        <a:t>ZZ Feature Map</a:t>
                      </a:r>
                    </a:p>
                  </a:txBody>
                  <a:tcPr marL="170562" marR="170562" marT="132659" marB="132659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>
                          <a:effectLst/>
                        </a:rPr>
                        <a:t>Enhanced SU2 (Linear)</a:t>
                      </a:r>
                    </a:p>
                  </a:txBody>
                  <a:tcPr marL="170562" marR="170562" marT="132659" marB="132659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>
                          <a:effectLst/>
                        </a:rPr>
                        <a:t>67.0%</a:t>
                      </a:r>
                    </a:p>
                  </a:txBody>
                  <a:tcPr marL="170562" marR="170562" marT="132659" marB="132659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dirty="0">
                          <a:effectLst/>
                        </a:rPr>
                        <a:t>68.0%</a:t>
                      </a:r>
                    </a:p>
                  </a:txBody>
                  <a:tcPr marL="170562" marR="170562" marT="132659" marB="132659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8640686"/>
                  </a:ext>
                </a:extLst>
              </a:tr>
              <a:tr h="8111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Toffoli Proposed System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70562" marR="170562" marT="132659" marB="132659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Z-Y-ZZ Dense Map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70562" marR="170562" marT="132659" marB="132659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Fully-Connected Toffoli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70562" marR="170562" marT="132659" marB="132659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dirty="0">
                          <a:solidFill>
                            <a:srgbClr val="34D399"/>
                          </a:solidFill>
                          <a:effectLst/>
                        </a:rPr>
                        <a:t>84.0%</a:t>
                      </a:r>
                    </a:p>
                  </a:txBody>
                  <a:tcPr marL="170562" marR="170562" marT="132659" marB="132659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>
                          <a:solidFill>
                            <a:srgbClr val="34D399"/>
                          </a:solidFill>
                          <a:effectLst/>
                        </a:rPr>
                        <a:t>85.0%</a:t>
                      </a:r>
                    </a:p>
                  </a:txBody>
                  <a:tcPr marL="170562" marR="170562" marT="132659" marB="132659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9558253"/>
                  </a:ext>
                </a:extLst>
              </a:tr>
              <a:tr h="8111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>
                          <a:effectLst/>
                        </a:rPr>
                        <a:t>Hardware Deployment Run</a:t>
                      </a:r>
                    </a:p>
                  </a:txBody>
                  <a:tcPr marL="170562" marR="170562" marT="132659" marB="132659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>
                          <a:effectLst/>
                        </a:rPr>
                        <a:t>X-ZZ Sub-Map</a:t>
                      </a:r>
                    </a:p>
                  </a:txBody>
                  <a:tcPr marL="170562" marR="170562" marT="132659" marB="132659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>
                          <a:effectLst/>
                        </a:rPr>
                        <a:t>Toffoli Compiler Compiled</a:t>
                      </a:r>
                    </a:p>
                  </a:txBody>
                  <a:tcPr marL="170562" marR="170562" marT="132659" marB="132659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>
                          <a:effectLst/>
                        </a:rPr>
                        <a:t>--</a:t>
                      </a:r>
                    </a:p>
                  </a:txBody>
                  <a:tcPr marL="170562" marR="170562" marT="132659" marB="132659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dirty="0">
                          <a:solidFill>
                            <a:srgbClr val="60A5FA"/>
                          </a:solidFill>
                          <a:effectLst/>
                        </a:rPr>
                        <a:t>72.0%</a:t>
                      </a:r>
                    </a:p>
                  </a:txBody>
                  <a:tcPr marL="170562" marR="170562" marT="132659" marB="132659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27291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63882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9760C-EB30-7743-1E65-EACCE0361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Multi-Label Classification Mechanics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965378-337C-59D3-B47D-4F9E1372B2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800" dirty="0"/>
                  <a:t>Instead of mapping inputs to a solitary binary indicator, grid management requires tracking multiple concurrent operational issues across the network.</a:t>
                </a:r>
              </a:p>
              <a:p>
                <a:r>
                  <a:rPr lang="en-US" sz="2800" b="1" dirty="0"/>
                  <a:t>Label 1:</a:t>
                </a:r>
                <a:r>
                  <a:rPr lang="en-US" sz="2800" dirty="0"/>
                  <a:t> Localized Soiling Accumulation</a:t>
                </a:r>
              </a:p>
              <a:p>
                <a:r>
                  <a:rPr lang="en-US" sz="2800" b="1" dirty="0"/>
                  <a:t>Label 2:</a:t>
                </a:r>
                <a:r>
                  <a:rPr lang="en-US" sz="2800" dirty="0"/>
                  <a:t> Inverter Thermal Stress Anomaly</a:t>
                </a:r>
              </a:p>
              <a:p>
                <a:r>
                  <a:rPr lang="en-US" sz="2800" b="1" dirty="0"/>
                  <a:t>Label 3:</a:t>
                </a:r>
                <a:r>
                  <a:rPr lang="en-US" sz="2800" dirty="0"/>
                  <a:t> Line-to-Ground Structural Fault</a:t>
                </a:r>
              </a:p>
              <a:p>
                <a:r>
                  <a:rPr lang="en-US" sz="2800" dirty="0"/>
                  <a:t>We sample multi-qubit measurement sub-registers simultaneously: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</m:sup>
                        </m:sSubSup>
                      </m:e>
                    </m:d>
                  </m:oMath>
                </a14:m>
                <a:r>
                  <a:rPr lang="en-US" sz="2800" dirty="0"/>
                  <a:t>, mapping each expectation value to its respective anomaly threshold.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965378-337C-59D3-B47D-4F9E1372B2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445" b="-2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37456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A0FD3-F343-2479-1D48-85C2D882C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Hardware Constraints &amp; Superconducting Qubit Physics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2187C7-BA3A-CD17-97A2-54633F3FE3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4399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0B615-8928-B4E9-04F3-F32EE2AE6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NISQ Reality: Navigating Physical Decoherence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481890-0B9C-A2D8-795E-E99514E5CF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800" dirty="0"/>
                  <a:t>Theoretical algorithm designs frequently assume ideal fault-tolerant operations. Physical research, however, requires directly managing noisy, uncorrected hardware constraints.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800" b="1" dirty="0"/>
                  <a:t> Relaxation:</a:t>
                </a:r>
                <a:r>
                  <a:rPr lang="en-US" sz="2800" dirty="0"/>
                  <a:t> Energy decay from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800" i="1" smtClean="0"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begChr m:val="|"/>
                        <m:endChr m:val="⟩"/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sz="2800" dirty="0"/>
                  <a:t>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800" b="1" dirty="0"/>
                  <a:t> Dephasing:</a:t>
                </a:r>
                <a:r>
                  <a:rPr lang="en-US" sz="2800" dirty="0"/>
                  <a:t> Loss of phase coherence destroying quantum superposition states.</a:t>
                </a:r>
              </a:p>
              <a:p>
                <a:r>
                  <a:rPr lang="en-US" sz="2800" dirty="0"/>
                  <a:t>When circuit depths outlast physical coherence times, data shifts toward random mixed states, completely flattening optimizer gradients.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481890-0B9C-A2D8-795E-E99514E5CF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445" r="-17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04923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3A6DE-B611-E41E-0CF7-4ADE25D2F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Parasitic Always-On ZZ Crosstalk Dynamics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D62BBC-F56F-BC8D-222D-CFD9ABE4A4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 fixed-coupling </a:t>
                </a:r>
                <a:r>
                  <a:rPr lang="en-US" dirty="0" err="1"/>
                  <a:t>transmon</a:t>
                </a:r>
                <a:r>
                  <a:rPr lang="en-US" dirty="0"/>
                  <a:t> architectures, unwanted persistent interactions introduce continuous phase errors across neighboring qubit positions.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coupling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⊗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𝒰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ℯ𝓇𝓇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𝜁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This continuous interaction shifts the operational frequency of a qubit based on the current state of its neighbors, introducing systematic phase errors throughout extended gate sequences.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D62BBC-F56F-BC8D-222D-CFD9ABE4A4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22" t="-1840" r="-19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70374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DF13F-1058-0F1C-08E5-E06771F49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Differentiable Pulse Programming via JAX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7E84C5-34AE-39AF-E881-FBE3261A8C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Rather than relying on abstract logical gate translations, we can optimize performance by programming control sequences directly at the physical microwave pulse layer.</a:t>
                </a:r>
              </a:p>
              <a:p>
                <a:r>
                  <a:rPr lang="en-US" dirty="0"/>
                  <a:t>Using JAX, control waveforms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 are differentiated directly through solvers tracking the physical time-dependent Schrödinger equation.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7E84C5-34AE-39AF-E881-FBE3261A8C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22" t="-1840" r="-1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5192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B22D7-51E3-E7B3-A51E-43C9CE187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DRAG Pulse Optimization &amp; Leakage Control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00C531-B196-6E73-1177-801A8DFC03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Fast microwave control signals can inadvertently drive population out of the computational basis into higher energy states like the non-computational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en-US" dirty="0"/>
                  <a:t> level of the </a:t>
                </a:r>
                <a:r>
                  <a:rPr lang="en-US" dirty="0" err="1"/>
                  <a:t>transmon</a:t>
                </a:r>
                <a:r>
                  <a:rPr lang="en-US" dirty="0"/>
                  <a:t>.</a:t>
                </a:r>
              </a:p>
              <a:p>
                <a:r>
                  <a:rPr lang="en-US" b="1" dirty="0"/>
                  <a:t>Derivative Removal by Adiabatic Gate (DRAG)</a:t>
                </a:r>
                <a:r>
                  <a:rPr lang="en-US" dirty="0"/>
                  <a:t> counteracts this by applying a derivative correction pulse along the out-of-phase (Y) control channel.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00C531-B196-6E73-1177-801A8DFC03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22" t="-1840" r="-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53489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46ABA-81C2-AD05-A26D-644B0B338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Mitigation vs. Error Correction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09CA0-320F-DF70-B77A-6FE9028F70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b="1" dirty="0"/>
              <a:t>Active Error Mitigation</a:t>
            </a:r>
          </a:p>
          <a:p>
            <a:r>
              <a:rPr lang="en-US" sz="2800" dirty="0"/>
              <a:t>Instead of relying on dense multi-qubit logical encodings, error mitigation applies classical post-processing techniques over structured circuit variations to clean raw measurement outputs.</a:t>
            </a:r>
          </a:p>
          <a:p>
            <a:pPr lvl="1"/>
            <a:r>
              <a:rPr lang="en-US" sz="2400" b="1" dirty="0"/>
              <a:t>Zero-Noise Extrapolation (ZNE):</a:t>
            </a:r>
            <a:r>
              <a:rPr lang="en-US" sz="2400" dirty="0"/>
              <a:t> Artificially scales noise levels upward to mathematically extrapolate back to an ideal zero-noise baseline.</a:t>
            </a:r>
          </a:p>
          <a:p>
            <a:pPr lvl="1"/>
            <a:r>
              <a:rPr lang="en-US" sz="2400" b="1" dirty="0"/>
              <a:t>Probabilistic Error Cancellation (PEC):</a:t>
            </a:r>
            <a:r>
              <a:rPr lang="en-US" sz="2400" dirty="0"/>
              <a:t> Samples from inverted error channels to systematically cancel out physical noise contributions.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0050237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93431-2BC6-3471-45A2-5FD359B5B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Hardware Execution: IBM Heron Case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9DF92-78B4-D249-F01F-09C60DBBD4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Deploying our multi-label fault detection circuits onto physical IBM Heron hardware highlighted a clear performance divergence from idealized classical simulations.</a:t>
            </a:r>
          </a:p>
          <a:p>
            <a:pPr lvl="1"/>
            <a:r>
              <a:rPr lang="en-US" dirty="0"/>
              <a:t>Raw unmitigated accuracy dropped rapidly to 51%.</a:t>
            </a:r>
          </a:p>
          <a:p>
            <a:pPr lvl="1"/>
            <a:r>
              <a:rPr lang="en-US" dirty="0"/>
              <a:t>Applying DRAG shape matching and active ZNE loops recovered accuracy up to a verified 72% success metric.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91712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187D6-9910-1054-0234-FAE1C37CE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Dynamical Decoupling (DD) Sequencing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74DCA87-CFF9-85AE-DF27-C2E90352D9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Idle qubits often undergo rapid dephasing while awaiting operations on other parts of the chip. </a:t>
                </a:r>
                <a:r>
                  <a:rPr lang="en-US" b="1" dirty="0"/>
                  <a:t>Dynamical Decoupling (DD)</a:t>
                </a:r>
                <a:r>
                  <a:rPr lang="en-US" dirty="0"/>
                  <a:t> addresses this by applying precise sequences of flipping pulses during these idle windows.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− 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 − 2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− 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𝜏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These fast inversions average low-frequency environmental phase noise out to zero over the course of the idle cycle.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74DCA87-CFF9-85AE-DF27-C2E90352D9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22" t="-1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73231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70125-B979-24CD-FC10-63E0A3F96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Readout Error Mitigation (Assignment Matrices)</a:t>
            </a:r>
            <a:br>
              <a:rPr lang="en-US" dirty="0"/>
            </a:b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8986F7-0B14-193B-CDD4-FEDEE5F015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Physical measurement operations are prone to bit-flip errors during readout, causing state classifications to shift erroneously (e.g., measuring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dirty="0"/>
                  <a:t> when the terminal state was actually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dirty="0"/>
                  <a:t>).</a:t>
                </a:r>
              </a:p>
              <a:p>
                <a:r>
                  <a:rPr lang="en-US" dirty="0"/>
                  <a:t>We counteract this by constructing an empirical assignment calibration matrix, $A$, before running main experiments.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8986F7-0B14-193B-CDD4-FEDEE5F015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22" t="-1840" r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33051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D99FB-87CC-5C9F-4AAD-67E685EB7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Quantum Noise Sources &amp; Mitigation Controls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712A39D8-DD60-121B-4C84-AE8CECB183E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91749278"/>
                  </p:ext>
                </p:extLst>
              </p:nvPr>
            </p:nvGraphicFramePr>
            <p:xfrm>
              <a:off x="876573" y="1382713"/>
              <a:ext cx="10438854" cy="4637087"/>
            </p:xfrm>
            <a:graphic>
              <a:graphicData uri="http://schemas.openxmlformats.org/drawingml/2006/table">
                <a:tbl>
                  <a:tblPr/>
                  <a:tblGrid>
                    <a:gridCol w="3479618">
                      <a:extLst>
                        <a:ext uri="{9D8B030D-6E8A-4147-A177-3AD203B41FA5}">
                          <a16:colId xmlns:a16="http://schemas.microsoft.com/office/drawing/2014/main" val="3374760427"/>
                        </a:ext>
                      </a:extLst>
                    </a:gridCol>
                    <a:gridCol w="3479618">
                      <a:extLst>
                        <a:ext uri="{9D8B030D-6E8A-4147-A177-3AD203B41FA5}">
                          <a16:colId xmlns:a16="http://schemas.microsoft.com/office/drawing/2014/main" val="3011714908"/>
                        </a:ext>
                      </a:extLst>
                    </a:gridCol>
                    <a:gridCol w="3479618">
                      <a:extLst>
                        <a:ext uri="{9D8B030D-6E8A-4147-A177-3AD203B41FA5}">
                          <a16:colId xmlns:a16="http://schemas.microsoft.com/office/drawing/2014/main" val="348623193"/>
                        </a:ext>
                      </a:extLst>
                    </a:gridCol>
                  </a:tblGrid>
                  <a:tr h="771646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700">
                              <a:solidFill>
                                <a:srgbClr val="60A5FA"/>
                              </a:solidFill>
                              <a:effectLst/>
                              <a:latin typeface="Merriweather" panose="00000500000000000000" pitchFamily="2" charset="0"/>
                            </a:rPr>
                            <a:t>Physical Noise Vector</a:t>
                          </a:r>
                        </a:p>
                      </a:txBody>
                      <a:tcPr marL="162262" marR="162262" marT="126204" marB="126204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F293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700">
                              <a:solidFill>
                                <a:srgbClr val="60A5FA"/>
                              </a:solidFill>
                              <a:effectLst/>
                              <a:latin typeface="Merriweather" panose="00000500000000000000" pitchFamily="2" charset="0"/>
                            </a:rPr>
                            <a:t>Underlying Mechanism</a:t>
                          </a:r>
                        </a:p>
                      </a:txBody>
                      <a:tcPr marL="162262" marR="162262" marT="126204" marB="126204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F293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700">
                              <a:solidFill>
                                <a:srgbClr val="60A5FA"/>
                              </a:solidFill>
                              <a:effectLst/>
                              <a:latin typeface="Merriweather" panose="00000500000000000000" pitchFamily="2" charset="0"/>
                            </a:rPr>
                            <a:t>Algorithmic / Pulse Control Response</a:t>
                          </a:r>
                        </a:p>
                      </a:txBody>
                      <a:tcPr marL="162262" marR="162262" marT="126204" marB="126204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F293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95204403"/>
                      </a:ext>
                    </a:extLst>
                  </a:tr>
                  <a:tr h="1031265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700" b="1" dirty="0">
                              <a:solidFill>
                                <a:schemeClr val="tx1"/>
                              </a:solidFill>
                              <a:effectLst/>
                            </a:rPr>
                            <a:t>Parasitic ZZ Crosstalk</a:t>
                          </a:r>
                          <a:endParaRPr lang="en-US" sz="17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162262" marR="162262" marT="126204" marB="126204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700">
                              <a:effectLst/>
                            </a:rPr>
                            <a:t>Always-on interaction between neighboring transmons</a:t>
                          </a:r>
                        </a:p>
                      </a:txBody>
                      <a:tcPr marL="162262" marR="162262" marT="126204" marB="126204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700">
                              <a:effectLst/>
                            </a:rPr>
                            <a:t>Differentiable pulse optimizations via JAX and cross-coupling cancellations</a:t>
                          </a:r>
                        </a:p>
                      </a:txBody>
                      <a:tcPr marL="162262" marR="162262" marT="126204" marB="126204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40816902"/>
                      </a:ext>
                    </a:extLst>
                  </a:tr>
                  <a:tr h="771646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700" b="1" dirty="0">
                              <a:solidFill>
                                <a:schemeClr val="tx1"/>
                              </a:solidFill>
                              <a:effectLst/>
                            </a:rPr>
                            <a:t>Computational Leakage</a:t>
                          </a:r>
                          <a:endParaRPr lang="en-US" sz="17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162262" marR="162262" marT="126204" marB="126204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dirty="0">
                              <a:effectLst/>
                            </a:rPr>
                            <a:t>Excitation driving states up into the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|"/>
                                  <m:endChr m:val="⟩"/>
                                  <m:ctrlPr>
                                    <a:rPr lang="en-US" sz="17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700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700" dirty="0">
                              <a:effectLst/>
                            </a:rPr>
                            <a:t> </a:t>
                          </a:r>
                          <a:r>
                            <a:rPr lang="en-US" sz="1700" dirty="0" err="1">
                              <a:effectLst/>
                            </a:rPr>
                            <a:t>transmon</a:t>
                          </a:r>
                          <a:r>
                            <a:rPr lang="en-US" sz="1700" dirty="0">
                              <a:effectLst/>
                            </a:rPr>
                            <a:t> level</a:t>
                          </a:r>
                        </a:p>
                      </a:txBody>
                      <a:tcPr marL="162262" marR="162262" marT="126204" marB="126204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700">
                              <a:effectLst/>
                            </a:rPr>
                            <a:t>DRAG pulse phase corrections on the Y control channel</a:t>
                          </a:r>
                        </a:p>
                      </a:txBody>
                      <a:tcPr marL="162262" marR="162262" marT="126204" marB="126204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74173321"/>
                      </a:ext>
                    </a:extLst>
                  </a:tr>
                  <a:tr h="1031265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700" b="1" dirty="0">
                              <a:solidFill>
                                <a:schemeClr val="tx1"/>
                              </a:solidFill>
                              <a:effectLst/>
                            </a:rPr>
                            <a:t>Environmental Dephasing</a:t>
                          </a:r>
                          <a:endParaRPr lang="en-US" sz="17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162262" marR="162262" marT="126204" marB="126204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700">
                              <a:effectLst/>
                            </a:rPr>
                            <a:t>Low-frequency environmental phase drift</a:t>
                          </a:r>
                        </a:p>
                      </a:txBody>
                      <a:tcPr marL="162262" marR="162262" marT="126204" marB="126204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700">
                              <a:effectLst/>
                            </a:rPr>
                            <a:t>Active Dynamical Decoupling (CPMG) sequences during idle windows</a:t>
                          </a:r>
                        </a:p>
                      </a:txBody>
                      <a:tcPr marL="162262" marR="162262" marT="126204" marB="126204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56517956"/>
                      </a:ext>
                    </a:extLst>
                  </a:tr>
                  <a:tr h="1031265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700" b="1" dirty="0">
                              <a:solidFill>
                                <a:schemeClr val="tx1"/>
                              </a:solidFill>
                              <a:effectLst/>
                            </a:rPr>
                            <a:t>Readout Assignment Bias</a:t>
                          </a:r>
                          <a:endParaRPr lang="en-US" sz="17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162262" marR="162262" marT="126204" marB="126204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700">
                              <a:effectLst/>
                            </a:rPr>
                            <a:t>Measurement-induced bit flips at the readout resonators</a:t>
                          </a:r>
                        </a:p>
                      </a:txBody>
                      <a:tcPr marL="162262" marR="162262" marT="126204" marB="126204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700" dirty="0">
                              <a:effectLst/>
                            </a:rPr>
                            <a:t>Empirical calibration matrix inversions 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70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700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US" sz="1700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700" dirty="0">
                              <a:effectLst/>
                            </a:rPr>
                            <a:t>) via classical post-processing</a:t>
                          </a:r>
                        </a:p>
                      </a:txBody>
                      <a:tcPr marL="162262" marR="162262" marT="126204" marB="126204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2245379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712A39D8-DD60-121B-4C84-AE8CECB183E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91749278"/>
                  </p:ext>
                </p:extLst>
              </p:nvPr>
            </p:nvGraphicFramePr>
            <p:xfrm>
              <a:off x="876573" y="1382713"/>
              <a:ext cx="10438854" cy="4637087"/>
            </p:xfrm>
            <a:graphic>
              <a:graphicData uri="http://schemas.openxmlformats.org/drawingml/2006/table">
                <a:tbl>
                  <a:tblPr/>
                  <a:tblGrid>
                    <a:gridCol w="3479618">
                      <a:extLst>
                        <a:ext uri="{9D8B030D-6E8A-4147-A177-3AD203B41FA5}">
                          <a16:colId xmlns:a16="http://schemas.microsoft.com/office/drawing/2014/main" val="3374760427"/>
                        </a:ext>
                      </a:extLst>
                    </a:gridCol>
                    <a:gridCol w="3479618">
                      <a:extLst>
                        <a:ext uri="{9D8B030D-6E8A-4147-A177-3AD203B41FA5}">
                          <a16:colId xmlns:a16="http://schemas.microsoft.com/office/drawing/2014/main" val="3011714908"/>
                        </a:ext>
                      </a:extLst>
                    </a:gridCol>
                    <a:gridCol w="3479618">
                      <a:extLst>
                        <a:ext uri="{9D8B030D-6E8A-4147-A177-3AD203B41FA5}">
                          <a16:colId xmlns:a16="http://schemas.microsoft.com/office/drawing/2014/main" val="348623193"/>
                        </a:ext>
                      </a:extLst>
                    </a:gridCol>
                  </a:tblGrid>
                  <a:tr h="771646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700">
                              <a:solidFill>
                                <a:srgbClr val="60A5FA"/>
                              </a:solidFill>
                              <a:effectLst/>
                              <a:latin typeface="Merriweather" panose="00000500000000000000" pitchFamily="2" charset="0"/>
                            </a:rPr>
                            <a:t>Physical Noise Vector</a:t>
                          </a:r>
                        </a:p>
                      </a:txBody>
                      <a:tcPr marL="162262" marR="162262" marT="126204" marB="126204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F293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700">
                              <a:solidFill>
                                <a:srgbClr val="60A5FA"/>
                              </a:solidFill>
                              <a:effectLst/>
                              <a:latin typeface="Merriweather" panose="00000500000000000000" pitchFamily="2" charset="0"/>
                            </a:rPr>
                            <a:t>Underlying Mechanism</a:t>
                          </a:r>
                        </a:p>
                      </a:txBody>
                      <a:tcPr marL="162262" marR="162262" marT="126204" marB="126204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F293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700">
                              <a:solidFill>
                                <a:srgbClr val="60A5FA"/>
                              </a:solidFill>
                              <a:effectLst/>
                              <a:latin typeface="Merriweather" panose="00000500000000000000" pitchFamily="2" charset="0"/>
                            </a:rPr>
                            <a:t>Algorithmic / Pulse Control Response</a:t>
                          </a:r>
                        </a:p>
                      </a:txBody>
                      <a:tcPr marL="162262" marR="162262" marT="126204" marB="126204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F293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95204403"/>
                      </a:ext>
                    </a:extLst>
                  </a:tr>
                  <a:tr h="1031265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700" b="1" dirty="0">
                              <a:solidFill>
                                <a:schemeClr val="tx1"/>
                              </a:solidFill>
                              <a:effectLst/>
                            </a:rPr>
                            <a:t>Parasitic ZZ Crosstalk</a:t>
                          </a:r>
                          <a:endParaRPr lang="en-US" sz="17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162262" marR="162262" marT="126204" marB="126204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700">
                              <a:effectLst/>
                            </a:rPr>
                            <a:t>Always-on interaction between neighboring transmons</a:t>
                          </a:r>
                        </a:p>
                      </a:txBody>
                      <a:tcPr marL="162262" marR="162262" marT="126204" marB="126204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700">
                              <a:effectLst/>
                            </a:rPr>
                            <a:t>Differentiable pulse optimizations via JAX and cross-coupling cancellations</a:t>
                          </a:r>
                        </a:p>
                      </a:txBody>
                      <a:tcPr marL="162262" marR="162262" marT="126204" marB="126204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40816902"/>
                      </a:ext>
                    </a:extLst>
                  </a:tr>
                  <a:tr h="771646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700" b="1" dirty="0">
                              <a:solidFill>
                                <a:schemeClr val="tx1"/>
                              </a:solidFill>
                              <a:effectLst/>
                            </a:rPr>
                            <a:t>Computational Leakage</a:t>
                          </a:r>
                          <a:endParaRPr lang="en-US" sz="17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162262" marR="162262" marT="126204" marB="126204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62262" marR="162262" marT="126204" marB="126204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9825" t="-233071" r="-99825" b="-2677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700">
                              <a:effectLst/>
                            </a:rPr>
                            <a:t>DRAG pulse phase corrections on the Y control channel</a:t>
                          </a:r>
                        </a:p>
                      </a:txBody>
                      <a:tcPr marL="162262" marR="162262" marT="126204" marB="126204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74173321"/>
                      </a:ext>
                    </a:extLst>
                  </a:tr>
                  <a:tr h="1031265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700" b="1" dirty="0">
                              <a:solidFill>
                                <a:schemeClr val="tx1"/>
                              </a:solidFill>
                              <a:effectLst/>
                            </a:rPr>
                            <a:t>Environmental Dephasing</a:t>
                          </a:r>
                          <a:endParaRPr lang="en-US" sz="17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162262" marR="162262" marT="126204" marB="126204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700">
                              <a:effectLst/>
                            </a:rPr>
                            <a:t>Low-frequency environmental phase drift</a:t>
                          </a:r>
                        </a:p>
                      </a:txBody>
                      <a:tcPr marL="162262" marR="162262" marT="126204" marB="126204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700">
                              <a:effectLst/>
                            </a:rPr>
                            <a:t>Active Dynamical Decoupling (CPMG) sequences during idle windows</a:t>
                          </a:r>
                        </a:p>
                      </a:txBody>
                      <a:tcPr marL="162262" marR="162262" marT="126204" marB="126204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56517956"/>
                      </a:ext>
                    </a:extLst>
                  </a:tr>
                  <a:tr h="1031265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700" b="1" dirty="0">
                              <a:solidFill>
                                <a:schemeClr val="tx1"/>
                              </a:solidFill>
                              <a:effectLst/>
                            </a:rPr>
                            <a:t>Readout Assignment Bias</a:t>
                          </a:r>
                          <a:endParaRPr lang="en-US" sz="17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162262" marR="162262" marT="126204" marB="126204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700">
                              <a:effectLst/>
                            </a:rPr>
                            <a:t>Measurement-induced bit flips at the readout resonators</a:t>
                          </a:r>
                        </a:p>
                      </a:txBody>
                      <a:tcPr marL="162262" marR="162262" marT="126204" marB="126204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62262" marR="162262" marT="126204" marB="126204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175" t="-350888" b="-5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245379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928969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85278-9AED-EA82-88E8-790D71CB4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Many-Body Quantum Distributions &amp; Generative Born Machines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F4C058-A3C2-3E8A-C351-31CD8728F9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5325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B6F24-CC0F-C5B1-B369-10631606E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Generative Modeling Foundations: Born Rule Sampling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42886F-B389-95AE-16A4-137106897D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Unlike classical generative networks (e.g., GANs, VAEs) that rely on complex mathematical approximations to mimic data distributions, quantum platforms generate probability distributions natively through physics.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This approach harnesses the wave function's raw probability distribution to model complex patterns directly from state measurements.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42886F-B389-95AE-16A4-137106897D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22" t="-1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83900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33DD1-0FE4-0DDC-509B-8634A82AA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Transverse-Field Ising Model Target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A6F0EC-9DEA-27CE-BB55-A89FB72D98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800" dirty="0"/>
                  <a:t>To evaluate generative performance, we task our networks with learning the complex many-body ground states of a 1D Transverse-Field Ising Model (TFIM).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𝐽</m:t>
                      </m:r>
                      <m:nary>
                        <m:naryPr>
                          <m:chr m:val="∑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nary>
                      <m:r>
                        <a:rPr lang="en-US" sz="28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h</m:t>
                      </m:r>
                      <m:nary>
                        <m:naryPr>
                          <m:chr m:val="∑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800" dirty="0"/>
              </a:p>
              <a:p>
                <a:r>
                  <a:rPr lang="en-US" sz="2800" dirty="0"/>
                  <a:t>When the longitudinal coupling J balances against the transverse magnetic field h, the system undergoes a structural quantum phase transition, generating non-local correlations that are highly challenging for classical systems to emulate.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A6F0EC-9DEA-27CE-BB55-A89FB72D98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445" r="-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16137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065D3-4D3B-1B6D-93F4-B67B37BF9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Barren Plateau Wall in Variational Training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2B01B6-4964-F740-6C05-BF541ED196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As variational quantum networks grow deeper and register counts expand, optimization paths frequently run into the </a:t>
                </a:r>
                <a:r>
                  <a:rPr lang="en-US" b="1" dirty="0"/>
                  <a:t>Barren Plateau</a:t>
                </a:r>
                <a:r>
                  <a:rPr lang="en-US" dirty="0"/>
                  <a:t> problem.</a:t>
                </a:r>
              </a:p>
              <a:p>
                <a:r>
                  <a:rPr lang="en-US" dirty="0"/>
                  <a:t>The variance of the circuit gradients flattens out exponentially relative to the number of system qubits, causing optimization routines to stall: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i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begChr m:val="⟨"/>
                              <m:endChr m:val="⟩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</m:d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𝒪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2B01B6-4964-F740-6C05-BF541ED196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22" t="-1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76493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C79FE-4574-7071-C018-956D7C5BF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Bypassing Plateaus: Local Cost Functions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417A02-16FD-667A-C583-029A27D8DA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800" b="1" dirty="0"/>
                  <a:t>Global Cost Vulnerability</a:t>
                </a:r>
              </a:p>
              <a:p>
                <a:pPr lvl="1"/>
                <a:r>
                  <a:rPr lang="en-US" sz="2400" dirty="0"/>
                  <a:t>Global cost functions evaluate relationships across all system qubits simultaneously (e.g., checking total system parity: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⊗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⊗…⊗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sz="2400" dirty="0"/>
                  <a:t>). This broad focus causes gradient fields to flatten out even at shallow circuit depths.</a:t>
                </a:r>
              </a:p>
              <a:p>
                <a:r>
                  <a:rPr lang="en-US" sz="2800" b="1" dirty="0"/>
                  <a:t>Local Formulation Strategy</a:t>
                </a:r>
              </a:p>
              <a:p>
                <a:pPr lvl="1"/>
                <a:r>
                  <a:rPr lang="en-US" sz="2400" dirty="0"/>
                  <a:t>Shifting to local cost metrics restricts evaluations to adjacent pairs (e.g., checking nearest-neighbor terms: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2400" dirty="0"/>
                  <a:t>). This structural change ensures non-zero gradient paths remain viable for early training phases.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417A02-16FD-667A-C583-029A27D8DA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445" r="-1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86638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8D9FE-4CC6-E9FE-A016-ECF9C68EA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Layerwise</a:t>
            </a:r>
            <a:r>
              <a:rPr lang="en-US" dirty="0"/>
              <a:t> Initialization &amp; Identity Blocks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FE3128-20DD-E383-4745-D561DAAEB6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000" dirty="0"/>
                  <a:t>To avoid random walk initialization traps, we can structure training to expand sequentially, stabilizing gradients throughout the optimization process.</a:t>
                </a:r>
              </a:p>
              <a:p>
                <a:r>
                  <a:rPr lang="en-US" sz="2000" b="1" dirty="0"/>
                  <a:t>Identity Layer Pairing</a:t>
                </a:r>
              </a:p>
              <a:p>
                <a:r>
                  <a:rPr lang="en-US" sz="2000" dirty="0"/>
                  <a:t>We configure initial gate blocks to evaluate directly to identity transformations: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𝒲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</m:d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𝒲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†</m:t>
                        </m:r>
                      </m:sup>
                    </m:sSup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𝕀</m:t>
                    </m:r>
                  </m:oMath>
                </a14:m>
                <a:r>
                  <a:rPr lang="en-US" sz="2000" dirty="0"/>
                  <a:t>, preventing the initial state from dispersing uncontrollably across the space.</a:t>
                </a:r>
              </a:p>
              <a:p>
                <a:r>
                  <a:rPr lang="en-US" sz="2000" b="1" dirty="0"/>
                  <a:t>Sequential Growth</a:t>
                </a:r>
              </a:p>
              <a:p>
                <a:pPr lvl="1"/>
                <a:r>
                  <a:rPr lang="en-US" sz="2000" dirty="0"/>
                  <a:t>Training begins on shallow layers first. Once these early parameters stabilize, additional entangling blocks are incrementally added to the optimization loop.</a:t>
                </a:r>
              </a:p>
              <a:p>
                <a:r>
                  <a:rPr lang="en-US" sz="2000" b="1" dirty="0"/>
                  <a:t>Gradient Path Preservation</a:t>
                </a:r>
              </a:p>
              <a:p>
                <a:pPr lvl="1"/>
                <a:r>
                  <a:rPr lang="en-US" sz="2000" dirty="0"/>
                  <a:t>This controlled expansion restricts the system's early footprint to localized, high-gradient sub-regions, avoiding the flat, un-trainable expanses of the broader state space.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FE3128-20DD-E383-4745-D561DAAEB6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44" t="-788" r="-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42377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44CA1-1A70-605D-C09D-DCD1CEC29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Maximum Mean Discrepancy (MMD) Tracking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3304A8-C415-D7A0-592C-6DF852ABFA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To train a QCBM generative network without relying on unstable adversarial dynamics, we optimize the system parameters directly using the Maximum Mean Discrepancy (MMD) loss metric.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ℳℳ𝒟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This kernel-based metric assesses structural alignment between the target distribution and the generated quantum outputs across the entire sample field.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3304A8-C415-D7A0-592C-6DF852ABFA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22" t="-1840" r="-1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20197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29001-ED58-6B2D-226A-AB9186344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Generative Training Stability Summary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D82247A9-A803-BA07-848A-8AE232187C4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74491863"/>
                  </p:ext>
                </p:extLst>
              </p:nvPr>
            </p:nvGraphicFramePr>
            <p:xfrm>
              <a:off x="609600" y="1666361"/>
              <a:ext cx="10972800" cy="4069790"/>
            </p:xfrm>
            <a:graphic>
              <a:graphicData uri="http://schemas.openxmlformats.org/drawingml/2006/table">
                <a:tbl>
                  <a:tblPr/>
                  <a:tblGrid>
                    <a:gridCol w="2743200">
                      <a:extLst>
                        <a:ext uri="{9D8B030D-6E8A-4147-A177-3AD203B41FA5}">
                          <a16:colId xmlns:a16="http://schemas.microsoft.com/office/drawing/2014/main" val="2171575977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978044209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2272628850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1931696548"/>
                        </a:ext>
                      </a:extLst>
                    </a:gridCol>
                  </a:tblGrid>
                  <a:tr h="811115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800">
                              <a:solidFill>
                                <a:srgbClr val="60A5FA"/>
                              </a:solidFill>
                              <a:effectLst/>
                              <a:latin typeface="Merriweather" panose="00000500000000000000" pitchFamily="2" charset="0"/>
                            </a:rPr>
                            <a:t>Cost Configuration</a:t>
                          </a:r>
                        </a:p>
                      </a:txBody>
                      <a:tcPr marL="170562" marR="170562" marT="132659" marB="132659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F293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800">
                              <a:solidFill>
                                <a:srgbClr val="60A5FA"/>
                              </a:solidFill>
                              <a:effectLst/>
                              <a:latin typeface="Merriweather" panose="00000500000000000000" pitchFamily="2" charset="0"/>
                            </a:rPr>
                            <a:t>Initialization Strategy</a:t>
                          </a:r>
                        </a:p>
                      </a:txBody>
                      <a:tcPr marL="170562" marR="170562" marT="132659" marB="132659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F293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800">
                              <a:solidFill>
                                <a:srgbClr val="60A5FA"/>
                              </a:solidFill>
                              <a:effectLst/>
                              <a:latin typeface="Merriweather" panose="00000500000000000000" pitchFamily="2" charset="0"/>
                            </a:rPr>
                            <a:t>Gradient Scaling Behavior</a:t>
                          </a:r>
                        </a:p>
                      </a:txBody>
                      <a:tcPr marL="170562" marR="170562" marT="132659" marB="132659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F293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800">
                              <a:solidFill>
                                <a:srgbClr val="60A5FA"/>
                              </a:solidFill>
                              <a:effectLst/>
                              <a:latin typeface="Merriweather" panose="00000500000000000000" pitchFamily="2" charset="0"/>
                            </a:rPr>
                            <a:t>Convergence Status (12 Qubits)</a:t>
                          </a:r>
                        </a:p>
                      </a:txBody>
                      <a:tcPr marL="170562" marR="170562" marT="132659" marB="132659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F293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01560646"/>
                      </a:ext>
                    </a:extLst>
                  </a:tr>
                  <a:tr h="811115"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effectLst/>
                            </a:rPr>
                            <a:t>Global Metric (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1800" i="0" smtClean="0">
                                  <a:effectLst/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  <m:sSub>
                                <m:sSubPr>
                                  <m:ctrlPr>
                                    <a:rPr lang="en-US" sz="180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sz="180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800" dirty="0">
                              <a:effectLst/>
                            </a:rPr>
                            <a:t>)</a:t>
                          </a:r>
                        </a:p>
                      </a:txBody>
                      <a:tcPr marL="170562" marR="170562" marT="132659" marB="132659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800">
                              <a:effectLst/>
                            </a:rPr>
                            <a:t>Uniform Random Phase Weights</a:t>
                          </a:r>
                        </a:p>
                      </a:txBody>
                      <a:tcPr marL="170562" marR="170562" marT="132659" marB="132659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800" dirty="0">
                              <a:effectLst/>
                            </a:rPr>
                            <a:t>Exponential Decay </a:t>
                          </a:r>
                          <a:r>
                            <a:rPr lang="en-US" dirty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kern="12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∝</m:t>
                              </m:r>
                              <m:sSup>
                                <m:sSupPr>
                                  <m:ctrlPr>
                                    <a:rPr lang="en-US" sz="1800" i="1" kern="12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i="1" kern="12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sz="1800" i="1" kern="12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</m:t>
                                  </m:r>
                                  <m:r>
                                    <a:rPr lang="en-US" sz="1800" i="1" kern="12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𝑛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dirty="0"/>
                            <a:t>)</a:t>
                          </a:r>
                          <a:endParaRPr lang="en-US" sz="1800" dirty="0">
                            <a:effectLst/>
                          </a:endParaRPr>
                        </a:p>
                      </a:txBody>
                      <a:tcPr marL="170562" marR="170562" marT="132659" marB="132659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800">
                              <a:solidFill>
                                <a:srgbClr val="EF4444"/>
                              </a:solidFill>
                              <a:effectLst/>
                            </a:rPr>
                            <a:t>Failed (Stalled in Barren Plateau)</a:t>
                          </a:r>
                        </a:p>
                      </a:txBody>
                      <a:tcPr marL="170562" marR="170562" marT="132659" marB="132659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95643004"/>
                      </a:ext>
                    </a:extLst>
                  </a:tr>
                  <a:tr h="811115"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effectLst/>
                            </a:rPr>
                            <a:t>Global Metric (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1800" i="0">
                                  <a:effectLst/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800" dirty="0">
                              <a:effectLst/>
                            </a:rPr>
                            <a:t>)</a:t>
                          </a:r>
                        </a:p>
                      </a:txBody>
                      <a:tcPr marL="170562" marR="170562" marT="132659" marB="132659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800">
                              <a:effectLst/>
                            </a:rPr>
                            <a:t>Layerwise Local Step Compounding</a:t>
                          </a:r>
                        </a:p>
                      </a:txBody>
                      <a:tcPr marL="170562" marR="170562" marT="132659" marB="132659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800">
                              <a:effectLst/>
                            </a:rPr>
                            <a:t>Suppressed Gradient Paths</a:t>
                          </a:r>
                        </a:p>
                      </a:txBody>
                      <a:tcPr marL="170562" marR="170562" marT="132659" marB="132659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800">
                              <a:solidFill>
                                <a:srgbClr val="F59E0B"/>
                              </a:solidFill>
                              <a:effectLst/>
                            </a:rPr>
                            <a:t>Partial Convergence (Sub-optimal)</a:t>
                          </a:r>
                        </a:p>
                      </a:txBody>
                      <a:tcPr marL="170562" marR="170562" marT="132659" marB="132659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03118766"/>
                      </a:ext>
                    </a:extLst>
                  </a:tr>
                  <a:tr h="811115"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effectLst/>
                            </a:rPr>
                            <a:t>Local Metric (</a:t>
                          </a:r>
                          <a14:m>
                            <m:oMath xmlns:m="http://schemas.openxmlformats.org/officeDocument/2006/math"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US" sz="180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sz="1800" i="1" smtClean="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 smtClean="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US" sz="1800" i="1" smtClean="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1800" i="1" smtClean="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 smtClean="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US" sz="1800" i="1" smtClean="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1800" i="1" smtClean="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</m:e>
                              </m:nary>
                            </m:oMath>
                          </a14:m>
                          <a:r>
                            <a:rPr lang="en-US" sz="1800" dirty="0">
                              <a:effectLst/>
                            </a:rPr>
                            <a:t>)</a:t>
                          </a:r>
                        </a:p>
                      </a:txBody>
                      <a:tcPr marL="170562" marR="170562" marT="132659" marB="132659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800">
                              <a:effectLst/>
                            </a:rPr>
                            <a:t>Uniform Random Phase Weights</a:t>
                          </a:r>
                        </a:p>
                      </a:txBody>
                      <a:tcPr marL="170562" marR="170562" marT="132659" marB="132659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effectLst/>
                            </a:rPr>
                            <a:t>Polynomial Decay (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</a:rPr>
                                <m:t>∝</m:t>
                              </m:r>
                              <m:sSup>
                                <m:sSupPr>
                                  <m:ctrl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800" dirty="0">
                              <a:effectLst/>
                            </a:rPr>
                            <a:t>)</a:t>
                          </a:r>
                        </a:p>
                      </a:txBody>
                      <a:tcPr marL="170562" marR="170562" marT="132659" marB="132659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800">
                              <a:solidFill>
                                <a:srgbClr val="F59E0B"/>
                              </a:solidFill>
                              <a:effectLst/>
                            </a:rPr>
                            <a:t>Slow Convergence Rates</a:t>
                          </a:r>
                        </a:p>
                      </a:txBody>
                      <a:tcPr marL="170562" marR="170562" marT="132659" marB="132659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22193878"/>
                      </a:ext>
                    </a:extLst>
                  </a:tr>
                  <a:tr h="811115"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effectLst/>
                            </a:rPr>
                            <a:t>Local Metric (</a:t>
                          </a:r>
                          <a14:m>
                            <m:oMath xmlns:m="http://schemas.openxmlformats.org/officeDocument/2006/math"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US" sz="1800" b="1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sz="1800" b="1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1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𝒁</m:t>
                                      </m:r>
                                    </m:e>
                                    <m:sub>
                                      <m:r>
                                        <a:rPr lang="en-US" sz="1800" b="1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1800" b="1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1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𝒁</m:t>
                                      </m:r>
                                    </m:e>
                                    <m:sub>
                                      <m:r>
                                        <a:rPr lang="en-US" sz="1800" b="1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  <m:r>
                                        <a:rPr lang="en-US" sz="1800" b="1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1800" b="1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</m:nary>
                            </m:oMath>
                          </a14:m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effectLst/>
                            </a:rPr>
                            <a:t>)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170562" marR="170562" marT="132659" marB="132659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effectLst/>
                            </a:rPr>
                            <a:t>Identity Layer Pairing Blocks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170562" marR="170562" marT="132659" marB="132659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800" b="1">
                              <a:solidFill>
                                <a:srgbClr val="34D399"/>
                              </a:solidFill>
                              <a:effectLst/>
                            </a:rPr>
                            <a:t>Stable Gradient Footprint</a:t>
                          </a:r>
                        </a:p>
                      </a:txBody>
                      <a:tcPr marL="170562" marR="170562" marT="132659" marB="132659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800" b="1" dirty="0">
                              <a:solidFill>
                                <a:srgbClr val="34D399"/>
                              </a:solidFill>
                              <a:effectLst/>
                            </a:rPr>
                            <a:t>Successful Target Convergence</a:t>
                          </a:r>
                        </a:p>
                      </a:txBody>
                      <a:tcPr marL="170562" marR="170562" marT="132659" marB="132659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5364193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D82247A9-A803-BA07-848A-8AE232187C4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74491863"/>
                  </p:ext>
                </p:extLst>
              </p:nvPr>
            </p:nvGraphicFramePr>
            <p:xfrm>
              <a:off x="609600" y="1666361"/>
              <a:ext cx="10972800" cy="4069790"/>
            </p:xfrm>
            <a:graphic>
              <a:graphicData uri="http://schemas.openxmlformats.org/drawingml/2006/table">
                <a:tbl>
                  <a:tblPr/>
                  <a:tblGrid>
                    <a:gridCol w="2743200">
                      <a:extLst>
                        <a:ext uri="{9D8B030D-6E8A-4147-A177-3AD203B41FA5}">
                          <a16:colId xmlns:a16="http://schemas.microsoft.com/office/drawing/2014/main" val="2171575977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978044209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2272628850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1931696548"/>
                        </a:ext>
                      </a:extLst>
                    </a:gridCol>
                  </a:tblGrid>
                  <a:tr h="813958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800">
                              <a:solidFill>
                                <a:srgbClr val="60A5FA"/>
                              </a:solidFill>
                              <a:effectLst/>
                              <a:latin typeface="Merriweather" panose="00000500000000000000" pitchFamily="2" charset="0"/>
                            </a:rPr>
                            <a:t>Cost Configuration</a:t>
                          </a:r>
                        </a:p>
                      </a:txBody>
                      <a:tcPr marL="170562" marR="170562" marT="132659" marB="132659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F293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800">
                              <a:solidFill>
                                <a:srgbClr val="60A5FA"/>
                              </a:solidFill>
                              <a:effectLst/>
                              <a:latin typeface="Merriweather" panose="00000500000000000000" pitchFamily="2" charset="0"/>
                            </a:rPr>
                            <a:t>Initialization Strategy</a:t>
                          </a:r>
                        </a:p>
                      </a:txBody>
                      <a:tcPr marL="170562" marR="170562" marT="132659" marB="132659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F293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800">
                              <a:solidFill>
                                <a:srgbClr val="60A5FA"/>
                              </a:solidFill>
                              <a:effectLst/>
                              <a:latin typeface="Merriweather" panose="00000500000000000000" pitchFamily="2" charset="0"/>
                            </a:rPr>
                            <a:t>Gradient Scaling Behavior</a:t>
                          </a:r>
                        </a:p>
                      </a:txBody>
                      <a:tcPr marL="170562" marR="170562" marT="132659" marB="132659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F293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800">
                              <a:solidFill>
                                <a:srgbClr val="60A5FA"/>
                              </a:solidFill>
                              <a:effectLst/>
                              <a:latin typeface="Merriweather" panose="00000500000000000000" pitchFamily="2" charset="0"/>
                            </a:rPr>
                            <a:t>Convergence Status (12 Qubits)</a:t>
                          </a:r>
                        </a:p>
                      </a:txBody>
                      <a:tcPr marL="170562" marR="170562" marT="132659" marB="132659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F293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01560646"/>
                      </a:ext>
                    </a:extLst>
                  </a:tr>
                  <a:tr h="81395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70562" marR="170562" marT="132659" marB="132659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100752" r="-300222" b="-3593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800">
                              <a:effectLst/>
                            </a:rPr>
                            <a:t>Uniform Random Phase Weights</a:t>
                          </a:r>
                        </a:p>
                      </a:txBody>
                      <a:tcPr marL="170562" marR="170562" marT="132659" marB="132659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70562" marR="170562" marT="132659" marB="132659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100752" r="-100222" b="-3593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800">
                              <a:solidFill>
                                <a:srgbClr val="EF4444"/>
                              </a:solidFill>
                              <a:effectLst/>
                            </a:rPr>
                            <a:t>Failed (Stalled in Barren Plateau)</a:t>
                          </a:r>
                        </a:p>
                      </a:txBody>
                      <a:tcPr marL="170562" marR="170562" marT="132659" marB="132659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95643004"/>
                      </a:ext>
                    </a:extLst>
                  </a:tr>
                  <a:tr h="81395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70562" marR="170562" marT="132659" marB="132659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199254" r="-300222" b="-2567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800">
                              <a:effectLst/>
                            </a:rPr>
                            <a:t>Layerwise Local Step Compounding</a:t>
                          </a:r>
                        </a:p>
                      </a:txBody>
                      <a:tcPr marL="170562" marR="170562" marT="132659" marB="132659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800">
                              <a:effectLst/>
                            </a:rPr>
                            <a:t>Suppressed Gradient Paths</a:t>
                          </a:r>
                        </a:p>
                      </a:txBody>
                      <a:tcPr marL="170562" marR="170562" marT="132659" marB="132659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800">
                              <a:solidFill>
                                <a:srgbClr val="F59E0B"/>
                              </a:solidFill>
                              <a:effectLst/>
                            </a:rPr>
                            <a:t>Partial Convergence (Sub-optimal)</a:t>
                          </a:r>
                        </a:p>
                      </a:txBody>
                      <a:tcPr marL="170562" marR="170562" marT="132659" marB="132659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03118766"/>
                      </a:ext>
                    </a:extLst>
                  </a:tr>
                  <a:tr h="81395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70562" marR="170562" marT="132659" marB="132659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301504" r="-300222" b="-158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800">
                              <a:effectLst/>
                            </a:rPr>
                            <a:t>Uniform Random Phase Weights</a:t>
                          </a:r>
                        </a:p>
                      </a:txBody>
                      <a:tcPr marL="170562" marR="170562" marT="132659" marB="132659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70562" marR="170562" marT="132659" marB="132659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301504" r="-100222" b="-158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800">
                              <a:solidFill>
                                <a:srgbClr val="F59E0B"/>
                              </a:solidFill>
                              <a:effectLst/>
                            </a:rPr>
                            <a:t>Slow Convergence Rates</a:t>
                          </a:r>
                        </a:p>
                      </a:txBody>
                      <a:tcPr marL="170562" marR="170562" marT="132659" marB="132659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22193878"/>
                      </a:ext>
                    </a:extLst>
                  </a:tr>
                  <a:tr h="81395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70562" marR="170562" marT="132659" marB="132659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398507" r="-300222" b="-574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effectLst/>
                            </a:rPr>
                            <a:t>Identity Layer Pairing Blocks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170562" marR="170562" marT="132659" marB="132659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800" b="1">
                              <a:solidFill>
                                <a:srgbClr val="34D399"/>
                              </a:solidFill>
                              <a:effectLst/>
                            </a:rPr>
                            <a:t>Stable Gradient Footprint</a:t>
                          </a:r>
                        </a:p>
                      </a:txBody>
                      <a:tcPr marL="170562" marR="170562" marT="132659" marB="132659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800" b="1" dirty="0">
                              <a:solidFill>
                                <a:srgbClr val="34D399"/>
                              </a:solidFill>
                              <a:effectLst/>
                            </a:rPr>
                            <a:t>Successful Target Convergence</a:t>
                          </a:r>
                        </a:p>
                      </a:txBody>
                      <a:tcPr marL="170562" marR="170562" marT="132659" marB="132659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5364193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9519269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C1D4A-475B-71F9-0824-B83914D37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Sub-SQL Quantum Sensing &amp; Low Probability of Detection Signals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665E33-3DB8-5FDC-E29F-C8E2BCB0CD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911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72060-8996-8E2D-9580-021783FBA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Breaking Through the Standard Quantum Limit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2BF685-F862-9DC9-FC10-26B49F8687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Classical receiver architectures hit a fundamental performance floor dictated by the Standard Quantum Limit (SQL), driven by the intrinsic vacuum fluctuations of the electromagnetic field.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nor/>
                        </m:rPr>
                        <a:rPr lang="en-US" i="0">
                          <a:latin typeface="Cambria Math" panose="02040503050406030204" pitchFamily="18" charset="0"/>
                        </a:rPr>
                        <m:t>SQL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∝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Quantum-enhanced sensing bypasses this barrier, scaling sensitivity limits down toward the ultimate Heisenberg Limit (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∝1</m:t>
                    </m:r>
                    <m:r>
                      <m:rPr>
                        <m:lit/>
                      </m:rPr>
                      <a:rPr lang="en-US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).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2BF685-F862-9DC9-FC10-26B49F8687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22" t="-1840" r="-12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99209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74161-9292-0E00-6516-DDD54C774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Squeezed Vacuum States &amp; Phase Uncertainty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A34C75-A7EA-95C4-A200-102BB0A6D4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By applying non-linear optical transformations, we can distort the uniform circular uncertainty distribution of the vacuum state into an optimized ellipse.</a:t>
                </a:r>
              </a:p>
              <a:p>
                <a:r>
                  <a:rPr lang="en-US" dirty="0"/>
                  <a:t>This </a:t>
                </a:r>
                <a:r>
                  <a:rPr lang="en-US" b="1" dirty="0"/>
                  <a:t>squeezing operation</a:t>
                </a:r>
                <a:r>
                  <a:rPr lang="en-US" dirty="0"/>
                  <a:t> compresses uncertainty along one target measurement axis (e.g., phase) at the cost of amplifying variance along the orthogonal axis.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𝜉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†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A34C75-A7EA-95C4-A200-102BB0A6D4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22" t="-1840" r="-2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85994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9C2E5-6D5E-3BE1-49D0-7C54C70E3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LFM Chirp Detection at -25 dB SNR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9FEA85-8952-E332-3875-917A2A5C4B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Linear Frequency Modulated (LFM) chirp signals distribute their energy across wide frequency bands, rendering them virtually invisible to standard Fourier analysis under heavy noise conditions.</a:t>
            </a:r>
          </a:p>
          <a:p>
            <a:r>
              <a:rPr lang="en-US" sz="2400" b="1" dirty="0"/>
              <a:t>Sub-Floor Exposure</a:t>
            </a:r>
          </a:p>
          <a:p>
            <a:pPr lvl="1"/>
            <a:r>
              <a:rPr lang="en-US" sz="2000" dirty="0"/>
              <a:t>When signals are buried at </a:t>
            </a:r>
            <a:r>
              <a:rPr lang="en-US" sz="2000" b="1" dirty="0"/>
              <a:t>-25 dB SNR</a:t>
            </a:r>
            <a:r>
              <a:rPr lang="en-US" sz="2000" dirty="0"/>
              <a:t>, classical systems register only uniform white noise across the spectrum.</a:t>
            </a:r>
          </a:p>
          <a:p>
            <a:r>
              <a:rPr lang="en-US" sz="2400" b="1" dirty="0"/>
              <a:t>Quantum State Translation</a:t>
            </a:r>
          </a:p>
          <a:p>
            <a:pPr lvl="1"/>
            <a:r>
              <a:rPr lang="en-US" sz="2000" dirty="0"/>
              <a:t>Mapping the incoming analog RF traces directly onto a multi-qubit coherent phase network translates the problem into a quantum tracking domain.</a:t>
            </a:r>
          </a:p>
          <a:p>
            <a:r>
              <a:rPr lang="en-US" sz="2400" b="1" dirty="0"/>
              <a:t>Coherent Filtering</a:t>
            </a:r>
          </a:p>
          <a:p>
            <a:pPr lvl="1"/>
            <a:r>
              <a:rPr lang="en-US" sz="2000" dirty="0"/>
              <a:t>Leveraging continuous phase tracking across the register isolates the underlying chirp trajectory, pulling hidden signal trends out from the noise background.</a:t>
            </a:r>
          </a:p>
        </p:txBody>
      </p:sp>
    </p:spTree>
    <p:extLst>
      <p:ext uri="{BB962C8B-B14F-4D97-AF65-F5344CB8AC3E}">
        <p14:creationId xmlns:p14="http://schemas.microsoft.com/office/powerpoint/2010/main" val="19796117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32165-A14A-2589-F6DA-A62FDFF6A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Processing Gains in High-Dimensional Hilbert Space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61088D-C252-2FAB-82B1-8DE675EC66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As register capacity scales, the total available computational state space expands exponentially, providing immense processing advantages over classical tracking systems.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i="0" smtClean="0">
                          <a:latin typeface="Cambria Math" panose="02040503050406030204" pitchFamily="18" charset="0"/>
                        </a:rPr>
                        <m:t>Dim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ℋ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⇒24</m:t>
                      </m:r>
                      <m:r>
                        <m:rPr>
                          <m:nor/>
                        </m:rPr>
                        <a:rPr lang="en-US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>
                          <a:latin typeface="Cambria Math" panose="02040503050406030204" pitchFamily="18" charset="0"/>
                        </a:rPr>
                        <m:t>Qubits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≈16.7×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m:rPr>
                          <m:nor/>
                        </m:rPr>
                        <a:rPr lang="en-US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>
                          <a:latin typeface="Cambria Math" panose="02040503050406030204" pitchFamily="18" charset="0"/>
                        </a:rPr>
                        <m:t>States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This massive state space allows the system to evaluate millions of potential phase trajectories simultaneously, yielding immense processing gains that isolate weak signatures from chaotic environments.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61088D-C252-2FAB-82B1-8DE675EC66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22" t="-1840" r="-22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95940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36A25-9FCB-273B-F489-9FC17AFF8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Quantum Fourier Transform (QFT) Link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D5ACB2-CB14-A367-2037-1553171850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800" dirty="0"/>
                  <a:t>Extracting period properties from high-dimensional spaces can be executed efficiently using the Quantum Fourier Transform (QFT), which operates with exponential speedups over classical FFT algorithms.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𝒬ℱ𝒯</m:t>
                      </m:r>
                      <m:d>
                        <m:dPr>
                          <m:begChr m:val="|"/>
                          <m:endChr m:val="⟩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rad>
                        </m:den>
                      </m:f>
                      <m:nary>
                        <m:naryPr>
                          <m:chr m:val="∑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𝑖𝑗𝑘</m:t>
                              </m:r>
                              <m:r>
                                <m:rPr>
                                  <m:lit/>
                                </m:rPr>
                                <a:rPr lang="en-US" sz="2800" i="1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p>
                          <m:d>
                            <m:dPr>
                              <m:begChr m:val="|"/>
                              <m:endChr m:val="⟩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sz="2800" dirty="0"/>
              </a:p>
              <a:p>
                <a:r>
                  <a:rPr lang="en-US" sz="2800" dirty="0"/>
                  <a:t>This rapid phase processing decodes complex chirp modulations in a single operation, bypassing traditional time-frequency computation limits.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D5ACB2-CB14-A367-2037-1553171850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445" r="-1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28860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8ECA8-9674-7253-23DE-A48D4C8B8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Sensing Regimes &amp; Detection Boundaries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9040BC56-70AD-ECCC-2F54-50A28A80D05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19992130"/>
                  </p:ext>
                </p:extLst>
              </p:nvPr>
            </p:nvGraphicFramePr>
            <p:xfrm>
              <a:off x="1402164" y="1382714"/>
              <a:ext cx="9387672" cy="4637085"/>
            </p:xfrm>
            <a:graphic>
              <a:graphicData uri="http://schemas.openxmlformats.org/drawingml/2006/table">
                <a:tbl>
                  <a:tblPr/>
                  <a:tblGrid>
                    <a:gridCol w="2346918">
                      <a:extLst>
                        <a:ext uri="{9D8B030D-6E8A-4147-A177-3AD203B41FA5}">
                          <a16:colId xmlns:a16="http://schemas.microsoft.com/office/drawing/2014/main" val="4171813032"/>
                        </a:ext>
                      </a:extLst>
                    </a:gridCol>
                    <a:gridCol w="2346918">
                      <a:extLst>
                        <a:ext uri="{9D8B030D-6E8A-4147-A177-3AD203B41FA5}">
                          <a16:colId xmlns:a16="http://schemas.microsoft.com/office/drawing/2014/main" val="117663989"/>
                        </a:ext>
                      </a:extLst>
                    </a:gridCol>
                    <a:gridCol w="2346918">
                      <a:extLst>
                        <a:ext uri="{9D8B030D-6E8A-4147-A177-3AD203B41FA5}">
                          <a16:colId xmlns:a16="http://schemas.microsoft.com/office/drawing/2014/main" val="4290555193"/>
                        </a:ext>
                      </a:extLst>
                    </a:gridCol>
                    <a:gridCol w="2346918">
                      <a:extLst>
                        <a:ext uri="{9D8B030D-6E8A-4147-A177-3AD203B41FA5}">
                          <a16:colId xmlns:a16="http://schemas.microsoft.com/office/drawing/2014/main" val="2259811041"/>
                        </a:ext>
                      </a:extLst>
                    </a:gridCol>
                  </a:tblGrid>
                  <a:tr h="927417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500">
                              <a:solidFill>
                                <a:srgbClr val="60A5FA"/>
                              </a:solidFill>
                              <a:effectLst/>
                              <a:latin typeface="Merriweather" panose="00000500000000000000" pitchFamily="2" charset="0"/>
                            </a:rPr>
                            <a:t>Sensing Architecture</a:t>
                          </a:r>
                        </a:p>
                      </a:txBody>
                      <a:tcPr marL="145922" marR="145922" marT="113495" marB="113495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F293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500">
                              <a:solidFill>
                                <a:srgbClr val="60A5FA"/>
                              </a:solidFill>
                              <a:effectLst/>
                              <a:latin typeface="Merriweather" panose="00000500000000000000" pitchFamily="2" charset="0"/>
                            </a:rPr>
                            <a:t>Minimum Operational Threshold</a:t>
                          </a:r>
                        </a:p>
                      </a:txBody>
                      <a:tcPr marL="145922" marR="145922" marT="113495" marB="113495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F293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500">
                              <a:solidFill>
                                <a:srgbClr val="60A5FA"/>
                              </a:solidFill>
                              <a:effectLst/>
                              <a:latin typeface="Merriweather" panose="00000500000000000000" pitchFamily="2" charset="0"/>
                            </a:rPr>
                            <a:t>Core Uncertainty Profile</a:t>
                          </a:r>
                        </a:p>
                      </a:txBody>
                      <a:tcPr marL="145922" marR="145922" marT="113495" marB="113495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F293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500">
                              <a:solidFill>
                                <a:srgbClr val="60A5FA"/>
                              </a:solidFill>
                              <a:effectLst/>
                              <a:latin typeface="Merriweather" panose="00000500000000000000" pitchFamily="2" charset="0"/>
                            </a:rPr>
                            <a:t>Primary Tracking Bottleneck</a:t>
                          </a:r>
                        </a:p>
                      </a:txBody>
                      <a:tcPr marL="145922" marR="145922" marT="113495" marB="113495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F293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55004397"/>
                      </a:ext>
                    </a:extLst>
                  </a:tr>
                  <a:tr h="927417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500" b="1" dirty="0">
                              <a:solidFill>
                                <a:schemeClr val="tx1"/>
                              </a:solidFill>
                              <a:effectLst/>
                            </a:rPr>
                            <a:t>Classical Heterodyne Receiver</a:t>
                          </a:r>
                          <a:endParaRPr lang="en-US" sz="15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145922" marR="145922" marT="113495" marB="113495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500">
                              <a:effectLst/>
                            </a:rPr>
                            <a:t>-5 dB to -10 dB SNR</a:t>
                          </a:r>
                        </a:p>
                      </a:txBody>
                      <a:tcPr marL="145922" marR="145922" marT="113495" marB="113495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500">
                              <a:effectLst/>
                            </a:rPr>
                            <a:t>Standard Symmetric Thermal Noise Floor</a:t>
                          </a:r>
                        </a:p>
                      </a:txBody>
                      <a:tcPr marL="145922" marR="145922" marT="113495" marB="113495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effectLst/>
                            </a:rPr>
                            <a:t>Limited by the Standard Quantum Limit (</a:t>
                          </a:r>
                          <a14:m>
                            <m:oMath xmlns:m="http://schemas.openxmlformats.org/officeDocument/2006/math">
                              <m:r>
                                <a:rPr lang="en-US" sz="1500" i="1" smtClean="0">
                                  <a:effectLst/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lit/>
                                </m:rPr>
                                <a:rPr lang="en-US" sz="1500" i="1" smtClean="0">
                                  <a:effectLst/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150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50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</m:rad>
                            </m:oMath>
                          </a14:m>
                          <a:r>
                            <a:rPr lang="en-US" sz="1500" dirty="0">
                              <a:effectLst/>
                            </a:rPr>
                            <a:t>)</a:t>
                          </a:r>
                        </a:p>
                      </a:txBody>
                      <a:tcPr marL="145922" marR="145922" marT="113495" marB="113495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77090974"/>
                      </a:ext>
                    </a:extLst>
                  </a:tr>
                  <a:tr h="927417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500" b="1" dirty="0">
                              <a:solidFill>
                                <a:schemeClr val="tx1"/>
                              </a:solidFill>
                              <a:effectLst/>
                            </a:rPr>
                            <a:t>Basic Phase-Squeezed System</a:t>
                          </a:r>
                          <a:endParaRPr lang="en-US" sz="15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145922" marR="145922" marT="113495" marB="113495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500">
                              <a:effectLst/>
                            </a:rPr>
                            <a:t>-15 dB SNR Limit</a:t>
                          </a:r>
                        </a:p>
                      </a:txBody>
                      <a:tcPr marL="145922" marR="145922" marT="113495" marB="113495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500">
                              <a:effectLst/>
                            </a:rPr>
                            <a:t>Asymmetric Phase Compression Ellipse</a:t>
                          </a:r>
                        </a:p>
                      </a:txBody>
                      <a:tcPr marL="145922" marR="145922" marT="113495" marB="113495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500">
                              <a:effectLst/>
                            </a:rPr>
                            <a:t>Optical alignment drift and physical photon insertion losses</a:t>
                          </a:r>
                        </a:p>
                      </a:txBody>
                      <a:tcPr marL="145922" marR="145922" marT="113495" marB="113495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14307735"/>
                      </a:ext>
                    </a:extLst>
                  </a:tr>
                  <a:tr h="927417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500" b="1" dirty="0">
                              <a:solidFill>
                                <a:schemeClr val="tx1"/>
                              </a:solidFill>
                              <a:effectLst/>
                            </a:rPr>
                            <a:t>Multi-Qubit Phase Tracker</a:t>
                          </a:r>
                          <a:endParaRPr lang="en-US" sz="15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145922" marR="145922" marT="113495" marB="113495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500">
                              <a:effectLst/>
                            </a:rPr>
                            <a:t>-20 dB SNR Limit</a:t>
                          </a:r>
                        </a:p>
                      </a:txBody>
                      <a:tcPr marL="145922" marR="145922" marT="113495" marB="113495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500">
                              <a:effectLst/>
                            </a:rPr>
                            <a:t>Distributed Multi-Register Superposition Space</a:t>
                          </a:r>
                        </a:p>
                      </a:txBody>
                      <a:tcPr marL="145922" marR="145922" marT="113495" marB="113495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effectLst/>
                            </a:rPr>
                            <a:t>Register dephasing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50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50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150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500" dirty="0">
                              <a:effectLst/>
                            </a:rPr>
                            <a:t>) constraints during sampling</a:t>
                          </a:r>
                        </a:p>
                      </a:txBody>
                      <a:tcPr marL="145922" marR="145922" marT="113495" marB="113495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98650533"/>
                      </a:ext>
                    </a:extLst>
                  </a:tr>
                  <a:tr h="927417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500" b="1" dirty="0">
                              <a:solidFill>
                                <a:schemeClr val="tx1"/>
                              </a:solidFill>
                              <a:effectLst/>
                            </a:rPr>
                            <a:t>High-Dim QFT Squeezed Array</a:t>
                          </a:r>
                          <a:endParaRPr lang="en-US" sz="15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145922" marR="145922" marT="113495" marB="113495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500" b="1">
                              <a:solidFill>
                                <a:srgbClr val="34D399"/>
                              </a:solidFill>
                              <a:effectLst/>
                            </a:rPr>
                            <a:t>-25 dB to -30 dB SNR Target</a:t>
                          </a:r>
                        </a:p>
                      </a:txBody>
                      <a:tcPr marL="145922" marR="145922" marT="113495" marB="113495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b="1" dirty="0">
                              <a:solidFill>
                                <a:srgbClr val="34D399"/>
                              </a:solidFill>
                              <a:effectLst/>
                            </a:rPr>
                            <a:t>Heisenberg-Scaled Phase Map (</a:t>
                          </a:r>
                          <a14:m>
                            <m:oMath xmlns:m="http://schemas.openxmlformats.org/officeDocument/2006/math">
                              <m:r>
                                <a:rPr lang="en-US" sz="1500" b="1" i="1" smtClean="0">
                                  <a:solidFill>
                                    <a:srgbClr val="34D399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∝</m:t>
                              </m:r>
                              <m:r>
                                <a:rPr lang="en-US" sz="1500" b="1" i="1" smtClean="0">
                                  <a:solidFill>
                                    <a:srgbClr val="34D399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m:rPr>
                                  <m:lit/>
                                </m:rPr>
                                <a:rPr lang="en-US" sz="1500" b="1" i="1" smtClean="0">
                                  <a:solidFill>
                                    <a:srgbClr val="34D399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sz="1500" b="1" i="1" smtClean="0">
                                  <a:solidFill>
                                    <a:srgbClr val="34D399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oMath>
                          </a14:m>
                          <a:r>
                            <a:rPr lang="en-US" sz="1500" b="1" dirty="0">
                              <a:solidFill>
                                <a:srgbClr val="34D399"/>
                              </a:solidFill>
                              <a:effectLst/>
                            </a:rPr>
                            <a:t>)</a:t>
                          </a:r>
                        </a:p>
                      </a:txBody>
                      <a:tcPr marL="145922" marR="145922" marT="113495" marB="113495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500" dirty="0">
                              <a:solidFill>
                                <a:srgbClr val="60A5FA"/>
                              </a:solidFill>
                              <a:effectLst/>
                            </a:rPr>
                            <a:t>Demands high-fidelity multi-qubit entangling control sequences</a:t>
                          </a:r>
                        </a:p>
                      </a:txBody>
                      <a:tcPr marL="145922" marR="145922" marT="113495" marB="113495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162184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9040BC56-70AD-ECCC-2F54-50A28A80D05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19992130"/>
                  </p:ext>
                </p:extLst>
              </p:nvPr>
            </p:nvGraphicFramePr>
            <p:xfrm>
              <a:off x="1402164" y="1382714"/>
              <a:ext cx="9387672" cy="4637085"/>
            </p:xfrm>
            <a:graphic>
              <a:graphicData uri="http://schemas.openxmlformats.org/drawingml/2006/table">
                <a:tbl>
                  <a:tblPr/>
                  <a:tblGrid>
                    <a:gridCol w="2346918">
                      <a:extLst>
                        <a:ext uri="{9D8B030D-6E8A-4147-A177-3AD203B41FA5}">
                          <a16:colId xmlns:a16="http://schemas.microsoft.com/office/drawing/2014/main" val="4171813032"/>
                        </a:ext>
                      </a:extLst>
                    </a:gridCol>
                    <a:gridCol w="2346918">
                      <a:extLst>
                        <a:ext uri="{9D8B030D-6E8A-4147-A177-3AD203B41FA5}">
                          <a16:colId xmlns:a16="http://schemas.microsoft.com/office/drawing/2014/main" val="117663989"/>
                        </a:ext>
                      </a:extLst>
                    </a:gridCol>
                    <a:gridCol w="2346918">
                      <a:extLst>
                        <a:ext uri="{9D8B030D-6E8A-4147-A177-3AD203B41FA5}">
                          <a16:colId xmlns:a16="http://schemas.microsoft.com/office/drawing/2014/main" val="4290555193"/>
                        </a:ext>
                      </a:extLst>
                    </a:gridCol>
                    <a:gridCol w="2346918">
                      <a:extLst>
                        <a:ext uri="{9D8B030D-6E8A-4147-A177-3AD203B41FA5}">
                          <a16:colId xmlns:a16="http://schemas.microsoft.com/office/drawing/2014/main" val="2259811041"/>
                        </a:ext>
                      </a:extLst>
                    </a:gridCol>
                  </a:tblGrid>
                  <a:tr h="927417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500">
                              <a:solidFill>
                                <a:srgbClr val="60A5FA"/>
                              </a:solidFill>
                              <a:effectLst/>
                              <a:latin typeface="Merriweather" panose="00000500000000000000" pitchFamily="2" charset="0"/>
                            </a:rPr>
                            <a:t>Sensing Architecture</a:t>
                          </a:r>
                        </a:p>
                      </a:txBody>
                      <a:tcPr marL="145922" marR="145922" marT="113495" marB="113495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F293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500">
                              <a:solidFill>
                                <a:srgbClr val="60A5FA"/>
                              </a:solidFill>
                              <a:effectLst/>
                              <a:latin typeface="Merriweather" panose="00000500000000000000" pitchFamily="2" charset="0"/>
                            </a:rPr>
                            <a:t>Minimum Operational Threshold</a:t>
                          </a:r>
                        </a:p>
                      </a:txBody>
                      <a:tcPr marL="145922" marR="145922" marT="113495" marB="113495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F293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500">
                              <a:solidFill>
                                <a:srgbClr val="60A5FA"/>
                              </a:solidFill>
                              <a:effectLst/>
                              <a:latin typeface="Merriweather" panose="00000500000000000000" pitchFamily="2" charset="0"/>
                            </a:rPr>
                            <a:t>Core Uncertainty Profile</a:t>
                          </a:r>
                        </a:p>
                      </a:txBody>
                      <a:tcPr marL="145922" marR="145922" marT="113495" marB="113495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F293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500">
                              <a:solidFill>
                                <a:srgbClr val="60A5FA"/>
                              </a:solidFill>
                              <a:effectLst/>
                              <a:latin typeface="Merriweather" panose="00000500000000000000" pitchFamily="2" charset="0"/>
                            </a:rPr>
                            <a:t>Primary Tracking Bottleneck</a:t>
                          </a:r>
                        </a:p>
                      </a:txBody>
                      <a:tcPr marL="145922" marR="145922" marT="113495" marB="113495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F293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55004397"/>
                      </a:ext>
                    </a:extLst>
                  </a:tr>
                  <a:tr h="927417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500" b="1" dirty="0">
                              <a:solidFill>
                                <a:schemeClr val="tx1"/>
                              </a:solidFill>
                              <a:effectLst/>
                            </a:rPr>
                            <a:t>Classical Heterodyne Receiver</a:t>
                          </a:r>
                          <a:endParaRPr lang="en-US" sz="15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145922" marR="145922" marT="113495" marB="113495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500">
                              <a:effectLst/>
                            </a:rPr>
                            <a:t>-5 dB to -10 dB SNR</a:t>
                          </a:r>
                        </a:p>
                      </a:txBody>
                      <a:tcPr marL="145922" marR="145922" marT="113495" marB="113495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500">
                              <a:effectLst/>
                            </a:rPr>
                            <a:t>Standard Symmetric Thermal Noise Floor</a:t>
                          </a:r>
                        </a:p>
                      </a:txBody>
                      <a:tcPr marL="145922" marR="145922" marT="113495" marB="113495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45922" marR="145922" marT="113495" marB="113495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000" t="-99346" r="-260" b="-2993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77090974"/>
                      </a:ext>
                    </a:extLst>
                  </a:tr>
                  <a:tr h="927417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500" b="1" dirty="0">
                              <a:solidFill>
                                <a:schemeClr val="tx1"/>
                              </a:solidFill>
                              <a:effectLst/>
                            </a:rPr>
                            <a:t>Basic Phase-Squeezed System</a:t>
                          </a:r>
                          <a:endParaRPr lang="en-US" sz="15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145922" marR="145922" marT="113495" marB="113495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500">
                              <a:effectLst/>
                            </a:rPr>
                            <a:t>-15 dB SNR Limit</a:t>
                          </a:r>
                        </a:p>
                      </a:txBody>
                      <a:tcPr marL="145922" marR="145922" marT="113495" marB="113495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500">
                              <a:effectLst/>
                            </a:rPr>
                            <a:t>Asymmetric Phase Compression Ellipse</a:t>
                          </a:r>
                        </a:p>
                      </a:txBody>
                      <a:tcPr marL="145922" marR="145922" marT="113495" marB="113495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500">
                              <a:effectLst/>
                            </a:rPr>
                            <a:t>Optical alignment drift and physical photon insertion losses</a:t>
                          </a:r>
                        </a:p>
                      </a:txBody>
                      <a:tcPr marL="145922" marR="145922" marT="113495" marB="113495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14307735"/>
                      </a:ext>
                    </a:extLst>
                  </a:tr>
                  <a:tr h="927417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500" b="1" dirty="0">
                              <a:solidFill>
                                <a:schemeClr val="tx1"/>
                              </a:solidFill>
                              <a:effectLst/>
                            </a:rPr>
                            <a:t>Multi-Qubit Phase Tracker</a:t>
                          </a:r>
                          <a:endParaRPr lang="en-US" sz="15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145922" marR="145922" marT="113495" marB="113495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500">
                              <a:effectLst/>
                            </a:rPr>
                            <a:t>-20 dB SNR Limit</a:t>
                          </a:r>
                        </a:p>
                      </a:txBody>
                      <a:tcPr marL="145922" marR="145922" marT="113495" marB="113495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500">
                              <a:effectLst/>
                            </a:rPr>
                            <a:t>Distributed Multi-Register Superposition Space</a:t>
                          </a:r>
                        </a:p>
                      </a:txBody>
                      <a:tcPr marL="145922" marR="145922" marT="113495" marB="113495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45922" marR="145922" marT="113495" marB="113495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000" t="-298693" r="-260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98650533"/>
                      </a:ext>
                    </a:extLst>
                  </a:tr>
                  <a:tr h="927417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500" b="1" dirty="0">
                              <a:solidFill>
                                <a:schemeClr val="tx1"/>
                              </a:solidFill>
                              <a:effectLst/>
                            </a:rPr>
                            <a:t>High-Dim QFT Squeezed Array</a:t>
                          </a:r>
                          <a:endParaRPr lang="en-US" sz="15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145922" marR="145922" marT="113495" marB="113495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500" b="1">
                              <a:solidFill>
                                <a:srgbClr val="34D399"/>
                              </a:solidFill>
                              <a:effectLst/>
                            </a:rPr>
                            <a:t>-25 dB to -30 dB SNR Target</a:t>
                          </a:r>
                        </a:p>
                      </a:txBody>
                      <a:tcPr marL="145922" marR="145922" marT="113495" marB="113495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45922" marR="145922" marT="113495" marB="113495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401316" r="-100260" b="-6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500" dirty="0">
                              <a:solidFill>
                                <a:srgbClr val="60A5FA"/>
                              </a:solidFill>
                              <a:effectLst/>
                            </a:rPr>
                            <a:t>Demands high-fidelity multi-qubit entangling control sequences</a:t>
                          </a:r>
                        </a:p>
                      </a:txBody>
                      <a:tcPr marL="145922" marR="145922" marT="113495" marB="113495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162184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F6B3F50A-AAEE-9686-AE35-B1098249FCD2}"/>
              </a:ext>
            </a:extLst>
          </p:cNvPr>
          <p:cNvSpPr txBox="1"/>
          <p:nvPr/>
        </p:nvSpPr>
        <p:spPr>
          <a:xfrm>
            <a:off x="3218770" y="6110292"/>
            <a:ext cx="60946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0" i="0" dirty="0">
                <a:effectLst/>
                <a:latin typeface="DM Sans" pitchFamily="2" charset="0"/>
              </a:rPr>
              <a:t>A structural comparison highlighting performance boundaries across evaluated sensing configurations:</a:t>
            </a:r>
          </a:p>
        </p:txBody>
      </p:sp>
    </p:spTree>
    <p:extLst>
      <p:ext uri="{BB962C8B-B14F-4D97-AF65-F5344CB8AC3E}">
        <p14:creationId xmlns:p14="http://schemas.microsoft.com/office/powerpoint/2010/main" val="13620054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ADF06-96F5-4C2D-3C0C-65EDBB0F9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Advanced QML: Graphs, Attention &amp; Quantum Autoencoders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DAFD70-FCD4-CEAC-D3B3-5DB797ED34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3215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22857-A657-213E-5E2A-CAED5FDEE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Quantum Graph Neural Networks (QGNN)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96C59-C674-0E5F-B9E8-1C3A6A8039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Physical distribution systems, such as electrical power grids, do not arrange themselves in flat, linear sequences; instead, they operate as complex, interconnected topologies.</a:t>
            </a:r>
          </a:p>
          <a:p>
            <a:r>
              <a:rPr lang="en-US" b="1" dirty="0"/>
              <a:t>Quantum Graph Neural Networks (QGNN)</a:t>
            </a:r>
            <a:r>
              <a:rPr lang="en-US" dirty="0"/>
              <a:t> address this by mapping physical grid nodes directly onto specific qubit positions within the processor layout.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95561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35957-33F7-226C-784C-C8F8FAED0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Quantum Kernel Self-Attention Mechanisms (QKSAN)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6F5BBD-55FA-0937-5134-C7C2ED992D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800" dirty="0"/>
                  <a:t>To isolate critical anomalies hidden within extended time-series data streams, we deploy a quantum adaptation of the Transformer attention mechanism.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i="0" smtClean="0">
                          <a:latin typeface="Cambria Math" panose="02040503050406030204" pitchFamily="18" charset="0"/>
                        </a:rPr>
                        <m:t>Attention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800" i="0">
                          <a:latin typeface="Cambria Math" panose="02040503050406030204" pitchFamily="18" charset="0"/>
                        </a:rPr>
                        <m:t>Softmax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𝒦</m:t>
                              </m:r>
                              <m:d>
                                <m:d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</m:d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rad>
                            </m:den>
                          </m:f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2800" dirty="0"/>
              </a:p>
              <a:p>
                <a:r>
                  <a:rPr lang="en-US" sz="2800" dirty="0"/>
                  <a:t>Rather than relying on classical dot-products, similarity matrices are constructed by measuring quantum kernels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</a:rPr>
                      <m:t>𝒦</m:t>
                    </m:r>
                    <m:d>
                      <m:d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80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280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sz="280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⟨"/>
                                <m:endChr m:val="⟩"/>
                                <m:ctrlP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  <m:d>
                                  <m:dPr>
                                    <m:ctrlPr>
                                      <a:rPr lang="en-US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8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i="1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sz="280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  <m:d>
                                  <m:dPr>
                                    <m:ctrlPr>
                                      <a:rPr lang="en-US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8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en-US" sz="2800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</m:d>
                      </m:e>
                      <m:sup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800" dirty="0"/>
                  <a:t>directly inside the high-dimensional Hilbert space.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6F5BBD-55FA-0937-5134-C7C2ED992D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4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128717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D476E-5807-44E7-F6E4-E355F6E69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Quantum Autoencoders (QAE) for State Compression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13F4F3-F8DA-421C-439C-BA67DA05BD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High-dimensional quantum states frequently capture considerable environmental noise. Quantum Autoencoders clean these states by compressing input vectors through a restricted latent qubit bottleneck.</a:t>
                </a:r>
              </a:p>
              <a:p>
                <a:r>
                  <a:rPr lang="en-US" dirty="0"/>
                  <a:t>The network maps the core input states into a compact latent subspace while isolating high-entropy noise onto auxiliary "trash" qubits.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acc>
                                <m:accPr>
                                  <m:chr m:val="⃗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acc>
                            </m:lim>
                          </m:limLow>
                        </m:fName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Tr</m:t>
                                      </m:r>
                                    </m:e>
                                    <m:sub>
                                      <m:r>
                                        <m:rPr>
                                          <m:nor/>
                                        </m:rP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latent</m:t>
                                      </m:r>
                                    </m:sub>
                                  </m:sSub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𝒰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𝜌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nor/>
                                            </m:rPr>
                                            <a:rPr lang="en-US" i="0">
                                              <a:latin typeface="Cambria Math" panose="02040503050406030204" pitchFamily="18" charset="0"/>
                                            </a:rPr>
                                            <m:t>in</m:t>
                                          </m:r>
                                        </m:sub>
                                      </m:sSub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𝒰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†</m:t>
                                          </m:r>
                                        </m:sup>
                                      </m:sSup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</m:d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13F4F3-F8DA-421C-439C-BA67DA05BD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22" t="-1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C5B51D30-A2BF-F790-DE6C-2603D21D165C}"/>
              </a:ext>
            </a:extLst>
          </p:cNvPr>
          <p:cNvSpPr txBox="1"/>
          <p:nvPr/>
        </p:nvSpPr>
        <p:spPr>
          <a:xfrm>
            <a:off x="4688342" y="5650468"/>
            <a:ext cx="26431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en-US" b="1" i="0" dirty="0">
                <a:solidFill>
                  <a:srgbClr val="60A5FA"/>
                </a:solidFill>
                <a:effectLst/>
                <a:latin typeface="Merriweather" panose="00000500000000000000" pitchFamily="2" charset="0"/>
              </a:rPr>
              <a:t>Optimization Target</a:t>
            </a:r>
          </a:p>
        </p:txBody>
      </p:sp>
    </p:spTree>
    <p:extLst>
      <p:ext uri="{BB962C8B-B14F-4D97-AF65-F5344CB8AC3E}">
        <p14:creationId xmlns:p14="http://schemas.microsoft.com/office/powerpoint/2010/main" val="368067528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EAEC7-047B-C0F6-D8F0-2DC3F0943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Verification Mechanics via the SWAP Test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3B16BC-BCA6-9135-755F-AC1E92B7B4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Reconstructing complex quantum states using classical Tomography scales exponentially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lang="en-US" dirty="0"/>
                  <a:t>), creating a major bottleneck for verification routines.</a:t>
                </a:r>
              </a:p>
              <a:p>
                <a:r>
                  <a:rPr lang="en-US" dirty="0"/>
                  <a:t>We bypass this classical computational wall by deploying an auxiliary SWAP Test routine to measure state overlap directly on the hardware.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3B16BC-BCA6-9135-755F-AC1E92B7B4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22" t="-1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727764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06ED0-0667-D811-7273-C85B7B2AD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Architectural Footprints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EAEA0A97-D447-1D83-8550-D4C47DF40C0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94052219"/>
                  </p:ext>
                </p:extLst>
              </p:nvPr>
            </p:nvGraphicFramePr>
            <p:xfrm>
              <a:off x="2018124" y="1382713"/>
              <a:ext cx="8155752" cy="4637087"/>
            </p:xfrm>
            <a:graphic>
              <a:graphicData uri="http://schemas.openxmlformats.org/drawingml/2006/table">
                <a:tbl>
                  <a:tblPr/>
                  <a:tblGrid>
                    <a:gridCol w="2038938">
                      <a:extLst>
                        <a:ext uri="{9D8B030D-6E8A-4147-A177-3AD203B41FA5}">
                          <a16:colId xmlns:a16="http://schemas.microsoft.com/office/drawing/2014/main" val="4293173516"/>
                        </a:ext>
                      </a:extLst>
                    </a:gridCol>
                    <a:gridCol w="2038938">
                      <a:extLst>
                        <a:ext uri="{9D8B030D-6E8A-4147-A177-3AD203B41FA5}">
                          <a16:colId xmlns:a16="http://schemas.microsoft.com/office/drawing/2014/main" val="2930905544"/>
                        </a:ext>
                      </a:extLst>
                    </a:gridCol>
                    <a:gridCol w="2038938">
                      <a:extLst>
                        <a:ext uri="{9D8B030D-6E8A-4147-A177-3AD203B41FA5}">
                          <a16:colId xmlns:a16="http://schemas.microsoft.com/office/drawing/2014/main" val="2727493144"/>
                        </a:ext>
                      </a:extLst>
                    </a:gridCol>
                    <a:gridCol w="2038938">
                      <a:extLst>
                        <a:ext uri="{9D8B030D-6E8A-4147-A177-3AD203B41FA5}">
                          <a16:colId xmlns:a16="http://schemas.microsoft.com/office/drawing/2014/main" val="3345594116"/>
                        </a:ext>
                      </a:extLst>
                    </a:gridCol>
                  </a:tblGrid>
                  <a:tr h="602878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300">
                              <a:solidFill>
                                <a:srgbClr val="60A5FA"/>
                              </a:solidFill>
                              <a:effectLst/>
                              <a:latin typeface="Merriweather" panose="00000500000000000000" pitchFamily="2" charset="0"/>
                            </a:rPr>
                            <a:t>Architecture</a:t>
                          </a:r>
                        </a:p>
                      </a:txBody>
                      <a:tcPr marL="126773" marR="126773" marT="98601" marB="98601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F293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300">
                              <a:solidFill>
                                <a:srgbClr val="60A5FA"/>
                              </a:solidFill>
                              <a:effectLst/>
                              <a:latin typeface="Merriweather" panose="00000500000000000000" pitchFamily="2" charset="0"/>
                            </a:rPr>
                            <a:t>Data Layout Mapping</a:t>
                          </a:r>
                        </a:p>
                      </a:txBody>
                      <a:tcPr marL="126773" marR="126773" marT="98601" marB="98601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F293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300">
                              <a:solidFill>
                                <a:srgbClr val="60A5FA"/>
                              </a:solidFill>
                              <a:effectLst/>
                              <a:latin typeface="Merriweather" panose="00000500000000000000" pitchFamily="2" charset="0"/>
                            </a:rPr>
                            <a:t>Core Processing Objective</a:t>
                          </a:r>
                        </a:p>
                      </a:txBody>
                      <a:tcPr marL="126773" marR="126773" marT="98601" marB="98601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F293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300">
                              <a:solidFill>
                                <a:srgbClr val="60A5FA"/>
                              </a:solidFill>
                              <a:effectLst/>
                              <a:latin typeface="Merriweather" panose="00000500000000000000" pitchFamily="2" charset="0"/>
                            </a:rPr>
                            <a:t>Primary Hardware Benefit</a:t>
                          </a:r>
                        </a:p>
                      </a:txBody>
                      <a:tcPr marL="126773" marR="126773" marT="98601" marB="98601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F293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26536503"/>
                      </a:ext>
                    </a:extLst>
                  </a:tr>
                  <a:tr h="1008552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300" b="1" dirty="0">
                              <a:solidFill>
                                <a:schemeClr val="tx1"/>
                              </a:solidFill>
                              <a:effectLst/>
                            </a:rPr>
                            <a:t>QGNN Matrix</a:t>
                          </a:r>
                          <a:endParaRPr lang="en-US" sz="13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126773" marR="126773" marT="98601" marB="98601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300">
                              <a:effectLst/>
                            </a:rPr>
                            <a:t>Non-Euclidean Graph Topologies</a:t>
                          </a:r>
                        </a:p>
                      </a:txBody>
                      <a:tcPr marL="126773" marR="126773" marT="98601" marB="98601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300">
                              <a:effectLst/>
                            </a:rPr>
                            <a:t>Tracks spatial dependencies across distributed grid nodes</a:t>
                          </a:r>
                        </a:p>
                      </a:txBody>
                      <a:tcPr marL="126773" marR="126773" marT="98601" marB="98601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300">
                              <a:effectLst/>
                            </a:rPr>
                            <a:t>Saves gate overhead by matching layout configurations directly to graph edges</a:t>
                          </a:r>
                        </a:p>
                      </a:txBody>
                      <a:tcPr marL="126773" marR="126773" marT="98601" marB="98601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40409636"/>
                      </a:ext>
                    </a:extLst>
                  </a:tr>
                  <a:tr h="1008552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300" b="1" dirty="0">
                              <a:solidFill>
                                <a:schemeClr val="tx1"/>
                              </a:solidFill>
                              <a:effectLst/>
                            </a:rPr>
                            <a:t>QKSAN Attention</a:t>
                          </a:r>
                          <a:endParaRPr lang="en-US" sz="13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126773" marR="126773" marT="98601" marB="98601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300">
                              <a:effectLst/>
                            </a:rPr>
                            <a:t>Sequential Vector Time-Series Streams</a:t>
                          </a:r>
                        </a:p>
                      </a:txBody>
                      <a:tcPr marL="126773" marR="126773" marT="98601" marB="98601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300">
                              <a:effectLst/>
                            </a:rPr>
                            <a:t>Isolates complex, long-range temporal anomalies</a:t>
                          </a:r>
                        </a:p>
                      </a:txBody>
                      <a:tcPr marL="126773" marR="126773" marT="98601" marB="98601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300">
                              <a:effectLst/>
                            </a:rPr>
                            <a:t>Evaluates high-dimensional similarity metrics without classical degradation</a:t>
                          </a:r>
                        </a:p>
                      </a:txBody>
                      <a:tcPr marL="126773" marR="126773" marT="98601" marB="98601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93401090"/>
                      </a:ext>
                    </a:extLst>
                  </a:tr>
                  <a:tr h="805715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300" b="1">
                              <a:solidFill>
                                <a:schemeClr val="tx1"/>
                              </a:solidFill>
                              <a:effectLst/>
                            </a:rPr>
                            <a:t>QAE Denoising</a:t>
                          </a:r>
                          <a:endParaRPr lang="en-US" sz="130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126773" marR="126773" marT="98601" marB="98601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>
                              <a:effectLst/>
                            </a:rPr>
                            <a:t>High-Entropy Density Matrices (</a:t>
                          </a:r>
                          <a14:m>
                            <m:oMath xmlns:m="http://schemas.openxmlformats.org/officeDocument/2006/math">
                              <m:r>
                                <a:rPr lang="en-US" sz="1300" i="1" smtClean="0">
                                  <a:effectLst/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oMath>
                          </a14:m>
                          <a:r>
                            <a:rPr lang="en-US" sz="1300" dirty="0">
                              <a:effectLst/>
                            </a:rPr>
                            <a:t>)</a:t>
                          </a:r>
                        </a:p>
                      </a:txBody>
                      <a:tcPr marL="126773" marR="126773" marT="98601" marB="98601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300">
                              <a:effectLst/>
                            </a:rPr>
                            <a:t>Compresses states through latent registers to strip out noise</a:t>
                          </a:r>
                        </a:p>
                      </a:txBody>
                      <a:tcPr marL="126773" marR="126773" marT="98601" marB="98601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300">
                              <a:effectLst/>
                            </a:rPr>
                            <a:t>Purges environmental error components into auxiliary trash channels</a:t>
                          </a:r>
                        </a:p>
                      </a:txBody>
                      <a:tcPr marL="126773" marR="126773" marT="98601" marB="98601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63557571"/>
                      </a:ext>
                    </a:extLst>
                  </a:tr>
                  <a:tr h="121139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300" b="1" dirty="0">
                              <a:solidFill>
                                <a:schemeClr val="tx1"/>
                              </a:solidFill>
                              <a:effectLst/>
                            </a:rPr>
                            <a:t>SWAP Verify</a:t>
                          </a:r>
                          <a:endParaRPr lang="en-US" sz="13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126773" marR="126773" marT="98601" marB="98601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>
                              <a:effectLst/>
                            </a:rPr>
                            <a:t>Dual Multi-Qubit Registers (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|"/>
                                  <m:endChr m:val="⟩"/>
                                  <m:ctrlPr>
                                    <a:rPr lang="en-US" sz="130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30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</m:d>
                              <m:r>
                                <a:rPr lang="en-US" sz="1300" i="1" smtClean="0">
                                  <a:effectLst/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⟩"/>
                                  <m:ctrlPr>
                                    <a:rPr lang="en-US" sz="130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30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300" dirty="0">
                              <a:effectLst/>
                            </a:rPr>
                            <a:t>)</a:t>
                          </a:r>
                        </a:p>
                      </a:txBody>
                      <a:tcPr marL="126773" marR="126773" marT="98601" marB="98601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300">
                              <a:effectLst/>
                            </a:rPr>
                            <a:t>Directly measures state overlap metrics</a:t>
                          </a:r>
                        </a:p>
                      </a:txBody>
                      <a:tcPr marL="126773" marR="126773" marT="98601" marB="98601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>
                              <a:effectLst/>
                            </a:rPr>
                            <a:t>Bypasses exponential classical Tomography scaling walls (</a:t>
                          </a:r>
                          <a14:m>
                            <m:oMath xmlns:m="http://schemas.openxmlformats.org/officeDocument/2006/math">
                              <m:r>
                                <a:rPr lang="en-US" sz="1300" i="1" smtClean="0">
                                  <a:effectLst/>
                                  <a:latin typeface="Cambria Math" panose="02040503050406030204" pitchFamily="18" charset="0"/>
                                </a:rPr>
                                <m:t>𝒪</m:t>
                              </m:r>
                              <m:d>
                                <m:dPr>
                                  <m:ctrlPr>
                                    <a:rPr lang="en-US" sz="130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30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300" dirty="0">
                              <a:effectLst/>
                            </a:rPr>
                            <a:t> complexity)</a:t>
                          </a:r>
                        </a:p>
                      </a:txBody>
                      <a:tcPr marL="126773" marR="126773" marT="98601" marB="98601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8129198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EAEA0A97-D447-1D83-8550-D4C47DF40C0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94052219"/>
                  </p:ext>
                </p:extLst>
              </p:nvPr>
            </p:nvGraphicFramePr>
            <p:xfrm>
              <a:off x="2018124" y="1382713"/>
              <a:ext cx="8155752" cy="4637087"/>
            </p:xfrm>
            <a:graphic>
              <a:graphicData uri="http://schemas.openxmlformats.org/drawingml/2006/table">
                <a:tbl>
                  <a:tblPr/>
                  <a:tblGrid>
                    <a:gridCol w="2038938">
                      <a:extLst>
                        <a:ext uri="{9D8B030D-6E8A-4147-A177-3AD203B41FA5}">
                          <a16:colId xmlns:a16="http://schemas.microsoft.com/office/drawing/2014/main" val="4293173516"/>
                        </a:ext>
                      </a:extLst>
                    </a:gridCol>
                    <a:gridCol w="2038938">
                      <a:extLst>
                        <a:ext uri="{9D8B030D-6E8A-4147-A177-3AD203B41FA5}">
                          <a16:colId xmlns:a16="http://schemas.microsoft.com/office/drawing/2014/main" val="2930905544"/>
                        </a:ext>
                      </a:extLst>
                    </a:gridCol>
                    <a:gridCol w="2038938">
                      <a:extLst>
                        <a:ext uri="{9D8B030D-6E8A-4147-A177-3AD203B41FA5}">
                          <a16:colId xmlns:a16="http://schemas.microsoft.com/office/drawing/2014/main" val="2727493144"/>
                        </a:ext>
                      </a:extLst>
                    </a:gridCol>
                    <a:gridCol w="2038938">
                      <a:extLst>
                        <a:ext uri="{9D8B030D-6E8A-4147-A177-3AD203B41FA5}">
                          <a16:colId xmlns:a16="http://schemas.microsoft.com/office/drawing/2014/main" val="3345594116"/>
                        </a:ext>
                      </a:extLst>
                    </a:gridCol>
                  </a:tblGrid>
                  <a:tr h="602878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300">
                              <a:solidFill>
                                <a:srgbClr val="60A5FA"/>
                              </a:solidFill>
                              <a:effectLst/>
                              <a:latin typeface="Merriweather" panose="00000500000000000000" pitchFamily="2" charset="0"/>
                            </a:rPr>
                            <a:t>Architecture</a:t>
                          </a:r>
                        </a:p>
                      </a:txBody>
                      <a:tcPr marL="126773" marR="126773" marT="98601" marB="98601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F293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300">
                              <a:solidFill>
                                <a:srgbClr val="60A5FA"/>
                              </a:solidFill>
                              <a:effectLst/>
                              <a:latin typeface="Merriweather" panose="00000500000000000000" pitchFamily="2" charset="0"/>
                            </a:rPr>
                            <a:t>Data Layout Mapping</a:t>
                          </a:r>
                        </a:p>
                      </a:txBody>
                      <a:tcPr marL="126773" marR="126773" marT="98601" marB="98601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F293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300">
                              <a:solidFill>
                                <a:srgbClr val="60A5FA"/>
                              </a:solidFill>
                              <a:effectLst/>
                              <a:latin typeface="Merriweather" panose="00000500000000000000" pitchFamily="2" charset="0"/>
                            </a:rPr>
                            <a:t>Core Processing Objective</a:t>
                          </a:r>
                        </a:p>
                      </a:txBody>
                      <a:tcPr marL="126773" marR="126773" marT="98601" marB="98601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F293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300">
                              <a:solidFill>
                                <a:srgbClr val="60A5FA"/>
                              </a:solidFill>
                              <a:effectLst/>
                              <a:latin typeface="Merriweather" panose="00000500000000000000" pitchFamily="2" charset="0"/>
                            </a:rPr>
                            <a:t>Primary Hardware Benefit</a:t>
                          </a:r>
                        </a:p>
                      </a:txBody>
                      <a:tcPr marL="126773" marR="126773" marT="98601" marB="98601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F293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26536503"/>
                      </a:ext>
                    </a:extLst>
                  </a:tr>
                  <a:tr h="1008552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300" b="1" dirty="0">
                              <a:solidFill>
                                <a:schemeClr val="tx1"/>
                              </a:solidFill>
                              <a:effectLst/>
                            </a:rPr>
                            <a:t>QGNN Matrix</a:t>
                          </a:r>
                          <a:endParaRPr lang="en-US" sz="13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126773" marR="126773" marT="98601" marB="98601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300">
                              <a:effectLst/>
                            </a:rPr>
                            <a:t>Non-Euclidean Graph Topologies</a:t>
                          </a:r>
                        </a:p>
                      </a:txBody>
                      <a:tcPr marL="126773" marR="126773" marT="98601" marB="98601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300">
                              <a:effectLst/>
                            </a:rPr>
                            <a:t>Tracks spatial dependencies across distributed grid nodes</a:t>
                          </a:r>
                        </a:p>
                      </a:txBody>
                      <a:tcPr marL="126773" marR="126773" marT="98601" marB="98601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300">
                              <a:effectLst/>
                            </a:rPr>
                            <a:t>Saves gate overhead by matching layout configurations directly to graph edges</a:t>
                          </a:r>
                        </a:p>
                      </a:txBody>
                      <a:tcPr marL="126773" marR="126773" marT="98601" marB="98601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40409636"/>
                      </a:ext>
                    </a:extLst>
                  </a:tr>
                  <a:tr h="1008552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300" b="1" dirty="0">
                              <a:solidFill>
                                <a:schemeClr val="tx1"/>
                              </a:solidFill>
                              <a:effectLst/>
                            </a:rPr>
                            <a:t>QKSAN Attention</a:t>
                          </a:r>
                          <a:endParaRPr lang="en-US" sz="13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126773" marR="126773" marT="98601" marB="98601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300">
                              <a:effectLst/>
                            </a:rPr>
                            <a:t>Sequential Vector Time-Series Streams</a:t>
                          </a:r>
                        </a:p>
                      </a:txBody>
                      <a:tcPr marL="126773" marR="126773" marT="98601" marB="98601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300">
                              <a:effectLst/>
                            </a:rPr>
                            <a:t>Isolates complex, long-range temporal anomalies</a:t>
                          </a:r>
                        </a:p>
                      </a:txBody>
                      <a:tcPr marL="126773" marR="126773" marT="98601" marB="98601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300">
                              <a:effectLst/>
                            </a:rPr>
                            <a:t>Evaluates high-dimensional similarity metrics without classical degradation</a:t>
                          </a:r>
                        </a:p>
                      </a:txBody>
                      <a:tcPr marL="126773" marR="126773" marT="98601" marB="98601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93401090"/>
                      </a:ext>
                    </a:extLst>
                  </a:tr>
                  <a:tr h="805715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300" b="1">
                              <a:solidFill>
                                <a:schemeClr val="tx1"/>
                              </a:solidFill>
                              <a:effectLst/>
                            </a:rPr>
                            <a:t>QAE Denoising</a:t>
                          </a:r>
                          <a:endParaRPr lang="en-US" sz="130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126773" marR="126773" marT="98601" marB="98601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26773" marR="126773" marT="98601" marB="98601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99" t="-326515" r="-200599" b="-1515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300">
                              <a:effectLst/>
                            </a:rPr>
                            <a:t>Compresses states through latent registers to strip out noise</a:t>
                          </a:r>
                        </a:p>
                      </a:txBody>
                      <a:tcPr marL="126773" marR="126773" marT="98601" marB="98601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300">
                              <a:effectLst/>
                            </a:rPr>
                            <a:t>Purges environmental error components into auxiliary trash channels</a:t>
                          </a:r>
                        </a:p>
                      </a:txBody>
                      <a:tcPr marL="126773" marR="126773" marT="98601" marB="98601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63557571"/>
                      </a:ext>
                    </a:extLst>
                  </a:tr>
                  <a:tr h="121139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300" b="1" dirty="0">
                              <a:solidFill>
                                <a:schemeClr val="tx1"/>
                              </a:solidFill>
                              <a:effectLst/>
                            </a:rPr>
                            <a:t>SWAP Verify</a:t>
                          </a:r>
                          <a:endParaRPr lang="en-US" sz="13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126773" marR="126773" marT="98601" marB="98601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26773" marR="126773" marT="98601" marB="98601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99" t="-282915" r="-200599" b="-5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300">
                              <a:effectLst/>
                            </a:rPr>
                            <a:t>Directly measures state overlap metrics</a:t>
                          </a:r>
                        </a:p>
                      </a:txBody>
                      <a:tcPr marL="126773" marR="126773" marT="98601" marB="98601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26773" marR="126773" marT="98601" marB="98601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7415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599" t="-282915" r="-299" b="-5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129198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69581580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23668-C409-5E38-DD5B-883483F7F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Hardware Co-Compilation &amp; Layout Routing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28C1E-EC2B-5985-35B4-0F73F7010D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Translating theoretical designs to physical hardware requires restructuring algorithms to match the chip's physical constraints.</a:t>
            </a:r>
          </a:p>
          <a:p>
            <a:r>
              <a:rPr lang="en-US" dirty="0"/>
              <a:t>Our compiler routines map heavily connected gates to localized, high-fidelity physical clusters, routing long-distance interactions through optimized SWAP chains to minimize gate overhead.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542324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80BA8-CDB7-A69B-E0A2-4831BAEF1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Workforce Development, Translation &amp; Strategic Roadmap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788F61-7FBB-5F27-544E-4CF9F134C0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16799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16551-DEF4-A353-24AD-FE3D6E94E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Workforce Scaling &amp; Ecosystem Translation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056F1-E771-D756-8DDD-842E9FB966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Advancing quantum research requires building comprehensive talent pipelines that bridge academic engineering principles with large-scale industrial deployment.</a:t>
            </a:r>
          </a:p>
          <a:p>
            <a:pPr lvl="1"/>
            <a:r>
              <a:rPr lang="en-US" b="1" dirty="0"/>
              <a:t>ASU </a:t>
            </a:r>
            <a:r>
              <a:rPr lang="en-US" b="1" dirty="0" err="1"/>
              <a:t>SenSIP</a:t>
            </a:r>
            <a:r>
              <a:rPr lang="en-US" b="1" dirty="0"/>
              <a:t> Integration:</a:t>
            </a:r>
            <a:r>
              <a:rPr lang="en-US" dirty="0"/>
              <a:t> Directing student researchers toward hardware-aware development practices.</a:t>
            </a:r>
          </a:p>
          <a:p>
            <a:pPr lvl="1"/>
            <a:r>
              <a:rPr lang="en-US" b="1" dirty="0"/>
              <a:t>Cross-Sector Collaboration:</a:t>
            </a:r>
            <a:r>
              <a:rPr lang="en-US" dirty="0"/>
              <a:t> Aligning academic milestones with corporate cloud testing environments (AWS </a:t>
            </a:r>
            <a:r>
              <a:rPr lang="en-US" dirty="0" err="1"/>
              <a:t>Braket</a:t>
            </a:r>
            <a:r>
              <a:rPr lang="en-US" dirty="0"/>
              <a:t> / IBM Quantum Hub).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099554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CFBCA-265C-68B6-560A-CC4F033E9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Open Discussion &amp; Questions?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833B8D-180A-039E-9544-979CB871B0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b="1" dirty="0"/>
              <a:t>Glen S. Uehara, PhD</a:t>
            </a:r>
          </a:p>
          <a:p>
            <a:pPr algn="ctr"/>
            <a:r>
              <a:rPr lang="en-US" b="1" dirty="0">
                <a:hlinkClick r:id="rId2"/>
              </a:rPr>
              <a:t>guehara@asu.edu</a:t>
            </a: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45563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 Them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156</TotalTime>
  <Words>3394</Words>
  <Application>Microsoft Office PowerPoint</Application>
  <PresentationFormat>Widescreen</PresentationFormat>
  <Paragraphs>315</Paragraphs>
  <Slides>50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7" baseType="lpstr">
      <vt:lpstr>Arial</vt:lpstr>
      <vt:lpstr>Calibri</vt:lpstr>
      <vt:lpstr>Cambria Math</vt:lpstr>
      <vt:lpstr>DM Sans</vt:lpstr>
      <vt:lpstr>Merriweather</vt:lpstr>
      <vt:lpstr>Times New Roman</vt:lpstr>
      <vt:lpstr>1_Office Theme</vt:lpstr>
      <vt:lpstr>Quantum Machine Learning Frameworks </vt:lpstr>
      <vt:lpstr>Agenda &amp; Scope</vt:lpstr>
      <vt:lpstr>Photovoltaic Anomaly Extraction &amp; Multi-Label QML</vt:lpstr>
      <vt:lpstr>The High-Dimensional Cyber-Physical Topology</vt:lpstr>
      <vt:lpstr>Mathematical Mapping into Hilbert Space</vt:lpstr>
      <vt:lpstr>Quantum Feature Maps: ZRZ Phase Encoding</vt:lpstr>
      <vt:lpstr>Quantum Feature Maps: ZZ Entangling Interaction</vt:lpstr>
      <vt:lpstr>Quantum Feature Maps: X-ZZ Transverse-Field Maps</vt:lpstr>
      <vt:lpstr>Quantum Feature Maps: Z-Y-ZZ Dense Architecture</vt:lpstr>
      <vt:lpstr>Comparative Analysis of Feature Mapping unitaries</vt:lpstr>
      <vt:lpstr>Parameterized Quantum Circuits &amp; Ansatz Design</vt:lpstr>
      <vt:lpstr>Structural Topology: Linear vs. Circular Ansatz</vt:lpstr>
      <vt:lpstr>The Toffoli Ansatz: Accessing Non-Linear Correlations</vt:lpstr>
      <vt:lpstr>Experimental Performance Benchmarking</vt:lpstr>
      <vt:lpstr>Multi-Label Classification Mechanics</vt:lpstr>
      <vt:lpstr>Hardware Constraints &amp; Superconducting Qubit Physics</vt:lpstr>
      <vt:lpstr>The NISQ Reality: Navigating Physical Decoherence</vt:lpstr>
      <vt:lpstr>Parasitic Always-On ZZ Crosstalk Dynamics</vt:lpstr>
      <vt:lpstr>Differentiable Pulse Programming via JAX</vt:lpstr>
      <vt:lpstr>DRAG Pulse Optimization &amp; Leakage Control</vt:lpstr>
      <vt:lpstr>Error Mitigation vs. Error Correction</vt:lpstr>
      <vt:lpstr>Hardware Execution: IBM Heron Case Analysis</vt:lpstr>
      <vt:lpstr>Dynamical Decoupling (DD) Sequencing</vt:lpstr>
      <vt:lpstr>Readout Error Mitigation (Assignment Matrices) </vt:lpstr>
      <vt:lpstr>Quantum Noise Sources &amp; Mitigation Controls</vt:lpstr>
      <vt:lpstr>Many-Body Quantum Distributions &amp; Generative Born Machines</vt:lpstr>
      <vt:lpstr>Generative Modeling Foundations: Born Rule Sampling</vt:lpstr>
      <vt:lpstr>The Transverse-Field Ising Model Target</vt:lpstr>
      <vt:lpstr>The Barren Plateau Wall in Variational Training</vt:lpstr>
      <vt:lpstr>Bypassing Plateaus: Local Cost Functions</vt:lpstr>
      <vt:lpstr>Layerwise Initialization &amp; Identity Blocks</vt:lpstr>
      <vt:lpstr>Maximum Mean Discrepancy (MMD) Tracking</vt:lpstr>
      <vt:lpstr>Generative Training Stability Summary</vt:lpstr>
      <vt:lpstr>Sub-SQL Quantum Sensing &amp; Low Probability of Detection Signals</vt:lpstr>
      <vt:lpstr>Breaking Through the Standard Quantum Limit</vt:lpstr>
      <vt:lpstr>Squeezed Vacuum States &amp; Phase Uncertainty</vt:lpstr>
      <vt:lpstr>LFM Chirp Detection at -25 dB SNR</vt:lpstr>
      <vt:lpstr>Processing Gains in High-Dimensional Hilbert Space</vt:lpstr>
      <vt:lpstr>The Quantum Fourier Transform (QFT) Link</vt:lpstr>
      <vt:lpstr>Sensing Regimes &amp; Detection Boundaries</vt:lpstr>
      <vt:lpstr>Advanced QML: Graphs, Attention &amp; Quantum Autoencoders</vt:lpstr>
      <vt:lpstr>Quantum Graph Neural Networks (QGNN)</vt:lpstr>
      <vt:lpstr>Quantum Kernel Self-Attention Mechanisms (QKSAN)</vt:lpstr>
      <vt:lpstr>Quantum Autoencoders (QAE) for State Compression</vt:lpstr>
      <vt:lpstr>State Verification Mechanics via the SWAP Test</vt:lpstr>
      <vt:lpstr>Advanced Architectural Footprints</vt:lpstr>
      <vt:lpstr>Hardware Co-Compilation &amp; Layout Routing</vt:lpstr>
      <vt:lpstr>Workforce Development, Translation &amp; Strategic Roadmap</vt:lpstr>
      <vt:lpstr>Workforce Scaling &amp; Ecosystem Translation</vt:lpstr>
      <vt:lpstr>Open Discussion &amp;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Glen Uehara (Student)</dc:creator>
  <cp:lastModifiedBy>Glen Uehara</cp:lastModifiedBy>
  <cp:revision>3</cp:revision>
  <dcterms:created xsi:type="dcterms:W3CDTF">2021-06-23T20:41:41Z</dcterms:created>
  <dcterms:modified xsi:type="dcterms:W3CDTF">2026-06-19T12:03:53Z</dcterms:modified>
</cp:coreProperties>
</file>